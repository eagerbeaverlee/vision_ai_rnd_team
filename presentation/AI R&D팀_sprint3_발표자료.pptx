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9" r:id="rId2"/>
    <p:sldId id="272" r:id="rId3"/>
    <p:sldId id="273" r:id="rId4"/>
    <p:sldId id="276" r:id="rId5"/>
    <p:sldId id="280" r:id="rId6"/>
    <p:sldId id="277" r:id="rId7"/>
    <p:sldId id="278" r:id="rId8"/>
    <p:sldId id="279" r:id="rId9"/>
    <p:sldId id="28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60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432" y="1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07D88-EDDF-4606-815F-1B57E8AE372A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4001F-1505-4E3F-8B67-25FFD6CBA9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67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4001F-1505-4E3F-8B67-25FFD6CBA97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904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9572A-2897-3CE9-CAEE-EBDCD49B1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458006-1FA1-23F7-38ED-79F41FDB3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411774-81C1-2C85-6C04-5D1A825B0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E278F7-12CE-4B01-681F-75D7EC377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4001F-1505-4E3F-8B67-25FFD6CBA97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933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AD6D5-950B-2167-EF62-56E99516F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2B85E3-484E-581B-95EF-6FAFBFC34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4E011A-3418-7B3C-EAA9-4CEC668FA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997F7A-9629-2320-CB2D-BEB2951E5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4001F-1505-4E3F-8B67-25FFD6CBA97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380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AABF1-5386-5D65-67B4-E7BA7061A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3E1379-6056-39B9-193E-2AFB09AD0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524EA7-7958-E455-64F3-6F34E7269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1311F6-2970-05FB-EAD5-2D6F599EB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4001F-1505-4E3F-8B67-25FFD6CBA97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083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7CF26-2772-C96F-1401-1F7D2D149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5B185D-B9BB-D3BD-4C8C-3BC034D3E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2B353A-ED0F-6C16-ABD2-744482AE2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69366A-5C5A-DB06-E007-7F3B4E898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4001F-1505-4E3F-8B67-25FFD6CBA97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496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C828A-0DD6-ADDE-0822-5A207F2DA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40E260-A338-4EAB-B06E-57972E95D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362B3D-85E2-20A1-83EE-78EEAD435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4F8E57-46AF-F023-5251-29679830F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4001F-1505-4E3F-8B67-25FFD6CBA97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510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FF9465-DB62-3896-19EA-FBB656EDF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E514F7-C0BE-79B6-ECA9-0E716F531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281BD3-EFC7-B695-77CD-648F91426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822D-77DA-4EAE-88FD-B152BB4371C6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D13709-BB1C-BB0B-9988-6256C5C6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E25E4A-419B-44CD-7055-2CDF9FC2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35BDD-B7D6-495B-9760-FD08B70F7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651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32735E-54F5-6F45-AC2B-E7B73E305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C1F6A6-0F88-C2F4-E0DF-C6F9A97DA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C6E1F2-3335-ABF2-1561-71042831E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822D-77DA-4EAE-88FD-B152BB4371C6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D2967E-0C40-0FD9-9C3D-F23D16D3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102AD9-11D3-FE2F-908F-47989534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35BDD-B7D6-495B-9760-FD08B70F7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759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0969CA-CF88-99FC-CAC9-B6836B7F2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C84462-A140-EEEC-A1E7-E2FB0B9D9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A1066E-5448-5568-7FF7-3F7E7D66D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822D-77DA-4EAE-88FD-B152BB4371C6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E2FDE9-2AAE-D52E-4C01-DFE01B08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DDD5A9-E384-D357-C7D1-2F6700B8B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35BDD-B7D6-495B-9760-FD08B70F7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66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58E7EE-F5D1-2DFF-0038-EFDC52A09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693974-8485-EA1C-2500-21D6CDC9E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3816CF-7167-2E1A-D354-ED70FF32D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F7086F-C609-B6CB-2159-3C64C5E67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822D-77DA-4EAE-88FD-B152BB4371C6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F97947-18B4-DA4F-6073-E0E1294F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1AE018-716A-710F-2721-409A620E2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35BDD-B7D6-495B-9760-FD08B70F7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369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47A70-808F-BD88-5E87-3BDAAB858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25E31C-D2D4-4781-0DAA-2E23AFD32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CA201F-C75A-89B5-5094-DF4D24471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B54493-A9FE-B9E6-FA5D-B292158FC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F678DF0-28F4-48C4-5A03-31CE140F8F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A82B87-7073-7D87-4598-C518AF727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822D-77DA-4EAE-88FD-B152BB4371C6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D8E49F8-6BF0-FA9F-E729-C122CCF3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70BEA45-7CA4-477E-E4C7-60A11726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35BDD-B7D6-495B-9760-FD08B70F7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17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786E7-0519-5904-E731-92AAC737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A2EA21-E0EC-A5EA-7119-E9CDC3741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822D-77DA-4EAE-88FD-B152BB4371C6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B707A1-AA91-FB14-9BA5-6B6A73B93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28F027-0FEA-3CF6-8D78-4B68D53DC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35BDD-B7D6-495B-9760-FD08B70F7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817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8A43122-1D03-1354-4B6B-6B788AF03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822D-77DA-4EAE-88FD-B152BB4371C6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CEC1B0-E375-DF31-E120-314D51715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E96993-424C-A022-812C-4EC0B2A1A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35BDD-B7D6-495B-9760-FD08B70F7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899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3107D-C8C0-8EEB-0D85-0622B495B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C2B5A9-B961-A731-83FA-F90558A8A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746DE4-588F-DADF-9CD9-EF6671F64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314A72-32B5-E2AD-420E-761A4A1AB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822D-77DA-4EAE-88FD-B152BB4371C6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A084B2-2422-D83D-C83F-D2845A480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1DF8F4-6B94-139C-0601-34BCFA87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35BDD-B7D6-495B-9760-FD08B70F7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538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811AD-E448-250A-A7BC-5276E25AF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0022CD7-1AD4-0A57-3A5C-E7378FC79F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B3C1D8-EBDF-D8DF-BDBF-A4BBC49A6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0E1CDC-E49C-4B3C-EE9C-8D735E96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822D-77DA-4EAE-88FD-B152BB4371C6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4F7581-48EF-2587-2466-872F1808E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74C38C-4EF9-FDAD-242F-5106120C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35BDD-B7D6-495B-9760-FD08B70F7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19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8E457-CC49-2AC1-58DA-007300B81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0F40BD-34B5-0B4A-3AE4-D96FDC5CD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D85C0A-CC88-38EC-E986-6695FCB19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822D-77DA-4EAE-88FD-B152BB4371C6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5611EC-D432-6808-00DD-522A99BA7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7EAFDE-B533-2050-425F-B2915608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35BDD-B7D6-495B-9760-FD08B70F7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671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900AAFA-1828-ED02-60D2-7ACBB5B16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81F02C-7DA6-DD36-6804-768E7CB87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293A26-D46A-AC11-40CA-603AC4A8B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822D-77DA-4EAE-88FD-B152BB4371C6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63F1E7-66FB-9DC2-207C-4EFB3E72F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1CD2B9-07C0-2C7C-66A3-0DC537F75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35BDD-B7D6-495B-9760-FD08B70F7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776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FF78DAB-4DD4-026D-0C68-3243352E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5D78C4-DC72-A333-52E0-AB5E1715D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1C59A4-4D5F-809A-D19E-EE7C5F8CB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E822D-77DA-4EAE-88FD-B152BB4371C6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22684C-DC58-CC43-D9F7-8C936C22A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21A21-0FED-C2C9-E952-A00D549C4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35BDD-B7D6-495B-9760-FD08B70F70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106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1.png"/><Relationship Id="rId7" Type="http://schemas.openxmlformats.org/officeDocument/2006/relationships/slide" Target="slide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slide" Target="slide9.xml"/><Relationship Id="rId5" Type="http://schemas.openxmlformats.org/officeDocument/2006/relationships/slide" Target="slide3.xml"/><Relationship Id="rId10" Type="http://schemas.openxmlformats.org/officeDocument/2006/relationships/slide" Target="slide8.xml"/><Relationship Id="rId4" Type="http://schemas.openxmlformats.org/officeDocument/2006/relationships/slide" Target="slide2.xml"/><Relationship Id="rId9" Type="http://schemas.openxmlformats.org/officeDocument/2006/relationships/slide" Target="slide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4A2A8-2B2A-71F2-35FD-1412671F1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9BFE45D5-62A1-0732-39DB-54E21BB422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14" y="693067"/>
            <a:ext cx="10629269" cy="6078367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72A09EF7-312E-DDA4-4229-ED217B3F6159}"/>
              </a:ext>
            </a:extLst>
          </p:cNvPr>
          <p:cNvSpPr txBox="1"/>
          <p:nvPr/>
        </p:nvSpPr>
        <p:spPr>
          <a:xfrm>
            <a:off x="218235" y="169847"/>
            <a:ext cx="6130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※SPRINT3 </a:t>
            </a:r>
            <a:r>
              <a:rPr lang="ko-KR" altLang="en-US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전체 시스템 아키텍처</a:t>
            </a:r>
          </a:p>
        </p:txBody>
      </p:sp>
      <p:sp>
        <p:nvSpPr>
          <p:cNvPr id="2" name="직사각형 1">
            <a:hlinkClick r:id="rId4" action="ppaction://hlinksldjump"/>
            <a:extLst>
              <a:ext uri="{FF2B5EF4-FFF2-40B4-BE49-F238E27FC236}">
                <a16:creationId xmlns:a16="http://schemas.microsoft.com/office/drawing/2014/main" id="{DF85164B-2EA7-99B8-7926-B8681D2D433C}"/>
              </a:ext>
            </a:extLst>
          </p:cNvPr>
          <p:cNvSpPr/>
          <p:nvPr/>
        </p:nvSpPr>
        <p:spPr>
          <a:xfrm>
            <a:off x="5911273" y="693067"/>
            <a:ext cx="1634836" cy="1209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" name="직사각형 2">
            <a:hlinkClick r:id="rId5" action="ppaction://hlinksldjump"/>
            <a:extLst>
              <a:ext uri="{FF2B5EF4-FFF2-40B4-BE49-F238E27FC236}">
                <a16:creationId xmlns:a16="http://schemas.microsoft.com/office/drawing/2014/main" id="{1F29D871-FE38-745B-94BA-AB3D5903B793}"/>
              </a:ext>
            </a:extLst>
          </p:cNvPr>
          <p:cNvSpPr/>
          <p:nvPr/>
        </p:nvSpPr>
        <p:spPr>
          <a:xfrm>
            <a:off x="6348548" y="2522626"/>
            <a:ext cx="717270" cy="1014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" name="직사각형 3">
            <a:hlinkClick r:id="rId6" action="ppaction://hlinksldjump"/>
            <a:extLst>
              <a:ext uri="{FF2B5EF4-FFF2-40B4-BE49-F238E27FC236}">
                <a16:creationId xmlns:a16="http://schemas.microsoft.com/office/drawing/2014/main" id="{3B584A1F-230A-83F6-EF21-7CDB1359E135}"/>
              </a:ext>
            </a:extLst>
          </p:cNvPr>
          <p:cNvSpPr/>
          <p:nvPr/>
        </p:nvSpPr>
        <p:spPr>
          <a:xfrm>
            <a:off x="9005865" y="2484526"/>
            <a:ext cx="1004910" cy="1014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5" name="직사각형 4">
            <a:hlinkClick r:id="rId7" action="ppaction://hlinksldjump"/>
            <a:extLst>
              <a:ext uri="{FF2B5EF4-FFF2-40B4-BE49-F238E27FC236}">
                <a16:creationId xmlns:a16="http://schemas.microsoft.com/office/drawing/2014/main" id="{0DF4CDE6-0566-B96A-3638-B4C5E9A332DD}"/>
              </a:ext>
            </a:extLst>
          </p:cNvPr>
          <p:cNvSpPr/>
          <p:nvPr/>
        </p:nvSpPr>
        <p:spPr>
          <a:xfrm>
            <a:off x="1033914" y="5220459"/>
            <a:ext cx="2909436" cy="155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6" name="직사각형 5">
            <a:hlinkClick r:id="rId8" action="ppaction://hlinksldjump"/>
            <a:extLst>
              <a:ext uri="{FF2B5EF4-FFF2-40B4-BE49-F238E27FC236}">
                <a16:creationId xmlns:a16="http://schemas.microsoft.com/office/drawing/2014/main" id="{72189509-6915-81DC-B1FF-C1D1FE9314A6}"/>
              </a:ext>
            </a:extLst>
          </p:cNvPr>
          <p:cNvSpPr/>
          <p:nvPr/>
        </p:nvSpPr>
        <p:spPr>
          <a:xfrm>
            <a:off x="2205489" y="3659959"/>
            <a:ext cx="1737861" cy="1464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7" name="직사각형 6">
            <a:hlinkClick r:id="rId9" action="ppaction://hlinksldjump"/>
            <a:extLst>
              <a:ext uri="{FF2B5EF4-FFF2-40B4-BE49-F238E27FC236}">
                <a16:creationId xmlns:a16="http://schemas.microsoft.com/office/drawing/2014/main" id="{3F21B4E3-CDB7-94AC-5AAA-96A19E83D7C9}"/>
              </a:ext>
            </a:extLst>
          </p:cNvPr>
          <p:cNvSpPr/>
          <p:nvPr/>
        </p:nvSpPr>
        <p:spPr>
          <a:xfrm>
            <a:off x="2205489" y="945334"/>
            <a:ext cx="1737861" cy="20931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8" name="직사각형 7">
            <a:hlinkClick r:id="rId10" action="ppaction://hlinksldjump"/>
            <a:extLst>
              <a:ext uri="{FF2B5EF4-FFF2-40B4-BE49-F238E27FC236}">
                <a16:creationId xmlns:a16="http://schemas.microsoft.com/office/drawing/2014/main" id="{C83F5DC3-708E-393D-0226-EF66EC767513}"/>
              </a:ext>
            </a:extLst>
          </p:cNvPr>
          <p:cNvSpPr/>
          <p:nvPr/>
        </p:nvSpPr>
        <p:spPr>
          <a:xfrm>
            <a:off x="6300922" y="4616999"/>
            <a:ext cx="802995" cy="945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9" name="직사각형 8">
            <a:hlinkClick r:id="rId11" action="ppaction://hlinksldjump"/>
            <a:extLst>
              <a:ext uri="{FF2B5EF4-FFF2-40B4-BE49-F238E27FC236}">
                <a16:creationId xmlns:a16="http://schemas.microsoft.com/office/drawing/2014/main" id="{927A99F8-F1CC-8112-E6BE-75466FF36788}"/>
              </a:ext>
            </a:extLst>
          </p:cNvPr>
          <p:cNvSpPr/>
          <p:nvPr/>
        </p:nvSpPr>
        <p:spPr>
          <a:xfrm>
            <a:off x="7624740" y="4595324"/>
            <a:ext cx="1004910" cy="1014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050517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89742-FBF6-E6E0-D671-D6B838A0D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DE584076-D9E7-F8D4-0C6C-E7B63E232534}"/>
              </a:ext>
            </a:extLst>
          </p:cNvPr>
          <p:cNvSpPr txBox="1"/>
          <p:nvPr/>
        </p:nvSpPr>
        <p:spPr>
          <a:xfrm>
            <a:off x="218235" y="169847"/>
            <a:ext cx="8577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Server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6E7B04-2B8D-9187-7341-E9EFC8889E56}"/>
              </a:ext>
            </a:extLst>
          </p:cNvPr>
          <p:cNvSpPr txBox="1"/>
          <p:nvPr/>
        </p:nvSpPr>
        <p:spPr>
          <a:xfrm>
            <a:off x="5021145" y="2032464"/>
            <a:ext cx="6413328" cy="2793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- </a:t>
            </a:r>
            <a:r>
              <a:rPr lang="ko-KR" altLang="en-US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대용량 데이터 패킷으로 </a:t>
            </a:r>
            <a:r>
              <a:rPr lang="en-US" altLang="ko-KR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client</a:t>
            </a:r>
            <a:r>
              <a:rPr lang="ko-KR" altLang="en-US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에 전송</a:t>
            </a:r>
          </a:p>
          <a:p>
            <a:pPr algn="l">
              <a:lnSpc>
                <a:spcPct val="150000"/>
              </a:lnSpc>
            </a:pPr>
            <a:r>
              <a:rPr lang="en-US" altLang="ko-KR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- </a:t>
            </a:r>
            <a:r>
              <a:rPr lang="ko-KR" altLang="en-US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패킷 서버에 다중 클라이언트 접속 가능</a:t>
            </a:r>
          </a:p>
          <a:p>
            <a:pPr algn="l">
              <a:lnSpc>
                <a:spcPct val="150000"/>
              </a:lnSpc>
            </a:pPr>
            <a:r>
              <a:rPr lang="en-US" altLang="ko-KR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- </a:t>
            </a:r>
            <a:r>
              <a:rPr lang="ko-KR" altLang="en-US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다중 클라이언트에 패킷 전송 가능</a:t>
            </a:r>
          </a:p>
          <a:p>
            <a:pPr algn="l">
              <a:lnSpc>
                <a:spcPct val="150000"/>
              </a:lnSpc>
            </a:pPr>
            <a:r>
              <a:rPr lang="en-US" altLang="ko-KR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- </a:t>
            </a:r>
            <a:r>
              <a:rPr lang="ko-KR" altLang="en-US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큰 데이터파일 </a:t>
            </a:r>
            <a:r>
              <a:rPr lang="en-US" altLang="ko-KR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csv </a:t>
            </a:r>
            <a:r>
              <a:rPr lang="ko-KR" altLang="en-US" sz="2400" i="0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로드하여</a:t>
            </a:r>
            <a:r>
              <a:rPr lang="ko-KR" altLang="en-US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 빠르게 전송 가능</a:t>
            </a:r>
            <a:r>
              <a:rPr lang="en-US" altLang="ko-KR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(</a:t>
            </a:r>
            <a:r>
              <a:rPr lang="ko-KR" altLang="en-US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최대 </a:t>
            </a:r>
            <a:r>
              <a:rPr lang="en-US" altLang="ko-KR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140</a:t>
            </a:r>
            <a:r>
              <a:rPr lang="ko-KR" altLang="en-US" sz="2400" i="0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만건</a:t>
            </a:r>
            <a:r>
              <a:rPr lang="ko-KR" altLang="en-US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 데이터 </a:t>
            </a:r>
            <a:r>
              <a:rPr lang="en-US" altLang="ko-KR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2000</a:t>
            </a:r>
            <a:r>
              <a:rPr lang="ko-KR" altLang="en-US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배속</a:t>
            </a:r>
            <a:r>
              <a:rPr lang="en-US" altLang="ko-KR" sz="2400" i="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effectLst/>
                <a:latin typeface="Segoe UI" panose="020B0502040204020203" pitchFamily="34" charset="0"/>
              </a:rPr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ACB9948-32D0-76F0-2AEC-D43BB7C57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47" t="4425" r="42071" b="80257"/>
          <a:stretch>
            <a:fillRect/>
          </a:stretch>
        </p:blipFill>
        <p:spPr>
          <a:xfrm>
            <a:off x="6257925" y="962024"/>
            <a:ext cx="933450" cy="93106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756893C-261B-FDFC-8840-F64473211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348" y="2032464"/>
            <a:ext cx="2932824" cy="3286125"/>
          </a:xfrm>
          <a:prstGeom prst="rect">
            <a:avLst/>
          </a:prstGeom>
        </p:spPr>
      </p:pic>
      <p:sp>
        <p:nvSpPr>
          <p:cNvPr id="14" name="실행 단추: 홈으로 이동 1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CF781A0-8B60-CD49-4806-21919E85BB2A}"/>
              </a:ext>
            </a:extLst>
          </p:cNvPr>
          <p:cNvSpPr/>
          <p:nvPr/>
        </p:nvSpPr>
        <p:spPr>
          <a:xfrm>
            <a:off x="1025348" y="5915892"/>
            <a:ext cx="591128" cy="563418"/>
          </a:xfrm>
          <a:prstGeom prst="actionButtonHome">
            <a:avLst/>
          </a:prstGeom>
          <a:noFill/>
          <a:ln w="28575">
            <a:solidFill>
              <a:srgbClr val="D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7604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85185E-6 L -0.34843 0.00579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422" y="27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E48F5-EF2F-9334-633C-595B2FF5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BCE6C398-FE73-58BE-5964-00B374B828C2}"/>
              </a:ext>
            </a:extLst>
          </p:cNvPr>
          <p:cNvSpPr txBox="1"/>
          <p:nvPr/>
        </p:nvSpPr>
        <p:spPr>
          <a:xfrm>
            <a:off x="218235" y="169847"/>
            <a:ext cx="8577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Client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8ED631-C169-5835-2F97-9F8B17067CDD}"/>
              </a:ext>
            </a:extLst>
          </p:cNvPr>
          <p:cNvSpPr txBox="1"/>
          <p:nvPr/>
        </p:nvSpPr>
        <p:spPr>
          <a:xfrm>
            <a:off x="5200259" y="1294994"/>
            <a:ext cx="6991741" cy="5026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en-US" altLang="ko-KR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ip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와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port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를 입력해 서버에 접속 가능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수신한 패킷 로그를 실시간 확인 가능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수신한 패킷을 </a:t>
            </a:r>
            <a:r>
              <a:rPr lang="ko-KR" altLang="en-US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파싱해서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실시간으로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DB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에 저장 가능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수신한 패킷을 실시간으로 상황도에 실행중인 </a:t>
            </a:r>
            <a:r>
              <a:rPr lang="en-US" altLang="ko-KR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Fastapi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서버로 전송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날씨</a:t>
            </a:r>
            <a:r>
              <a:rPr lang="en-US" altLang="ko-KR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db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를 로드해서 현재 시뮬레이션 시간에 맞는 날씨 데이터를 날씨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Dashboard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에 실행중인 </a:t>
            </a:r>
            <a:r>
              <a:rPr lang="en-US" altLang="ko-KR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Fastapi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서버로 전송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시뮬레이션 시간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1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시간마다 자동으로 </a:t>
            </a:r>
            <a:r>
              <a:rPr lang="ko-KR" altLang="en-US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날시데이터를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날씨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dashboard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에 전송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날씨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Dashboard,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지형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Dashboard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전시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기존에 이미 개발된 기능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en-US" altLang="ko-KR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api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key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입력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</a:t>
            </a:r>
            <a:r>
              <a:rPr lang="ko-KR" altLang="en-US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프롬프팅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temperature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설정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고급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RAG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적용 기능</a:t>
            </a:r>
            <a:endParaRPr lang="en-US" altLang="ko-KR" i="0" dirty="0">
              <a:ln>
                <a:solidFill>
                  <a:srgbClr val="D26012"/>
                </a:solidFill>
              </a:ln>
              <a:solidFill>
                <a:srgbClr val="D2601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A22371-2A39-C889-973E-0B761977B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54" t="29772" r="43236" b="54989"/>
          <a:stretch>
            <a:fillRect/>
          </a:stretch>
        </p:blipFill>
        <p:spPr>
          <a:xfrm>
            <a:off x="6343651" y="2502694"/>
            <a:ext cx="723900" cy="926306"/>
          </a:xfrm>
          <a:prstGeom prst="rect">
            <a:avLst/>
          </a:prstGeom>
        </p:spPr>
      </p:pic>
      <p:sp>
        <p:nvSpPr>
          <p:cNvPr id="7" name="실행 단추: 홈으로 이동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AB65C70-5611-DB00-5997-5E52476FF2FC}"/>
              </a:ext>
            </a:extLst>
          </p:cNvPr>
          <p:cNvSpPr/>
          <p:nvPr/>
        </p:nvSpPr>
        <p:spPr>
          <a:xfrm>
            <a:off x="1025348" y="5915892"/>
            <a:ext cx="591128" cy="563418"/>
          </a:xfrm>
          <a:prstGeom prst="actionButtonHome">
            <a:avLst/>
          </a:prstGeom>
          <a:noFill/>
          <a:ln w="28575">
            <a:solidFill>
              <a:srgbClr val="D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5857E8F-9F7D-05A2-28BE-0A7008765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35" y="2100155"/>
            <a:ext cx="4944540" cy="265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4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-0.3474 -0.2164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370" y="-1083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3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65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9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25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2F2E7-672A-58FE-0A87-772F54460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4DCFE01A-A259-ED26-3FE0-0AFBAD1E35BE}"/>
              </a:ext>
            </a:extLst>
          </p:cNvPr>
          <p:cNvSpPr txBox="1"/>
          <p:nvPr/>
        </p:nvSpPr>
        <p:spPr>
          <a:xfrm>
            <a:off x="218235" y="169847"/>
            <a:ext cx="8577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Query</a:t>
            </a:r>
            <a:r>
              <a:rPr lang="ko-KR" altLang="en-US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r>
              <a:rPr lang="en-US" altLang="ko-KR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Routing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3" name="실행 단추: 홈으로 이동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09D87A6-6BC7-5BD1-F173-4A7F58DB8FC6}"/>
              </a:ext>
            </a:extLst>
          </p:cNvPr>
          <p:cNvSpPr/>
          <p:nvPr/>
        </p:nvSpPr>
        <p:spPr>
          <a:xfrm>
            <a:off x="1025348" y="5915892"/>
            <a:ext cx="591128" cy="563418"/>
          </a:xfrm>
          <a:prstGeom prst="actionButtonHome">
            <a:avLst/>
          </a:prstGeom>
          <a:noFill/>
          <a:ln w="28575">
            <a:solidFill>
              <a:srgbClr val="D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B175A-2865-9F60-40C9-AD5FC98AE67D}"/>
              </a:ext>
            </a:extLst>
          </p:cNvPr>
          <p:cNvSpPr txBox="1"/>
          <p:nvPr/>
        </p:nvSpPr>
        <p:spPr>
          <a:xfrm>
            <a:off x="4181083" y="1201467"/>
            <a:ext cx="7934717" cy="445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사용자 질문에 따라서 </a:t>
            </a:r>
            <a:r>
              <a:rPr lang="ko-KR" altLang="en-US" sz="2400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전체항적보고서</a:t>
            </a:r>
            <a:r>
              <a:rPr lang="en-US" altLang="ko-KR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2400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개별항적보고서</a:t>
            </a:r>
            <a:r>
              <a:rPr lang="en-US" altLang="ko-KR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RAG</a:t>
            </a:r>
            <a:r>
              <a:rPr lang="ko-KR" altLang="en-US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를 이용한 답변 생성 가능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전체적인 상황이나 지금까지의 진행과 관련한 질문은 </a:t>
            </a:r>
            <a:r>
              <a:rPr lang="ko-KR" altLang="en-US" sz="2400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전체항적</a:t>
            </a:r>
            <a:r>
              <a:rPr lang="ko-KR" altLang="en-US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보고서 생성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en-US" altLang="ko-KR" sz="2400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mmsi</a:t>
            </a:r>
            <a:r>
              <a:rPr lang="ko-KR" altLang="en-US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나 선박 이름을 명시하면 해당 선박에 대한 </a:t>
            </a:r>
            <a:r>
              <a:rPr lang="ko-KR" altLang="en-US" sz="2400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개별항적</a:t>
            </a:r>
            <a:r>
              <a:rPr lang="ko-KR" altLang="en-US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보고서 생성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선박이 특정상황에 취해야 하는 행동에 대해 </a:t>
            </a:r>
            <a:r>
              <a:rPr lang="en-US" altLang="ko-KR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RAG</a:t>
            </a:r>
            <a:r>
              <a:rPr lang="ko-KR" altLang="en-US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를 이용해 답변 생성 가능</a:t>
            </a:r>
            <a:endParaRPr lang="en-US" altLang="ko-KR" sz="2400" i="0" dirty="0">
              <a:ln>
                <a:solidFill>
                  <a:srgbClr val="D26012"/>
                </a:solidFill>
              </a:ln>
              <a:solidFill>
                <a:srgbClr val="D2601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83C0BC-2749-B8E5-839B-D3318B835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52" t="29459" r="16662" b="57306"/>
          <a:stretch>
            <a:fillRect/>
          </a:stretch>
        </p:blipFill>
        <p:spPr>
          <a:xfrm>
            <a:off x="9107055" y="2483644"/>
            <a:ext cx="785090" cy="80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9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33333E-6 L -0.57618 -0.2039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815" y="-10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3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6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7A81F-EAE3-EC54-E18F-9FF405124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642A0583-3E47-AB7A-1546-0B6FDEA09AE8}"/>
              </a:ext>
            </a:extLst>
          </p:cNvPr>
          <p:cNvSpPr txBox="1"/>
          <p:nvPr/>
        </p:nvSpPr>
        <p:spPr>
          <a:xfrm>
            <a:off x="218235" y="169847"/>
            <a:ext cx="8577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실시간 상황도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064750-324E-9A29-3DAF-00557D04E1A7}"/>
              </a:ext>
            </a:extLst>
          </p:cNvPr>
          <p:cNvSpPr txBox="1"/>
          <p:nvPr/>
        </p:nvSpPr>
        <p:spPr>
          <a:xfrm>
            <a:off x="1962149" y="4412019"/>
            <a:ext cx="9068191" cy="2239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서버 </a:t>
            </a:r>
            <a:r>
              <a:rPr lang="en-US" altLang="ko-KR" sz="2400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ip</a:t>
            </a:r>
            <a:r>
              <a:rPr lang="ko-KR" altLang="en-US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와 </a:t>
            </a:r>
            <a:r>
              <a:rPr lang="en-US" altLang="ko-KR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port</a:t>
            </a:r>
            <a:r>
              <a:rPr lang="ko-KR" altLang="en-US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를 입력해 서버에 접속 가능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실시간으로 수신된 패킷을 </a:t>
            </a:r>
            <a:r>
              <a:rPr lang="ko-KR" altLang="en-US" sz="2400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파싱하여</a:t>
            </a:r>
            <a:r>
              <a:rPr lang="ko-KR" altLang="en-US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선박 위치 실시간으로 갱신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갱신되는 선박 위치의 항적 길이 설정 가능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sz="2400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실시간 수신된 패킷 내용과 현재 시뮬레이션 정보 전시</a:t>
            </a:r>
            <a:endParaRPr lang="en-US" altLang="ko-KR" sz="2400" i="0" dirty="0">
              <a:ln>
                <a:solidFill>
                  <a:srgbClr val="D26012"/>
                </a:solidFill>
              </a:ln>
              <a:solidFill>
                <a:srgbClr val="D2601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F3A341-C304-66EF-7B19-F13032A281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28" r="72538" b="3277"/>
          <a:stretch>
            <a:fillRect/>
          </a:stretch>
        </p:blipFill>
        <p:spPr>
          <a:xfrm>
            <a:off x="1033914" y="5229225"/>
            <a:ext cx="2918961" cy="1343025"/>
          </a:xfrm>
          <a:prstGeom prst="rect">
            <a:avLst/>
          </a:prstGeom>
        </p:spPr>
      </p:pic>
      <p:sp>
        <p:nvSpPr>
          <p:cNvPr id="4" name="실행 단추: 홈으로 이동 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0545904F-81DB-1933-1D47-30924A81668F}"/>
              </a:ext>
            </a:extLst>
          </p:cNvPr>
          <p:cNvSpPr/>
          <p:nvPr/>
        </p:nvSpPr>
        <p:spPr>
          <a:xfrm>
            <a:off x="1025348" y="5915892"/>
            <a:ext cx="591128" cy="563418"/>
          </a:xfrm>
          <a:prstGeom prst="actionButtonHome">
            <a:avLst/>
          </a:prstGeom>
          <a:noFill/>
          <a:ln w="28575">
            <a:solidFill>
              <a:srgbClr val="D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DC4C700-02F4-FEBB-82B2-83FDBFF9EE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149" y="1053977"/>
            <a:ext cx="8267702" cy="335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0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33333E-6 L 0.29557 -0.4747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79" y="-2375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15000" decel="1500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Scale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422C4-A81A-550B-1B6E-955F04EC5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385F65D5-997B-0BE5-3CD0-3A5BCEFA14E2}"/>
              </a:ext>
            </a:extLst>
          </p:cNvPr>
          <p:cNvSpPr txBox="1"/>
          <p:nvPr/>
        </p:nvSpPr>
        <p:spPr>
          <a:xfrm>
            <a:off x="218235" y="169847"/>
            <a:ext cx="8577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지형 </a:t>
            </a:r>
            <a:r>
              <a:rPr lang="en-US" altLang="ko-KR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Dashboard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D58A99-6E38-4159-21DA-DFF385CB5E68}"/>
              </a:ext>
            </a:extLst>
          </p:cNvPr>
          <p:cNvSpPr txBox="1"/>
          <p:nvPr/>
        </p:nvSpPr>
        <p:spPr>
          <a:xfrm>
            <a:off x="4990709" y="1834366"/>
            <a:ext cx="7267966" cy="377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en-US" altLang="ko-KR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fastapi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에 데이터가 수신되면 자동으로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Dashboard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갱신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구성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1.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순항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정박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저속운항중인 선박 이름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MMSI,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상태 테이블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함정명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</a:t>
            </a:r>
            <a:r>
              <a:rPr lang="en-US" altLang="ko-KR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mmsi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로 검색 가능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2.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시뮬레이션 시작시간부터 답변생성 시점까지의 선박들의 이동흐름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평균속도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&amp;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군집분석 결과 지도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확대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/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축소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데이터 확인 가능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3.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현재 운항중인 선박 중 </a:t>
            </a:r>
            <a:r>
              <a:rPr lang="en-US" altLang="ko-KR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shiptype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별 개수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4.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주요 항만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(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울산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부산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</a:t>
            </a:r>
            <a:r>
              <a:rPr lang="ko-KR" altLang="en-US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광양하동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목포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)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입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·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출항 및 정박 현황 지도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확대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/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축소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데이터 확인 가능</a:t>
            </a:r>
            <a:endParaRPr lang="en-US" altLang="ko-KR" i="0" dirty="0">
              <a:ln>
                <a:solidFill>
                  <a:srgbClr val="D26012"/>
                </a:solidFill>
              </a:ln>
              <a:solidFill>
                <a:srgbClr val="D26012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실행 단추: 홈으로 이동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F41011F-A063-F1EB-DCD2-69B541AB59B9}"/>
              </a:ext>
            </a:extLst>
          </p:cNvPr>
          <p:cNvSpPr/>
          <p:nvPr/>
        </p:nvSpPr>
        <p:spPr>
          <a:xfrm>
            <a:off x="1025348" y="5915892"/>
            <a:ext cx="591128" cy="563418"/>
          </a:xfrm>
          <a:prstGeom prst="actionButtonHome">
            <a:avLst/>
          </a:prstGeom>
          <a:noFill/>
          <a:ln w="28575">
            <a:solidFill>
              <a:srgbClr val="D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B0BACC0-660B-CB7C-5C23-57C069D50E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4" t="3945" r="72628" b="64448"/>
          <a:stretch>
            <a:fillRect/>
          </a:stretch>
        </p:blipFill>
        <p:spPr>
          <a:xfrm>
            <a:off x="2198255" y="932873"/>
            <a:ext cx="1745095" cy="19211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E5D7615-E9DF-A4BE-30E1-ECF61ECB3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958" y="1087912"/>
            <a:ext cx="4161934" cy="468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54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2.59259E-6 L -0.04166 0.25162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3" y="125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E3AA7-5168-C438-258C-94D8A6823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6BE3C2B9-2EBB-BBB7-BE69-AF36028CCC98}"/>
              </a:ext>
            </a:extLst>
          </p:cNvPr>
          <p:cNvSpPr txBox="1"/>
          <p:nvPr/>
        </p:nvSpPr>
        <p:spPr>
          <a:xfrm>
            <a:off x="218235" y="169847"/>
            <a:ext cx="8577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날씨 </a:t>
            </a:r>
            <a:r>
              <a:rPr lang="en-US" altLang="ko-KR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Dashboard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00A10D-0B83-6FD4-C181-48ACBE8D37E2}"/>
              </a:ext>
            </a:extLst>
          </p:cNvPr>
          <p:cNvSpPr txBox="1"/>
          <p:nvPr/>
        </p:nvSpPr>
        <p:spPr>
          <a:xfrm>
            <a:off x="4257284" y="915844"/>
            <a:ext cx="7934716" cy="5026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en-US" altLang="ko-KR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fastapi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에 데이터가 수신되면 자동으로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Dashboard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갱신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데이터 수신으로 자동으로 갱신 시 현재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zoom level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과 중심점 좌표를 유지하며 수치만 변경 및 대시보드 갱신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왼쪽 지도위에 있는 지점 클릭 시 대시보드가 클릭한 지점으로 갱신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구성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1.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기상청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DB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를 기반으로 각 지점에 대한 </a:t>
            </a:r>
            <a:r>
              <a:rPr lang="ko-KR" altLang="en-US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지점명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온도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습도 표시한 지도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: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확대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/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축소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지점 클릭 시 데이터 갱신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2.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풍향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/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풍속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3.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기압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4.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현재습도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5. </a:t>
            </a:r>
            <a:r>
              <a:rPr lang="ko-KR" altLang="en-US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파향</a:t>
            </a:r>
            <a:endParaRPr lang="ko-KR" altLang="en-US" dirty="0">
              <a:ln>
                <a:solidFill>
                  <a:srgbClr val="D26012"/>
                </a:solidFill>
              </a:ln>
              <a:solidFill>
                <a:srgbClr val="D26012"/>
              </a:solidFill>
              <a:latin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6.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파고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(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최대파고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유의파고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평균파고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)</a:t>
            </a:r>
            <a:endParaRPr lang="en-US" altLang="ko-KR" i="0" dirty="0">
              <a:ln>
                <a:solidFill>
                  <a:srgbClr val="D26012"/>
                </a:solidFill>
              </a:ln>
              <a:solidFill>
                <a:srgbClr val="D26012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실행 단추: 홈으로 이동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A4BED59-EA2A-DF1D-F6FE-234D40D649CD}"/>
              </a:ext>
            </a:extLst>
          </p:cNvPr>
          <p:cNvSpPr/>
          <p:nvPr/>
        </p:nvSpPr>
        <p:spPr>
          <a:xfrm>
            <a:off x="1025348" y="5915892"/>
            <a:ext cx="591128" cy="563418"/>
          </a:xfrm>
          <a:prstGeom prst="actionButtonHome">
            <a:avLst/>
          </a:prstGeom>
          <a:noFill/>
          <a:ln w="28575">
            <a:solidFill>
              <a:srgbClr val="D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CBD2AF-60EB-F17B-3222-AA5D10DA20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3" t="48615" r="72628" b="29916"/>
          <a:stretch>
            <a:fillRect/>
          </a:stretch>
        </p:blipFill>
        <p:spPr>
          <a:xfrm>
            <a:off x="2209799" y="3648075"/>
            <a:ext cx="1733551" cy="13049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E74116B-F5BB-E74C-401B-C1C23BE02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22" y="1740875"/>
            <a:ext cx="4145462" cy="312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3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30000" decel="3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3.33333E-6 L -0.0625 -0.13819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5" y="-692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30000" decel="3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3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5328-1BF0-4EBB-BFB9-A6A9A337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E0087828-4C4D-140B-EF00-B62D0E955389}"/>
              </a:ext>
            </a:extLst>
          </p:cNvPr>
          <p:cNvSpPr txBox="1"/>
          <p:nvPr/>
        </p:nvSpPr>
        <p:spPr>
          <a:xfrm>
            <a:off x="218235" y="169847"/>
            <a:ext cx="8577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DB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E4652F-E595-1539-8595-D1B4B086043D}"/>
              </a:ext>
            </a:extLst>
          </p:cNvPr>
          <p:cNvSpPr txBox="1"/>
          <p:nvPr/>
        </p:nvSpPr>
        <p:spPr>
          <a:xfrm>
            <a:off x="5324474" y="2247900"/>
            <a:ext cx="6867525" cy="2948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Client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가 실행되면 </a:t>
            </a:r>
            <a:r>
              <a:rPr lang="en-US" altLang="ko-KR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db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가 생성되고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,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기존 </a:t>
            </a:r>
            <a:r>
              <a:rPr lang="en-US" altLang="ko-KR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db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는 삭제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(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이미 </a:t>
            </a:r>
            <a:r>
              <a:rPr lang="ko-KR" altLang="en-US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저장되어있는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정보가 아닌 실시간으로 받아오는 패킷을 </a:t>
            </a:r>
            <a:r>
              <a:rPr lang="en-US" altLang="ko-KR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db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로 저장하고 활용한다는 것을 검증하기 위해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en-US" altLang="ko-KR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db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를 저장할 땐 상대적으로 빠르고 가벼운 </a:t>
            </a:r>
            <a:r>
              <a:rPr lang="en-US" altLang="ko-KR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sqlite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를 활용하여 받아오는 패킷을 즉시 </a:t>
            </a:r>
            <a:r>
              <a:rPr lang="en-US" altLang="ko-KR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db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에 저장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en-US" altLang="ko-KR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db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를 </a:t>
            </a:r>
            <a:r>
              <a:rPr lang="ko-KR" altLang="en-US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로드할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땐 속도가 빠르고 공간분석까지 가능한 </a:t>
            </a:r>
            <a:r>
              <a:rPr lang="en-US" altLang="ko-KR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duckdb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를 이용하여 대용량 </a:t>
            </a:r>
            <a:r>
              <a:rPr lang="ko-KR" altLang="en-US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전처리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후 결과에 활용</a:t>
            </a:r>
            <a:endParaRPr lang="en-US" altLang="ko-KR" i="0" dirty="0">
              <a:ln>
                <a:solidFill>
                  <a:srgbClr val="D26012"/>
                </a:solidFill>
              </a:ln>
              <a:solidFill>
                <a:srgbClr val="D26012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실행 단추: 홈으로 이동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B3A6DCF-E6F0-E92C-3DE0-BD230387B14B}"/>
              </a:ext>
            </a:extLst>
          </p:cNvPr>
          <p:cNvSpPr/>
          <p:nvPr/>
        </p:nvSpPr>
        <p:spPr>
          <a:xfrm>
            <a:off x="1025348" y="5915892"/>
            <a:ext cx="591128" cy="563418"/>
          </a:xfrm>
          <a:prstGeom prst="actionButtonHome">
            <a:avLst/>
          </a:prstGeom>
          <a:noFill/>
          <a:ln w="28575">
            <a:solidFill>
              <a:srgbClr val="D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9F87F1-A520-8A06-C7B9-69CBF6BE8F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74" t="64442" r="42788" b="20201"/>
          <a:stretch>
            <a:fillRect/>
          </a:stretch>
        </p:blipFill>
        <p:spPr>
          <a:xfrm>
            <a:off x="6324600" y="4610100"/>
            <a:ext cx="790575" cy="933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FA3C415-5DAB-29A7-554D-71F8825387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291" y="2002212"/>
            <a:ext cx="4950183" cy="3814319"/>
          </a:xfrm>
          <a:prstGeom prst="rect">
            <a:avLst/>
          </a:prstGeom>
          <a:ln w="19050">
            <a:solidFill>
              <a:srgbClr val="D26012"/>
            </a:solidFill>
          </a:ln>
        </p:spPr>
      </p:pic>
    </p:spTree>
    <p:extLst>
      <p:ext uri="{BB962C8B-B14F-4D97-AF65-F5344CB8AC3E}">
        <p14:creationId xmlns:p14="http://schemas.microsoft.com/office/powerpoint/2010/main" val="2235047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2.22222E-6 L -0.31601 -0.53611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07" y="-2680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461A0-298A-DC1D-5768-0B8121C7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A5997748-3D6C-4877-E6C2-548912B3E52B}"/>
              </a:ext>
            </a:extLst>
          </p:cNvPr>
          <p:cNvSpPr txBox="1"/>
          <p:nvPr/>
        </p:nvSpPr>
        <p:spPr>
          <a:xfrm>
            <a:off x="218235" y="169847"/>
            <a:ext cx="8577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전처리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83C0E9-6009-7D34-9B82-CFF7D71FC5EA}"/>
              </a:ext>
            </a:extLst>
          </p:cNvPr>
          <p:cNvSpPr txBox="1"/>
          <p:nvPr/>
        </p:nvSpPr>
        <p:spPr>
          <a:xfrm>
            <a:off x="4257284" y="500345"/>
            <a:ext cx="7934716" cy="5857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지형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선박의 구역별 밀집현황 분석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구역별 선박 이동속도 분석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주요 항만에 대한 입출항과 정박 분석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- 8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방위를 기준으로 </a:t>
            </a:r>
            <a:r>
              <a:rPr lang="ko-KR" altLang="en-US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어느방향으로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이동중인지 분석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구역간 주요 항로 흐름 분석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선박 유형별 통계 분석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선박 상태별 현황 분석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특이기동 선박 분석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날씨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전체항적에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대한 질문 시 해당 시간에 대한 각각의 칼럼 평균값으로 </a:t>
            </a:r>
            <a:r>
              <a:rPr lang="ko-KR" altLang="en-US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전처리</a:t>
            </a:r>
            <a:endParaRPr lang="ko-KR" altLang="en-US" dirty="0">
              <a:ln>
                <a:solidFill>
                  <a:srgbClr val="D26012"/>
                </a:solidFill>
              </a:ln>
              <a:solidFill>
                <a:srgbClr val="D26012"/>
              </a:solidFill>
              <a:latin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    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- </a:t>
            </a:r>
            <a:r>
              <a:rPr lang="ko-KR" altLang="en-US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개별항적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(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특정 함</a:t>
            </a:r>
            <a:r>
              <a:rPr lang="en-US" altLang="ko-KR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)</a:t>
            </a:r>
            <a:r>
              <a:rPr lang="ko-KR" altLang="en-US" dirty="0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에 대한 질문 시 특정함과 가장 가까운 지점의 날씨정보를 매칭하여 </a:t>
            </a:r>
            <a:r>
              <a:rPr lang="ko-KR" altLang="en-US" dirty="0" err="1">
                <a:ln>
                  <a:solidFill>
                    <a:srgbClr val="D26012"/>
                  </a:solidFill>
                </a:ln>
                <a:solidFill>
                  <a:srgbClr val="D26012"/>
                </a:solidFill>
                <a:latin typeface="Segoe UI" panose="020B0502040204020203" pitchFamily="34" charset="0"/>
              </a:rPr>
              <a:t>전처리</a:t>
            </a:r>
            <a:endParaRPr lang="en-US" altLang="ko-KR" i="0" dirty="0">
              <a:ln>
                <a:solidFill>
                  <a:srgbClr val="D26012"/>
                </a:solidFill>
              </a:ln>
              <a:solidFill>
                <a:srgbClr val="D26012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실행 단추: 홈으로 이동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69916AF-7FEF-8261-82D2-E7AECC150C9F}"/>
              </a:ext>
            </a:extLst>
          </p:cNvPr>
          <p:cNvSpPr/>
          <p:nvPr/>
        </p:nvSpPr>
        <p:spPr>
          <a:xfrm>
            <a:off x="1025348" y="5915892"/>
            <a:ext cx="591128" cy="563418"/>
          </a:xfrm>
          <a:prstGeom prst="actionButtonHome">
            <a:avLst/>
          </a:prstGeom>
          <a:noFill/>
          <a:ln w="28575">
            <a:solidFill>
              <a:srgbClr val="D26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5D4B5A-48E3-1874-84AB-3C367A8AB4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41" t="64756" r="29794" b="23022"/>
          <a:stretch>
            <a:fillRect/>
          </a:stretch>
        </p:blipFill>
        <p:spPr>
          <a:xfrm>
            <a:off x="7639051" y="4629150"/>
            <a:ext cx="85725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294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3.33333E-6 L -0.45873 -0.5136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943" y="-25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3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6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4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7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3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6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1591</TotalTime>
  <Words>573</Words>
  <Application>Microsoft Office PowerPoint</Application>
  <PresentationFormat>와이드스크린</PresentationFormat>
  <Paragraphs>68</Paragraphs>
  <Slides>9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휴먼둥근헤드라인</vt:lpstr>
      <vt:lpstr>Arial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17</cp:revision>
  <dcterms:created xsi:type="dcterms:W3CDTF">2026-04-28T04:35:16Z</dcterms:created>
  <dcterms:modified xsi:type="dcterms:W3CDTF">2026-05-08T04:43:31Z</dcterms:modified>
</cp:coreProperties>
</file>