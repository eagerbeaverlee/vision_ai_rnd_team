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5" r:id="rId3"/>
    <p:sldId id="261" r:id="rId4"/>
    <p:sldId id="260" r:id="rId5"/>
    <p:sldId id="266" r:id="rId6"/>
    <p:sldId id="256" r:id="rId7"/>
    <p:sldId id="257" r:id="rId8"/>
    <p:sldId id="267" r:id="rId9"/>
    <p:sldId id="263" r:id="rId10"/>
    <p:sldId id="264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BF9000"/>
    <a:srgbClr val="B189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6B3F2A-AE29-4F5B-A250-F27A3FDE7E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5A89337-408C-4A0F-AF31-394EB8C733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02B793-6D07-4339-8DE0-C323EC47D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57D2-8FD4-4216-A37E-6B0C9F938144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AA3757-3CBC-4C69-B852-4F22A99A6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C33F6F-A15B-48A0-8932-BBECDEB4E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507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4EC62A-C68A-40CF-8589-7E7E6593D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6CFB6A-E62D-4E00-B130-ABEEC98DC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C48C89-7723-41AD-A0F8-3820A605E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57D2-8FD4-4216-A37E-6B0C9F938144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514119-C03B-4E02-8E36-749CEF4C1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FE4127-C877-4BFB-8738-E49D912DD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838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1624D-2835-4904-831F-55E7790D9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AD342C-A977-41D2-A012-91AFB8FAB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385AAF-9B89-4429-A1A5-A3A64DE88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57D2-8FD4-4216-A37E-6B0C9F938144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CB248A-E6E5-4D9C-A544-F609A9479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7ABB59-DB45-4993-8831-0FFE3E776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238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096A13-D24E-4B88-9245-36ACEF7E7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520831-93AC-45D3-B119-DE25237B6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D2A40D-4E3C-43CA-AE6D-82C611285B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C2D538-449B-4C3A-B53C-7DE79D511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57D2-8FD4-4216-A37E-6B0C9F938144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72BA93-071B-47AA-A3E7-7D3D4143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9BA8D2-5B52-4241-A473-436914146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228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F4ABD7-37D0-4DE8-8978-56C256169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A0E459-5ED9-4FA3-8A5C-838B49058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C96488-3E17-482C-97D9-605EB4773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7445C76-7971-497F-91E4-EF0E14D39D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6C7BCBB-9FBF-478E-9574-A03F73F2C4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D4ED4D1-6E8D-4F06-A223-29654C7A7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57D2-8FD4-4216-A37E-6B0C9F938144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57840C6-2DDD-4936-B859-065E76780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9AACA74-245F-41D8-9E2E-6D4183E4F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621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F2E728-0108-4850-A6C2-0C2A80637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8B39809-DE8C-459D-9D98-331B16675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57D2-8FD4-4216-A37E-6B0C9F938144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E2B14A2-17B5-4A8A-8332-6976E6B31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6A5BE37-4F2C-4915-BE90-B5A832C27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4119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B54803-DA87-40E2-9FA2-09BEB9439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57D2-8FD4-4216-A37E-6B0C9F938144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901872B-F0A4-4709-AA00-4A6CE3FFC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8C2C4D-07BB-4A36-9093-BE967B9CA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378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2A9899-40D5-4C91-A67A-A093619D7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5E8BDF-B9B9-4AB5-A8EC-C1BE7C03E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1AD5709-E8C0-4A73-8520-C166EFD30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56CBDB-A7EE-4D70-9814-8ED20BCCC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57D2-8FD4-4216-A37E-6B0C9F938144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F568B4-BEEE-4801-A933-B3CE9297D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6BF6B2-0286-4D34-BDE3-9523F1CAB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0991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BD2CD8-9E8A-45B1-B30F-CC784A9AC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02A1681-92BD-4406-BA91-4FA9910A9F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D87747-D7BC-4608-B482-1717359D24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14F246-EC6F-4530-BAE3-52AFC7705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57D2-8FD4-4216-A37E-6B0C9F938144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5219E0-EA2E-4431-A095-3ED349CD5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126BB8-CF55-41BB-A27D-B0EA4F51B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5387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D07ECB-6CC9-428B-8243-3196BBB6B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B33809-FB4E-4DE6-9202-88A655BBD6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762C74-644A-4B08-9533-A850A5515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57D2-8FD4-4216-A37E-6B0C9F938144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A0C18E-24AF-4EA0-AD91-95C097B44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B9A563-7803-428E-BA64-B8318801C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3353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B4DB79C-795E-472D-A813-4BA077059C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41B22FF-9D46-4D8B-94C6-07C358C08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2A17BF-AD23-46EA-9F77-714124153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57D2-8FD4-4216-A37E-6B0C9F938144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2A4CEF-6AC3-439B-8D7F-69143C2D5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881D5A-59BF-4A5E-B456-4AE90E00A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406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80103E6-67DF-41F9-B7F4-80E0443CF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146BE3-4FA6-445C-9B61-3FD898483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02F19D-7530-47D9-B464-5C5205FC0B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5557D2-8FD4-4216-A37E-6B0C9F938144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73B8FF-46F1-4A84-AF5F-234E02696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A52C62-88C2-4E2C-A58A-EE8AE926CA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311CBB-CB82-4333-AA3D-A31AEAFAA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084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9C46CD-4AF1-49AD-BEC0-751F0F5A154A}"/>
              </a:ext>
            </a:extLst>
          </p:cNvPr>
          <p:cNvSpPr txBox="1"/>
          <p:nvPr/>
        </p:nvSpPr>
        <p:spPr>
          <a:xfrm>
            <a:off x="218236" y="169847"/>
            <a:ext cx="2155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1. 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연간계획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98E0C6D-E97C-4A5C-8C32-D25F0D410E1D}"/>
              </a:ext>
            </a:extLst>
          </p:cNvPr>
          <p:cNvSpPr/>
          <p:nvPr/>
        </p:nvSpPr>
        <p:spPr>
          <a:xfrm>
            <a:off x="1007389" y="3270003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streamlit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7AD685C-9378-4880-8551-1B06C8AE177E}"/>
              </a:ext>
            </a:extLst>
          </p:cNvPr>
          <p:cNvSpPr/>
          <p:nvPr/>
        </p:nvSpPr>
        <p:spPr>
          <a:xfrm>
            <a:off x="5255776" y="3270003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accent2">
                    <a:lumMod val="75000"/>
                  </a:schemeClr>
                </a:solidFill>
              </a:rPr>
              <a:t>사용자 질문</a:t>
            </a:r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ko-KR" altLang="en-US" sz="1400">
                <a:solidFill>
                  <a:schemeClr val="accent2">
                    <a:lumMod val="75000"/>
                  </a:schemeClr>
                </a:solidFill>
              </a:rPr>
              <a:t>시나리오</a:t>
            </a:r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78DB516F-F42E-4B01-B00B-7E584270A47A}"/>
              </a:ext>
            </a:extLst>
          </p:cNvPr>
          <p:cNvGrpSpPr/>
          <p:nvPr/>
        </p:nvGrpSpPr>
        <p:grpSpPr>
          <a:xfrm>
            <a:off x="791627" y="4071762"/>
            <a:ext cx="1605072" cy="1109476"/>
            <a:chOff x="217732" y="711143"/>
            <a:chExt cx="3589708" cy="2481319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5B50800D-5547-4904-A6E8-71D280E48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7732" y="711143"/>
              <a:ext cx="3589708" cy="2481319"/>
            </a:xfrm>
            <a:prstGeom prst="rect">
              <a:avLst/>
            </a:prstGeom>
          </p:spPr>
        </p:pic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FD7BDB43-2CA1-421E-BB6A-9397212D2CE7}"/>
                </a:ext>
              </a:extLst>
            </p:cNvPr>
            <p:cNvGrpSpPr/>
            <p:nvPr/>
          </p:nvGrpSpPr>
          <p:grpSpPr>
            <a:xfrm>
              <a:off x="1463675" y="2339975"/>
              <a:ext cx="149225" cy="149225"/>
              <a:chOff x="3381375" y="2314575"/>
              <a:chExt cx="149225" cy="149225"/>
            </a:xfrm>
          </p:grpSpPr>
          <p:sp>
            <p:nvSpPr>
              <p:cNvPr id="19" name="화살표: 갈매기형 수장 18">
                <a:extLst>
                  <a:ext uri="{FF2B5EF4-FFF2-40B4-BE49-F238E27FC236}">
                    <a16:creationId xmlns:a16="http://schemas.microsoft.com/office/drawing/2014/main" id="{AB057F12-9895-438C-A36C-115153C3848C}"/>
                  </a:ext>
                </a:extLst>
              </p:cNvPr>
              <p:cNvSpPr/>
              <p:nvPr/>
            </p:nvSpPr>
            <p:spPr>
              <a:xfrm>
                <a:off x="3422650" y="2349500"/>
                <a:ext cx="88900" cy="82550"/>
              </a:xfrm>
              <a:prstGeom prst="chevron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EBFFD9B9-DE03-47C3-BB44-EDDB3EA8CB81}"/>
                  </a:ext>
                </a:extLst>
              </p:cNvPr>
              <p:cNvSpPr/>
              <p:nvPr/>
            </p:nvSpPr>
            <p:spPr>
              <a:xfrm>
                <a:off x="3381375" y="2314575"/>
                <a:ext cx="149225" cy="14922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D186744F-0480-4D36-AA18-7CC65D8254AF}"/>
                </a:ext>
              </a:extLst>
            </p:cNvPr>
            <p:cNvCxnSpPr>
              <a:stCxn id="20" idx="2"/>
            </p:cNvCxnSpPr>
            <p:nvPr/>
          </p:nvCxnSpPr>
          <p:spPr>
            <a:xfrm flipH="1" flipV="1">
              <a:off x="1358900" y="2409825"/>
              <a:ext cx="104775" cy="4763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70A8B82B-35CB-4B63-B7F5-CA9EE789FC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96987" y="2374900"/>
              <a:ext cx="64294" cy="34926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A7D09D71-6361-4FE3-A7DB-05FC0B3FFB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44203" y="2301875"/>
              <a:ext cx="52388" cy="73025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27F3751F-8A81-43E2-8A1E-CB82B21D407C}"/>
                </a:ext>
              </a:extLst>
            </p:cNvPr>
            <p:cNvGrpSpPr/>
            <p:nvPr/>
          </p:nvGrpSpPr>
          <p:grpSpPr>
            <a:xfrm>
              <a:off x="2171412" y="2389187"/>
              <a:ext cx="149225" cy="149225"/>
              <a:chOff x="3824287" y="2478087"/>
              <a:chExt cx="149225" cy="149225"/>
            </a:xfrm>
          </p:grpSpPr>
          <p:sp>
            <p:nvSpPr>
              <p:cNvPr id="17" name="화살표: 갈매기형 수장 16">
                <a:extLst>
                  <a:ext uri="{FF2B5EF4-FFF2-40B4-BE49-F238E27FC236}">
                    <a16:creationId xmlns:a16="http://schemas.microsoft.com/office/drawing/2014/main" id="{5143A292-33C2-460B-A6B8-5B0E6A2A3A05}"/>
                  </a:ext>
                </a:extLst>
              </p:cNvPr>
              <p:cNvSpPr/>
              <p:nvPr/>
            </p:nvSpPr>
            <p:spPr>
              <a:xfrm rot="18900000">
                <a:off x="3865562" y="2510631"/>
                <a:ext cx="88900" cy="82550"/>
              </a:xfrm>
              <a:prstGeom prst="chevron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6DEDF0AE-EFFA-4768-B741-AF3FC9BA3CCD}"/>
                  </a:ext>
                </a:extLst>
              </p:cNvPr>
              <p:cNvSpPr/>
              <p:nvPr/>
            </p:nvSpPr>
            <p:spPr>
              <a:xfrm>
                <a:off x="3824287" y="2478087"/>
                <a:ext cx="149225" cy="149225"/>
              </a:xfrm>
              <a:prstGeom prst="ellipse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80FBDD0A-1154-4B22-B65C-3D3FDBB0A678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 flipH="1">
              <a:off x="2140877" y="2516559"/>
              <a:ext cx="52388" cy="85354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D6A7A5E6-7374-4BCA-8955-AA4E379521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41566" y="2600602"/>
              <a:ext cx="29846" cy="59774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1618B085-D47B-4A20-9657-1193080671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7332" y="2655244"/>
              <a:ext cx="53682" cy="76422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7785CAFE-08AE-4E7B-AE14-E571605292E7}"/>
              </a:ext>
            </a:extLst>
          </p:cNvPr>
          <p:cNvSpPr txBox="1"/>
          <p:nvPr/>
        </p:nvSpPr>
        <p:spPr>
          <a:xfrm>
            <a:off x="848926" y="5159377"/>
            <a:ext cx="15039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실시간 상황전시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9F090BF-83FE-488B-83F0-FDE56BE70569}"/>
              </a:ext>
            </a:extLst>
          </p:cNvPr>
          <p:cNvSpPr/>
          <p:nvPr/>
        </p:nvSpPr>
        <p:spPr>
          <a:xfrm>
            <a:off x="2703473" y="4080349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DB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F954C52-84E7-4160-B754-E0C19CA56B48}"/>
              </a:ext>
            </a:extLst>
          </p:cNvPr>
          <p:cNvSpPr/>
          <p:nvPr/>
        </p:nvSpPr>
        <p:spPr>
          <a:xfrm>
            <a:off x="5255776" y="4080349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Local LLM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73C986ED-5572-47D5-B5E5-4407ADAB0A1D}"/>
              </a:ext>
            </a:extLst>
          </p:cNvPr>
          <p:cNvCxnSpPr>
            <a:cxnSpLocks/>
            <a:stCxn id="6" idx="2"/>
            <a:endCxn id="26" idx="0"/>
          </p:cNvCxnSpPr>
          <p:nvPr/>
        </p:nvCxnSpPr>
        <p:spPr>
          <a:xfrm>
            <a:off x="5840740" y="3759592"/>
            <a:ext cx="0" cy="320757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036CC9FE-2B76-4117-9285-7DFFBA4DB9B7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1592353" y="3759592"/>
            <a:ext cx="1810" cy="31217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D671AAD-F7C7-4B0B-8F5D-C7179CDCC549}"/>
              </a:ext>
            </a:extLst>
          </p:cNvPr>
          <p:cNvSpPr/>
          <p:nvPr/>
        </p:nvSpPr>
        <p:spPr>
          <a:xfrm>
            <a:off x="6341263" y="5215917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accent2">
                    <a:lumMod val="75000"/>
                  </a:schemeClr>
                </a:solidFill>
              </a:rPr>
              <a:t>답변생성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C9D7970-0550-40F4-BEBD-3403021EA76B}"/>
              </a:ext>
            </a:extLst>
          </p:cNvPr>
          <p:cNvSpPr/>
          <p:nvPr/>
        </p:nvSpPr>
        <p:spPr>
          <a:xfrm>
            <a:off x="4001409" y="5215917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accent2">
                    <a:lumMod val="75000"/>
                  </a:schemeClr>
                </a:solidFill>
              </a:rPr>
              <a:t>전처리된</a:t>
            </a:r>
            <a:b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DB </a:t>
            </a:r>
            <a:r>
              <a:rPr lang="ko-KR" altLang="en-US" sz="1400">
                <a:solidFill>
                  <a:schemeClr val="accent2">
                    <a:lumMod val="75000"/>
                  </a:schemeClr>
                </a:solidFill>
              </a:rPr>
              <a:t>정보</a:t>
            </a:r>
          </a:p>
        </p:txBody>
      </p: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767DE29F-BC03-4399-8AB6-7D9D280D5918}"/>
              </a:ext>
            </a:extLst>
          </p:cNvPr>
          <p:cNvCxnSpPr>
            <a:cxnSpLocks/>
            <a:stCxn id="25" idx="2"/>
            <a:endCxn id="35" idx="1"/>
          </p:cNvCxnSpPr>
          <p:nvPr/>
        </p:nvCxnSpPr>
        <p:spPr>
          <a:xfrm rot="16200000" flipH="1">
            <a:off x="3199536" y="4658839"/>
            <a:ext cx="890774" cy="712972"/>
          </a:xfrm>
          <a:prstGeom prst="bentConnector2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10A3CA96-DB97-4E7C-9ABC-EA398645F409}"/>
              </a:ext>
            </a:extLst>
          </p:cNvPr>
          <p:cNvCxnSpPr>
            <a:cxnSpLocks/>
            <a:stCxn id="35" idx="3"/>
            <a:endCxn id="26" idx="2"/>
          </p:cNvCxnSpPr>
          <p:nvPr/>
        </p:nvCxnSpPr>
        <p:spPr>
          <a:xfrm flipV="1">
            <a:off x="5171336" y="4569938"/>
            <a:ext cx="669404" cy="890774"/>
          </a:xfrm>
          <a:prstGeom prst="bentConnector2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0E40B76-78FE-4F79-A15E-15A176EA5E44}"/>
              </a:ext>
            </a:extLst>
          </p:cNvPr>
          <p:cNvSpPr/>
          <p:nvPr/>
        </p:nvSpPr>
        <p:spPr>
          <a:xfrm>
            <a:off x="7352927" y="3270003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accent1">
                    <a:lumMod val="75000"/>
                  </a:schemeClr>
                </a:solidFill>
              </a:rPr>
              <a:t>사용자 질문</a:t>
            </a:r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ko-KR" altLang="en-US" sz="1400">
                <a:solidFill>
                  <a:schemeClr val="accent1">
                    <a:lumMod val="75000"/>
                  </a:schemeClr>
                </a:solidFill>
              </a:rPr>
              <a:t>교리교범</a:t>
            </a:r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ko-KR" alt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6FEF059-B712-4C7D-BD15-889B9EDF784D}"/>
              </a:ext>
            </a:extLst>
          </p:cNvPr>
          <p:cNvSpPr/>
          <p:nvPr/>
        </p:nvSpPr>
        <p:spPr>
          <a:xfrm>
            <a:off x="8948714" y="4080349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Vector</a:t>
            </a:r>
            <a:r>
              <a:rPr lang="ko-KR" altLang="en-US" sz="140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DB</a:t>
            </a:r>
            <a:endParaRPr lang="ko-KR" alt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36A7974-1177-4EB2-AA9A-5779FC8BE89F}"/>
              </a:ext>
            </a:extLst>
          </p:cNvPr>
          <p:cNvSpPr/>
          <p:nvPr/>
        </p:nvSpPr>
        <p:spPr>
          <a:xfrm>
            <a:off x="7352927" y="4080349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Local LLM</a:t>
            </a:r>
          </a:p>
        </p:txBody>
      </p: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317D5BED-B1F0-4566-9916-FCF1BAF4FE04}"/>
              </a:ext>
            </a:extLst>
          </p:cNvPr>
          <p:cNvCxnSpPr>
            <a:cxnSpLocks/>
            <a:stCxn id="43" idx="1"/>
            <a:endCxn id="34" idx="0"/>
          </p:cNvCxnSpPr>
          <p:nvPr/>
        </p:nvCxnSpPr>
        <p:spPr>
          <a:xfrm rot="10800000" flipV="1">
            <a:off x="6926227" y="4325143"/>
            <a:ext cx="426700" cy="890773"/>
          </a:xfrm>
          <a:prstGeom prst="bentConnector2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5ED92279-72D7-441E-AFFB-25B7A6436EE5}"/>
              </a:ext>
            </a:extLst>
          </p:cNvPr>
          <p:cNvSpPr txBox="1"/>
          <p:nvPr/>
        </p:nvSpPr>
        <p:spPr>
          <a:xfrm>
            <a:off x="3402391" y="6365928"/>
            <a:ext cx="26709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사용자 질문이 </a:t>
            </a:r>
            <a:r>
              <a:rPr lang="en-US" altLang="ko-KR" sz="1400"/>
              <a:t>SQL</a:t>
            </a:r>
            <a:r>
              <a:rPr lang="ko-KR" altLang="en-US" sz="1400"/>
              <a:t>쿼리로 변환</a:t>
            </a:r>
            <a:endParaRPr lang="en-US" altLang="ko-KR" sz="1400"/>
          </a:p>
        </p:txBody>
      </p:sp>
      <p:cxnSp>
        <p:nvCxnSpPr>
          <p:cNvPr id="70" name="연결선: 꺾임 69">
            <a:extLst>
              <a:ext uri="{FF2B5EF4-FFF2-40B4-BE49-F238E27FC236}">
                <a16:creationId xmlns:a16="http://schemas.microsoft.com/office/drawing/2014/main" id="{5E8748E0-C410-4DD1-A800-9FD76A2416E8}"/>
              </a:ext>
            </a:extLst>
          </p:cNvPr>
          <p:cNvCxnSpPr>
            <a:cxnSpLocks/>
            <a:stCxn id="42" idx="2"/>
            <a:endCxn id="43" idx="2"/>
          </p:cNvCxnSpPr>
          <p:nvPr/>
        </p:nvCxnSpPr>
        <p:spPr>
          <a:xfrm rot="5400000">
            <a:off x="8735785" y="3772045"/>
            <a:ext cx="12700" cy="1595787"/>
          </a:xfrm>
          <a:prstGeom prst="bentConnector3">
            <a:avLst>
              <a:gd name="adj1" fmla="val 3046150"/>
            </a:avLst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FB02069C-BAE1-44A0-8E46-0F50C13ABBE3}"/>
              </a:ext>
            </a:extLst>
          </p:cNvPr>
          <p:cNvCxnSpPr>
            <a:cxnSpLocks/>
            <a:stCxn id="41" idx="2"/>
            <a:endCxn id="43" idx="0"/>
          </p:cNvCxnSpPr>
          <p:nvPr/>
        </p:nvCxnSpPr>
        <p:spPr>
          <a:xfrm>
            <a:off x="7937891" y="3759592"/>
            <a:ext cx="0" cy="320757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47870300-A80A-4397-BFF3-8F51A2D1AAD5}"/>
              </a:ext>
            </a:extLst>
          </p:cNvPr>
          <p:cNvCxnSpPr>
            <a:cxnSpLocks/>
            <a:stCxn id="43" idx="3"/>
            <a:endCxn id="42" idx="1"/>
          </p:cNvCxnSpPr>
          <p:nvPr/>
        </p:nvCxnSpPr>
        <p:spPr>
          <a:xfrm>
            <a:off x="8522854" y="4325144"/>
            <a:ext cx="425860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A316C57C-8B64-4904-BEDD-88A84A2EE1E1}"/>
              </a:ext>
            </a:extLst>
          </p:cNvPr>
          <p:cNvSpPr/>
          <p:nvPr/>
        </p:nvSpPr>
        <p:spPr>
          <a:xfrm>
            <a:off x="6341262" y="6144092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Dashboard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1E9B5B3C-38F8-473D-A395-1707EFB57DF8}"/>
              </a:ext>
            </a:extLst>
          </p:cNvPr>
          <p:cNvCxnSpPr>
            <a:cxnSpLocks/>
            <a:endCxn id="87" idx="1"/>
          </p:cNvCxnSpPr>
          <p:nvPr/>
        </p:nvCxnSpPr>
        <p:spPr>
          <a:xfrm>
            <a:off x="2976937" y="4585080"/>
            <a:ext cx="3364325" cy="1803807"/>
          </a:xfrm>
          <a:prstGeom prst="bentConnector3">
            <a:avLst>
              <a:gd name="adj1" fmla="val 84"/>
            </a:avLst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C21AB74D-B7E9-41E2-A9BE-1A9E8AFF98FF}"/>
              </a:ext>
            </a:extLst>
          </p:cNvPr>
          <p:cNvSpPr/>
          <p:nvPr/>
        </p:nvSpPr>
        <p:spPr>
          <a:xfrm>
            <a:off x="2703473" y="2466181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Server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5C487712-A8D6-4049-AA29-D5BF59453A21}"/>
              </a:ext>
            </a:extLst>
          </p:cNvPr>
          <p:cNvSpPr/>
          <p:nvPr/>
        </p:nvSpPr>
        <p:spPr>
          <a:xfrm>
            <a:off x="2703473" y="3270003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Client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852E7ADC-C4B4-49DD-BE61-D817CAA8F361}"/>
              </a:ext>
            </a:extLst>
          </p:cNvPr>
          <p:cNvCxnSpPr>
            <a:cxnSpLocks/>
            <a:stCxn id="96" idx="2"/>
            <a:endCxn id="97" idx="0"/>
          </p:cNvCxnSpPr>
          <p:nvPr/>
        </p:nvCxnSpPr>
        <p:spPr>
          <a:xfrm>
            <a:off x="3288437" y="2955770"/>
            <a:ext cx="0" cy="314233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10463B92-13BE-49D0-8A98-C62E11B93527}"/>
              </a:ext>
            </a:extLst>
          </p:cNvPr>
          <p:cNvCxnSpPr>
            <a:cxnSpLocks/>
            <a:stCxn id="97" idx="2"/>
            <a:endCxn id="25" idx="0"/>
          </p:cNvCxnSpPr>
          <p:nvPr/>
        </p:nvCxnSpPr>
        <p:spPr>
          <a:xfrm>
            <a:off x="3288437" y="3759592"/>
            <a:ext cx="0" cy="320757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D0DC37FF-D918-4546-BDD1-06E746438474}"/>
              </a:ext>
            </a:extLst>
          </p:cNvPr>
          <p:cNvCxnSpPr>
            <a:cxnSpLocks/>
            <a:stCxn id="26" idx="3"/>
            <a:endCxn id="34" idx="0"/>
          </p:cNvCxnSpPr>
          <p:nvPr/>
        </p:nvCxnSpPr>
        <p:spPr>
          <a:xfrm>
            <a:off x="6425703" y="4325144"/>
            <a:ext cx="500524" cy="890773"/>
          </a:xfrm>
          <a:prstGeom prst="bentConnector2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223CDC32-2092-472E-863D-755882E2125A}"/>
              </a:ext>
            </a:extLst>
          </p:cNvPr>
          <p:cNvCxnSpPr>
            <a:cxnSpLocks/>
            <a:stCxn id="96" idx="1"/>
            <a:endCxn id="111" idx="3"/>
          </p:cNvCxnSpPr>
          <p:nvPr/>
        </p:nvCxnSpPr>
        <p:spPr>
          <a:xfrm flipH="1">
            <a:off x="2177316" y="2710976"/>
            <a:ext cx="526157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E3AC0E3D-C7D4-4DC8-8CD0-649369807784}"/>
              </a:ext>
            </a:extLst>
          </p:cNvPr>
          <p:cNvSpPr/>
          <p:nvPr/>
        </p:nvSpPr>
        <p:spPr>
          <a:xfrm>
            <a:off x="1007389" y="2466181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6">
                    <a:lumMod val="75000"/>
                  </a:schemeClr>
                </a:solidFill>
              </a:rPr>
              <a:t>Game Engine</a:t>
            </a:r>
            <a:endParaRPr lang="ko-KR" altLang="en-US" sz="140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114" name="연결선: 꺾임 113">
            <a:extLst>
              <a:ext uri="{FF2B5EF4-FFF2-40B4-BE49-F238E27FC236}">
                <a16:creationId xmlns:a16="http://schemas.microsoft.com/office/drawing/2014/main" id="{B4A7B52E-B50A-4109-8958-8E7A74A59831}"/>
              </a:ext>
            </a:extLst>
          </p:cNvPr>
          <p:cNvCxnSpPr>
            <a:cxnSpLocks/>
          </p:cNvCxnSpPr>
          <p:nvPr/>
        </p:nvCxnSpPr>
        <p:spPr>
          <a:xfrm rot="10800000">
            <a:off x="3873402" y="3625274"/>
            <a:ext cx="1382374" cy="576879"/>
          </a:xfrm>
          <a:prstGeom prst="bentConnector3">
            <a:avLst>
              <a:gd name="adj1" fmla="val 60176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연결선: 꺾임 117">
            <a:extLst>
              <a:ext uri="{FF2B5EF4-FFF2-40B4-BE49-F238E27FC236}">
                <a16:creationId xmlns:a16="http://schemas.microsoft.com/office/drawing/2014/main" id="{431358CD-4880-47A8-B315-FC598FDDCC6F}"/>
              </a:ext>
            </a:extLst>
          </p:cNvPr>
          <p:cNvCxnSpPr>
            <a:cxnSpLocks/>
            <a:stCxn id="97" idx="3"/>
            <a:endCxn id="96" idx="3"/>
          </p:cNvCxnSpPr>
          <p:nvPr/>
        </p:nvCxnSpPr>
        <p:spPr>
          <a:xfrm flipV="1">
            <a:off x="3873400" y="2710976"/>
            <a:ext cx="12700" cy="803822"/>
          </a:xfrm>
          <a:prstGeom prst="bentConnector3">
            <a:avLst>
              <a:gd name="adj1" fmla="val 4292307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D4EE8844-3D54-4792-968C-D5446AEF3868}"/>
              </a:ext>
            </a:extLst>
          </p:cNvPr>
          <p:cNvCxnSpPr>
            <a:cxnSpLocks/>
            <a:stCxn id="26" idx="1"/>
            <a:endCxn id="25" idx="3"/>
          </p:cNvCxnSpPr>
          <p:nvPr/>
        </p:nvCxnSpPr>
        <p:spPr>
          <a:xfrm flipH="1">
            <a:off x="3873400" y="4325144"/>
            <a:ext cx="1382376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9B0228FF-4AA7-47E2-974B-E64015A43358}"/>
              </a:ext>
            </a:extLst>
          </p:cNvPr>
          <p:cNvSpPr/>
          <p:nvPr/>
        </p:nvSpPr>
        <p:spPr>
          <a:xfrm>
            <a:off x="3933062" y="4413746"/>
            <a:ext cx="1282942" cy="299683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accent6">
                    <a:lumMod val="75000"/>
                  </a:schemeClr>
                </a:solidFill>
              </a:rPr>
              <a:t>자연어</a:t>
            </a:r>
            <a:r>
              <a:rPr lang="en-US" altLang="ko-KR" sz="1400">
                <a:solidFill>
                  <a:schemeClr val="accent6">
                    <a:lumMod val="75000"/>
                  </a:schemeClr>
                </a:solidFill>
              </a:rPr>
              <a:t>-&gt;</a:t>
            </a:r>
            <a:r>
              <a:rPr lang="ko-KR" altLang="en-US" sz="1400">
                <a:solidFill>
                  <a:schemeClr val="accent6">
                    <a:lumMod val="75000"/>
                  </a:schemeClr>
                </a:solidFill>
              </a:rPr>
              <a:t>쿼리</a:t>
            </a:r>
          </a:p>
        </p:txBody>
      </p: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3D5008AC-5483-4566-96F1-460061536BAF}"/>
              </a:ext>
            </a:extLst>
          </p:cNvPr>
          <p:cNvCxnSpPr>
            <a:cxnSpLocks/>
            <a:stCxn id="145" idx="1"/>
            <a:endCxn id="34" idx="3"/>
          </p:cNvCxnSpPr>
          <p:nvPr/>
        </p:nvCxnSpPr>
        <p:spPr>
          <a:xfrm flipH="1">
            <a:off x="7511190" y="5460712"/>
            <a:ext cx="640053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5D6E3C1D-139C-45D6-B8F4-C3A83CCDB030}"/>
              </a:ext>
            </a:extLst>
          </p:cNvPr>
          <p:cNvSpPr/>
          <p:nvPr/>
        </p:nvSpPr>
        <p:spPr>
          <a:xfrm>
            <a:off x="8151243" y="5215917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accent6">
                    <a:lumMod val="75000"/>
                  </a:schemeClr>
                </a:solidFill>
              </a:rPr>
              <a:t>방책생성</a:t>
            </a: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D81EEACE-8DB5-45E3-B488-36067D8E0942}"/>
              </a:ext>
            </a:extLst>
          </p:cNvPr>
          <p:cNvSpPr/>
          <p:nvPr/>
        </p:nvSpPr>
        <p:spPr>
          <a:xfrm>
            <a:off x="8948714" y="2466181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accent6">
                    <a:lumMod val="75000"/>
                  </a:schemeClr>
                </a:solidFill>
              </a:rPr>
              <a:t>반정형데이터 고도화</a:t>
            </a:r>
          </a:p>
        </p:txBody>
      </p: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909DD85E-3574-4A12-9F96-55C08A6D8704}"/>
              </a:ext>
            </a:extLst>
          </p:cNvPr>
          <p:cNvCxnSpPr>
            <a:cxnSpLocks/>
            <a:stCxn id="34" idx="2"/>
            <a:endCxn id="87" idx="0"/>
          </p:cNvCxnSpPr>
          <p:nvPr/>
        </p:nvCxnSpPr>
        <p:spPr>
          <a:xfrm flipH="1">
            <a:off x="6926226" y="5705506"/>
            <a:ext cx="1" cy="43858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69978D71-DBE2-45DF-B7C7-0193414B1550}"/>
              </a:ext>
            </a:extLst>
          </p:cNvPr>
          <p:cNvCxnSpPr>
            <a:cxnSpLocks/>
            <a:stCxn id="97" idx="1"/>
            <a:endCxn id="5" idx="3"/>
          </p:cNvCxnSpPr>
          <p:nvPr/>
        </p:nvCxnSpPr>
        <p:spPr>
          <a:xfrm flipH="1">
            <a:off x="2177316" y="3514798"/>
            <a:ext cx="526157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3952F78B-FA5A-4380-B884-60A710778F56}"/>
              </a:ext>
            </a:extLst>
          </p:cNvPr>
          <p:cNvSpPr/>
          <p:nvPr/>
        </p:nvSpPr>
        <p:spPr>
          <a:xfrm>
            <a:off x="10539834" y="4080349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rgbClr val="B189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rgbClr val="B189C3"/>
                </a:solidFill>
              </a:rPr>
              <a:t>Knowledge Graph</a:t>
            </a:r>
            <a:endParaRPr lang="ko-KR" altLang="en-US" sz="1400">
              <a:solidFill>
                <a:srgbClr val="B189C3"/>
              </a:solidFill>
            </a:endParaRPr>
          </a:p>
        </p:txBody>
      </p: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B868E72B-62D9-411D-BCD8-CC51581628A9}"/>
              </a:ext>
            </a:extLst>
          </p:cNvPr>
          <p:cNvCxnSpPr>
            <a:cxnSpLocks/>
            <a:stCxn id="159" idx="1"/>
            <a:endCxn id="42" idx="3"/>
          </p:cNvCxnSpPr>
          <p:nvPr/>
        </p:nvCxnSpPr>
        <p:spPr>
          <a:xfrm flipH="1">
            <a:off x="10118641" y="4325144"/>
            <a:ext cx="421193" cy="0"/>
          </a:xfrm>
          <a:prstGeom prst="line">
            <a:avLst/>
          </a:prstGeom>
          <a:ln w="38100">
            <a:solidFill>
              <a:srgbClr val="B189C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B7894E8A-C826-4F09-9068-E02BB628BC58}"/>
              </a:ext>
            </a:extLst>
          </p:cNvPr>
          <p:cNvSpPr/>
          <p:nvPr/>
        </p:nvSpPr>
        <p:spPr>
          <a:xfrm>
            <a:off x="8948714" y="1675840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rgbClr val="B189C3"/>
                </a:solidFill>
              </a:rPr>
              <a:t>Advanced PDF parser</a:t>
            </a:r>
            <a:endParaRPr lang="ko-KR" altLang="en-US" sz="1400">
              <a:solidFill>
                <a:srgbClr val="B189C3"/>
              </a:solidFill>
            </a:endParaRPr>
          </a:p>
        </p:txBody>
      </p: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C02CDBB6-753F-45B4-84EB-B1258F3407E9}"/>
              </a:ext>
            </a:extLst>
          </p:cNvPr>
          <p:cNvCxnSpPr>
            <a:cxnSpLocks/>
            <a:stCxn id="147" idx="0"/>
            <a:endCxn id="171" idx="2"/>
          </p:cNvCxnSpPr>
          <p:nvPr/>
        </p:nvCxnSpPr>
        <p:spPr>
          <a:xfrm flipV="1">
            <a:off x="9533678" y="2165429"/>
            <a:ext cx="0" cy="300752"/>
          </a:xfrm>
          <a:prstGeom prst="line">
            <a:avLst/>
          </a:prstGeom>
          <a:ln w="38100">
            <a:solidFill>
              <a:srgbClr val="B189C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4CE4EB0A-4AFA-401E-9EF7-83B6FE2971B6}"/>
              </a:ext>
            </a:extLst>
          </p:cNvPr>
          <p:cNvSpPr/>
          <p:nvPr/>
        </p:nvSpPr>
        <p:spPr>
          <a:xfrm>
            <a:off x="8948714" y="3270003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rgbClr val="B189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rgbClr val="B189C3"/>
                </a:solidFill>
              </a:rPr>
              <a:t>Local Embedding Model</a:t>
            </a:r>
            <a:endParaRPr lang="ko-KR" altLang="en-US" sz="1100">
              <a:solidFill>
                <a:srgbClr val="B189C3"/>
              </a:solidFill>
            </a:endParaRPr>
          </a:p>
        </p:txBody>
      </p: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09DDC230-7434-408E-8E07-FE4EC0C9795D}"/>
              </a:ext>
            </a:extLst>
          </p:cNvPr>
          <p:cNvCxnSpPr>
            <a:cxnSpLocks/>
            <a:stCxn id="175" idx="0"/>
            <a:endCxn id="147" idx="2"/>
          </p:cNvCxnSpPr>
          <p:nvPr/>
        </p:nvCxnSpPr>
        <p:spPr>
          <a:xfrm flipV="1">
            <a:off x="9533678" y="2955770"/>
            <a:ext cx="0" cy="314233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화살표 연결선 183">
            <a:extLst>
              <a:ext uri="{FF2B5EF4-FFF2-40B4-BE49-F238E27FC236}">
                <a16:creationId xmlns:a16="http://schemas.microsoft.com/office/drawing/2014/main" id="{35CEB10B-DF73-416E-B63C-FC49AD9147A1}"/>
              </a:ext>
            </a:extLst>
          </p:cNvPr>
          <p:cNvCxnSpPr>
            <a:cxnSpLocks/>
            <a:stCxn id="175" idx="2"/>
            <a:endCxn id="42" idx="0"/>
          </p:cNvCxnSpPr>
          <p:nvPr/>
        </p:nvCxnSpPr>
        <p:spPr>
          <a:xfrm>
            <a:off x="9533678" y="3759592"/>
            <a:ext cx="0" cy="320757"/>
          </a:xfrm>
          <a:prstGeom prst="straightConnector1">
            <a:avLst/>
          </a:prstGeom>
          <a:ln w="38100">
            <a:solidFill>
              <a:srgbClr val="B189C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E4905B93-C1FA-49A3-8FC0-118B283A2216}"/>
              </a:ext>
            </a:extLst>
          </p:cNvPr>
          <p:cNvSpPr/>
          <p:nvPr/>
        </p:nvSpPr>
        <p:spPr>
          <a:xfrm>
            <a:off x="8948714" y="874829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Documents</a:t>
            </a:r>
            <a:endParaRPr lang="ko-KR" alt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91" name="직선 화살표 연결선 190">
            <a:extLst>
              <a:ext uri="{FF2B5EF4-FFF2-40B4-BE49-F238E27FC236}">
                <a16:creationId xmlns:a16="http://schemas.microsoft.com/office/drawing/2014/main" id="{F12EEB1A-3053-4426-98D9-0C0A6E5C49FD}"/>
              </a:ext>
            </a:extLst>
          </p:cNvPr>
          <p:cNvCxnSpPr>
            <a:cxnSpLocks/>
            <a:stCxn id="187" idx="2"/>
            <a:endCxn id="171" idx="0"/>
          </p:cNvCxnSpPr>
          <p:nvPr/>
        </p:nvCxnSpPr>
        <p:spPr>
          <a:xfrm>
            <a:off x="9533678" y="1364418"/>
            <a:ext cx="0" cy="31142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9CFDFBED-B752-415E-B18B-A04E8254442E}"/>
              </a:ext>
            </a:extLst>
          </p:cNvPr>
          <p:cNvSpPr/>
          <p:nvPr/>
        </p:nvSpPr>
        <p:spPr>
          <a:xfrm>
            <a:off x="10539834" y="874829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rgbClr val="BF9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4">
                    <a:lumMod val="75000"/>
                  </a:schemeClr>
                </a:solidFill>
              </a:rPr>
              <a:t>Image, sound</a:t>
            </a:r>
            <a:endParaRPr lang="ko-KR" altLang="en-US" sz="140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4F85E6A7-174E-4742-B069-F030D942BDEA}"/>
              </a:ext>
            </a:extLst>
          </p:cNvPr>
          <p:cNvSpPr/>
          <p:nvPr/>
        </p:nvSpPr>
        <p:spPr>
          <a:xfrm>
            <a:off x="10539834" y="3270003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4">
                    <a:lumMod val="75000"/>
                  </a:schemeClr>
                </a:solidFill>
              </a:rPr>
              <a:t>Multi-modal LLM</a:t>
            </a:r>
            <a:endParaRPr lang="ko-KR" altLang="en-US" sz="140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200" name="직선 화살표 연결선 199">
            <a:extLst>
              <a:ext uri="{FF2B5EF4-FFF2-40B4-BE49-F238E27FC236}">
                <a16:creationId xmlns:a16="http://schemas.microsoft.com/office/drawing/2014/main" id="{2A072282-6CD2-4DD4-AF11-53A237251164}"/>
              </a:ext>
            </a:extLst>
          </p:cNvPr>
          <p:cNvCxnSpPr>
            <a:cxnSpLocks/>
            <a:stCxn id="196" idx="2"/>
            <a:endCxn id="199" idx="0"/>
          </p:cNvCxnSpPr>
          <p:nvPr/>
        </p:nvCxnSpPr>
        <p:spPr>
          <a:xfrm>
            <a:off x="11124798" y="1364418"/>
            <a:ext cx="0" cy="1905585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연결선: 꺾임 204">
            <a:extLst>
              <a:ext uri="{FF2B5EF4-FFF2-40B4-BE49-F238E27FC236}">
                <a16:creationId xmlns:a16="http://schemas.microsoft.com/office/drawing/2014/main" id="{B40AFE34-8890-4DA0-A840-5B5863846E55}"/>
              </a:ext>
            </a:extLst>
          </p:cNvPr>
          <p:cNvCxnSpPr>
            <a:cxnSpLocks/>
            <a:stCxn id="199" idx="2"/>
            <a:endCxn id="42" idx="0"/>
          </p:cNvCxnSpPr>
          <p:nvPr/>
        </p:nvCxnSpPr>
        <p:spPr>
          <a:xfrm rot="5400000">
            <a:off x="10168860" y="3124410"/>
            <a:ext cx="320757" cy="1591120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직사각형 224">
            <a:extLst>
              <a:ext uri="{FF2B5EF4-FFF2-40B4-BE49-F238E27FC236}">
                <a16:creationId xmlns:a16="http://schemas.microsoft.com/office/drawing/2014/main" id="{B9EC5E56-B568-4406-BCE0-D1A096C45205}"/>
              </a:ext>
            </a:extLst>
          </p:cNvPr>
          <p:cNvSpPr/>
          <p:nvPr/>
        </p:nvSpPr>
        <p:spPr>
          <a:xfrm>
            <a:off x="5255776" y="2466181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4">
                    <a:lumMod val="75000"/>
                  </a:schemeClr>
                </a:solidFill>
              </a:rPr>
              <a:t>LangSmith</a:t>
            </a:r>
            <a:endParaRPr lang="ko-KR" altLang="en-US" sz="140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26" name="직사각형 225">
            <a:extLst>
              <a:ext uri="{FF2B5EF4-FFF2-40B4-BE49-F238E27FC236}">
                <a16:creationId xmlns:a16="http://schemas.microsoft.com/office/drawing/2014/main" id="{949754C4-3372-4307-A4B0-3F02F54DF173}"/>
              </a:ext>
            </a:extLst>
          </p:cNvPr>
          <p:cNvSpPr/>
          <p:nvPr/>
        </p:nvSpPr>
        <p:spPr>
          <a:xfrm>
            <a:off x="7352927" y="2466181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4">
                    <a:lumMod val="75000"/>
                  </a:schemeClr>
                </a:solidFill>
              </a:rPr>
              <a:t>ChatHistory</a:t>
            </a:r>
            <a:endParaRPr lang="ko-KR" altLang="en-US" sz="140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F4FE1736-CBC6-493F-B3CE-8E21C6CAC28F}"/>
              </a:ext>
            </a:extLst>
          </p:cNvPr>
          <p:cNvSpPr/>
          <p:nvPr/>
        </p:nvSpPr>
        <p:spPr>
          <a:xfrm>
            <a:off x="3750553" y="223480"/>
            <a:ext cx="1073243" cy="44912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chemeClr val="accent2">
                    <a:lumMod val="75000"/>
                  </a:schemeClr>
                </a:solidFill>
              </a:rPr>
              <a:t>Sprint3</a:t>
            </a:r>
            <a:endParaRPr lang="ko-KR" altLang="en-US" sz="16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5" name="직사각형 234">
            <a:extLst>
              <a:ext uri="{FF2B5EF4-FFF2-40B4-BE49-F238E27FC236}">
                <a16:creationId xmlns:a16="http://schemas.microsoft.com/office/drawing/2014/main" id="{EA379E65-0709-4F72-BF28-B3E2790F2AA9}"/>
              </a:ext>
            </a:extLst>
          </p:cNvPr>
          <p:cNvSpPr/>
          <p:nvPr/>
        </p:nvSpPr>
        <p:spPr>
          <a:xfrm>
            <a:off x="4983572" y="223480"/>
            <a:ext cx="1073243" cy="44912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chemeClr val="accent6">
                    <a:lumMod val="75000"/>
                  </a:schemeClr>
                </a:solidFill>
              </a:rPr>
              <a:t>Sprint4</a:t>
            </a:r>
            <a:endParaRPr lang="ko-KR" altLang="en-US" sz="16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BB085E9C-C930-4AF8-99E8-09DE74DAC735}"/>
              </a:ext>
            </a:extLst>
          </p:cNvPr>
          <p:cNvSpPr/>
          <p:nvPr/>
        </p:nvSpPr>
        <p:spPr>
          <a:xfrm>
            <a:off x="6216591" y="223480"/>
            <a:ext cx="1073243" cy="449129"/>
          </a:xfrm>
          <a:prstGeom prst="rect">
            <a:avLst/>
          </a:prstGeom>
          <a:solidFill>
            <a:schemeClr val="bg1"/>
          </a:solidFill>
          <a:ln w="28575">
            <a:solidFill>
              <a:srgbClr val="B189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rgbClr val="B189C3"/>
                </a:solidFill>
              </a:rPr>
              <a:t>Sprint5</a:t>
            </a:r>
            <a:endParaRPr lang="ko-KR" altLang="en-US" sz="1600" b="1">
              <a:solidFill>
                <a:srgbClr val="B189C3"/>
              </a:solidFill>
            </a:endParaRPr>
          </a:p>
        </p:txBody>
      </p: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2C26C884-DA80-4F7F-BE45-1DAA4F7B9103}"/>
              </a:ext>
            </a:extLst>
          </p:cNvPr>
          <p:cNvSpPr/>
          <p:nvPr/>
        </p:nvSpPr>
        <p:spPr>
          <a:xfrm>
            <a:off x="7449611" y="223480"/>
            <a:ext cx="1073243" cy="44912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chemeClr val="accent4">
                    <a:lumMod val="75000"/>
                  </a:schemeClr>
                </a:solidFill>
              </a:rPr>
              <a:t>Sprint6</a:t>
            </a:r>
            <a:endParaRPr lang="ko-KR" altLang="en-US" sz="16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C3DE5B09-2F81-4A9E-9B02-CC5EEE1A1D44}"/>
              </a:ext>
            </a:extLst>
          </p:cNvPr>
          <p:cNvSpPr/>
          <p:nvPr/>
        </p:nvSpPr>
        <p:spPr>
          <a:xfrm>
            <a:off x="2517534" y="223480"/>
            <a:ext cx="1073243" cy="44912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chemeClr val="accent1">
                    <a:lumMod val="75000"/>
                  </a:schemeClr>
                </a:solidFill>
              </a:rPr>
              <a:t>~Sprint2</a:t>
            </a:r>
            <a:endParaRPr lang="ko-KR" altLang="en-US" sz="1600" b="1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241" name="직선 연결선 240">
            <a:extLst>
              <a:ext uri="{FF2B5EF4-FFF2-40B4-BE49-F238E27FC236}">
                <a16:creationId xmlns:a16="http://schemas.microsoft.com/office/drawing/2014/main" id="{40528E2F-5A07-47DC-BAEE-742CD1C05E0E}"/>
              </a:ext>
            </a:extLst>
          </p:cNvPr>
          <p:cNvCxnSpPr>
            <a:cxnSpLocks/>
            <a:stCxn id="226" idx="1"/>
            <a:endCxn id="225" idx="3"/>
          </p:cNvCxnSpPr>
          <p:nvPr/>
        </p:nvCxnSpPr>
        <p:spPr>
          <a:xfrm flipH="1">
            <a:off x="6425703" y="2710976"/>
            <a:ext cx="927224" cy="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직선 연결선 243">
            <a:extLst>
              <a:ext uri="{FF2B5EF4-FFF2-40B4-BE49-F238E27FC236}">
                <a16:creationId xmlns:a16="http://schemas.microsoft.com/office/drawing/2014/main" id="{E926A3FD-EC8E-4616-A42C-622FC537127D}"/>
              </a:ext>
            </a:extLst>
          </p:cNvPr>
          <p:cNvCxnSpPr>
            <a:cxnSpLocks/>
          </p:cNvCxnSpPr>
          <p:nvPr/>
        </p:nvCxnSpPr>
        <p:spPr>
          <a:xfrm flipH="1">
            <a:off x="6425703" y="4193264"/>
            <a:ext cx="927224" cy="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직선 화살표 연결선 246">
            <a:extLst>
              <a:ext uri="{FF2B5EF4-FFF2-40B4-BE49-F238E27FC236}">
                <a16:creationId xmlns:a16="http://schemas.microsoft.com/office/drawing/2014/main" id="{C7D1D83B-8746-452A-B72C-C192D3003A1C}"/>
              </a:ext>
            </a:extLst>
          </p:cNvPr>
          <p:cNvCxnSpPr>
            <a:cxnSpLocks/>
          </p:cNvCxnSpPr>
          <p:nvPr/>
        </p:nvCxnSpPr>
        <p:spPr>
          <a:xfrm flipV="1">
            <a:off x="6926226" y="2710977"/>
            <a:ext cx="0" cy="1482287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8974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17655A0-DE48-4762-B9DB-18FC5B7B360F}"/>
              </a:ext>
            </a:extLst>
          </p:cNvPr>
          <p:cNvSpPr txBox="1"/>
          <p:nvPr/>
        </p:nvSpPr>
        <p:spPr>
          <a:xfrm>
            <a:off x="218236" y="169847"/>
            <a:ext cx="2155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1. 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연간계획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8A5BFB7-E1BE-4CC5-A87B-1771B577F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508" y="0"/>
            <a:ext cx="9187751" cy="685800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2E1A4487-7D70-4657-ABB5-26DACCAC25D4}"/>
              </a:ext>
            </a:extLst>
          </p:cNvPr>
          <p:cNvSpPr/>
          <p:nvPr/>
        </p:nvSpPr>
        <p:spPr>
          <a:xfrm>
            <a:off x="3750553" y="223480"/>
            <a:ext cx="1073243" cy="44912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chemeClr val="accent2">
                    <a:lumMod val="75000"/>
                  </a:schemeClr>
                </a:solidFill>
              </a:rPr>
              <a:t>Sprint3</a:t>
            </a:r>
            <a:endParaRPr lang="ko-KR" altLang="en-US" sz="16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3C64FCC-4151-4CB8-BD28-F62859F620D1}"/>
              </a:ext>
            </a:extLst>
          </p:cNvPr>
          <p:cNvSpPr/>
          <p:nvPr/>
        </p:nvSpPr>
        <p:spPr>
          <a:xfrm>
            <a:off x="4983572" y="223480"/>
            <a:ext cx="1073243" cy="44912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chemeClr val="accent6">
                    <a:lumMod val="75000"/>
                  </a:schemeClr>
                </a:solidFill>
              </a:rPr>
              <a:t>Sprint4</a:t>
            </a:r>
            <a:endParaRPr lang="ko-KR" altLang="en-US" sz="16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AABC7B-B6C9-4671-88CB-2B284D9D36F8}"/>
              </a:ext>
            </a:extLst>
          </p:cNvPr>
          <p:cNvSpPr/>
          <p:nvPr/>
        </p:nvSpPr>
        <p:spPr>
          <a:xfrm>
            <a:off x="6216591" y="223480"/>
            <a:ext cx="1073243" cy="449129"/>
          </a:xfrm>
          <a:prstGeom prst="rect">
            <a:avLst/>
          </a:prstGeom>
          <a:solidFill>
            <a:schemeClr val="bg1"/>
          </a:solidFill>
          <a:ln w="28575">
            <a:solidFill>
              <a:srgbClr val="B189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rgbClr val="B189C3"/>
                </a:solidFill>
              </a:rPr>
              <a:t>Sprint5</a:t>
            </a:r>
            <a:endParaRPr lang="ko-KR" altLang="en-US" sz="1600" b="1">
              <a:solidFill>
                <a:srgbClr val="B189C3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BD36A0B-A6BF-47B0-8465-1C61B98E1CFA}"/>
              </a:ext>
            </a:extLst>
          </p:cNvPr>
          <p:cNvSpPr/>
          <p:nvPr/>
        </p:nvSpPr>
        <p:spPr>
          <a:xfrm>
            <a:off x="7449611" y="223480"/>
            <a:ext cx="1073243" cy="44912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chemeClr val="accent4">
                    <a:lumMod val="75000"/>
                  </a:schemeClr>
                </a:solidFill>
              </a:rPr>
              <a:t>Sprint6</a:t>
            </a:r>
            <a:endParaRPr lang="ko-KR" altLang="en-US" sz="16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E53047E-94AA-496F-A48B-E74E1B78A9FB}"/>
              </a:ext>
            </a:extLst>
          </p:cNvPr>
          <p:cNvSpPr/>
          <p:nvPr/>
        </p:nvSpPr>
        <p:spPr>
          <a:xfrm>
            <a:off x="2517534" y="223480"/>
            <a:ext cx="1073243" cy="44912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chemeClr val="accent1">
                    <a:lumMod val="75000"/>
                  </a:schemeClr>
                </a:solidFill>
              </a:rPr>
              <a:t>~Sprint2</a:t>
            </a:r>
            <a:endParaRPr lang="ko-KR" altLang="en-US" sz="1600" b="1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61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07302E1-1FE1-446A-9B93-0F8CFFBBD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8074" y="437698"/>
            <a:ext cx="5946780" cy="414996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2546F9A-52D0-4956-A246-64990607F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578" y="4053553"/>
            <a:ext cx="5059509" cy="2433251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5088F3D-38DB-4558-845D-E3E7F6F1AA47}"/>
              </a:ext>
            </a:extLst>
          </p:cNvPr>
          <p:cNvSpPr/>
          <p:nvPr/>
        </p:nvSpPr>
        <p:spPr>
          <a:xfrm>
            <a:off x="9069505" y="2443942"/>
            <a:ext cx="2540733" cy="12293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29D0CB9B-B6EB-466A-9179-00649B2521A6}"/>
              </a:ext>
            </a:extLst>
          </p:cNvPr>
          <p:cNvCxnSpPr>
            <a:cxnSpLocks/>
            <a:stCxn id="7" idx="2"/>
            <a:endCxn id="6" idx="3"/>
          </p:cNvCxnSpPr>
          <p:nvPr/>
        </p:nvCxnSpPr>
        <p:spPr>
          <a:xfrm rot="5400000">
            <a:off x="7999024" y="2929331"/>
            <a:ext cx="1596912" cy="3084785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05DFF11-3634-48FE-941B-F67B2E4A77C6}"/>
              </a:ext>
            </a:extLst>
          </p:cNvPr>
          <p:cNvSpPr/>
          <p:nvPr/>
        </p:nvSpPr>
        <p:spPr>
          <a:xfrm>
            <a:off x="9069504" y="1230284"/>
            <a:ext cx="2540733" cy="11081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8DCB2A1-22BB-41D8-9075-52A5CC6381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5578" y="994380"/>
            <a:ext cx="5059509" cy="3015409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D789B8DF-BA96-4002-8403-8FADA5F05CC1}"/>
              </a:ext>
            </a:extLst>
          </p:cNvPr>
          <p:cNvCxnSpPr>
            <a:cxnSpLocks/>
            <a:stCxn id="17" idx="1"/>
            <a:endCxn id="15" idx="3"/>
          </p:cNvCxnSpPr>
          <p:nvPr/>
        </p:nvCxnSpPr>
        <p:spPr>
          <a:xfrm rot="10800000" flipV="1">
            <a:off x="7255088" y="1784359"/>
            <a:ext cx="1814417" cy="717726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891D439-7163-4F1B-959F-2FB55CD43972}"/>
              </a:ext>
            </a:extLst>
          </p:cNvPr>
          <p:cNvSpPr txBox="1"/>
          <p:nvPr/>
        </p:nvSpPr>
        <p:spPr>
          <a:xfrm>
            <a:off x="218236" y="169847"/>
            <a:ext cx="587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1. Data Dashboard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기능 구현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6046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102BF9DD-7089-456F-844D-22CAA15EA308}"/>
              </a:ext>
            </a:extLst>
          </p:cNvPr>
          <p:cNvSpPr/>
          <p:nvPr/>
        </p:nvSpPr>
        <p:spPr>
          <a:xfrm>
            <a:off x="6684797" y="3491269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accent2">
                    <a:lumMod val="75000"/>
                  </a:schemeClr>
                </a:solidFill>
              </a:rPr>
              <a:t>답변생성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9DB0668-639B-4495-8580-3A759011DE67}"/>
              </a:ext>
            </a:extLst>
          </p:cNvPr>
          <p:cNvSpPr/>
          <p:nvPr/>
        </p:nvSpPr>
        <p:spPr>
          <a:xfrm>
            <a:off x="8537026" y="709882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accent1">
                    <a:lumMod val="75000"/>
                  </a:schemeClr>
                </a:solidFill>
              </a:rPr>
              <a:t>사용자 질문</a:t>
            </a:r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ko-KR" altLang="en-US" sz="1400">
                <a:solidFill>
                  <a:schemeClr val="accent1">
                    <a:lumMod val="75000"/>
                  </a:schemeClr>
                </a:solidFill>
              </a:rPr>
              <a:t>교리교범</a:t>
            </a:r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ko-KR" alt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C8ABBBB-2FF6-4E10-A34F-390FD02FBB83}"/>
              </a:ext>
            </a:extLst>
          </p:cNvPr>
          <p:cNvSpPr/>
          <p:nvPr/>
        </p:nvSpPr>
        <p:spPr>
          <a:xfrm>
            <a:off x="8537176" y="1671115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Vector</a:t>
            </a:r>
            <a:r>
              <a:rPr lang="ko-KR" altLang="en-US" sz="140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DB</a:t>
            </a:r>
            <a:endParaRPr lang="ko-KR" alt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B17441E-1691-444A-A277-B9E19E0EB2A8}"/>
              </a:ext>
            </a:extLst>
          </p:cNvPr>
          <p:cNvSpPr/>
          <p:nvPr/>
        </p:nvSpPr>
        <p:spPr>
          <a:xfrm>
            <a:off x="8537026" y="2632348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  LLM</a:t>
            </a: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EDDF5474-4FFC-42BA-A031-F82A3845255E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>
            <a:off x="9121990" y="1199471"/>
            <a:ext cx="150" cy="4716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CB32F2D7-3371-4A5E-8733-8A338D0A2ABB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 flipH="1">
            <a:off x="9121990" y="2160704"/>
            <a:ext cx="150" cy="4716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951CC3D6-FAB0-4C65-A6A9-22D35EB25964}"/>
              </a:ext>
            </a:extLst>
          </p:cNvPr>
          <p:cNvCxnSpPr>
            <a:cxnSpLocks/>
            <a:stCxn id="23" idx="2"/>
            <a:endCxn id="20" idx="3"/>
          </p:cNvCxnSpPr>
          <p:nvPr/>
        </p:nvCxnSpPr>
        <p:spPr>
          <a:xfrm rot="5400000">
            <a:off x="8181294" y="2795367"/>
            <a:ext cx="614127" cy="1267266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C8F3416-F6AF-4987-B339-54741523C7BF}"/>
              </a:ext>
            </a:extLst>
          </p:cNvPr>
          <p:cNvSpPr/>
          <p:nvPr/>
        </p:nvSpPr>
        <p:spPr>
          <a:xfrm>
            <a:off x="4495193" y="709882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accent2">
                    <a:lumMod val="75000"/>
                  </a:schemeClr>
                </a:solidFill>
              </a:rPr>
              <a:t>사용자 질문</a:t>
            </a:r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ko-KR" altLang="en-US" sz="1400">
                <a:solidFill>
                  <a:schemeClr val="accent2">
                    <a:lumMod val="75000"/>
                  </a:schemeClr>
                </a:solidFill>
              </a:rPr>
              <a:t>시나리오</a:t>
            </a:r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0E4D3B4-AF75-4039-9FDA-DEB7AC3D150A}"/>
              </a:ext>
            </a:extLst>
          </p:cNvPr>
          <p:cNvSpPr/>
          <p:nvPr/>
        </p:nvSpPr>
        <p:spPr>
          <a:xfrm>
            <a:off x="4495193" y="2252934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LLM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0D17BC55-040A-46E4-AE1A-A1C28D6BE36E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>
            <a:off x="5080157" y="1199471"/>
            <a:ext cx="0" cy="1053463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6C1B3E58-0110-4987-B15B-691C824ACAB3}"/>
              </a:ext>
            </a:extLst>
          </p:cNvPr>
          <p:cNvCxnSpPr>
            <a:cxnSpLocks/>
            <a:stCxn id="28" idx="3"/>
            <a:endCxn id="20" idx="0"/>
          </p:cNvCxnSpPr>
          <p:nvPr/>
        </p:nvCxnSpPr>
        <p:spPr>
          <a:xfrm>
            <a:off x="5665120" y="2497729"/>
            <a:ext cx="1604641" cy="993540"/>
          </a:xfrm>
          <a:prstGeom prst="bentConnector2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819FE5C-D732-46BB-8A04-45C847CCC21B}"/>
              </a:ext>
            </a:extLst>
          </p:cNvPr>
          <p:cNvSpPr txBox="1"/>
          <p:nvPr/>
        </p:nvSpPr>
        <p:spPr>
          <a:xfrm>
            <a:off x="5990216" y="2542813"/>
            <a:ext cx="12308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기존 </a:t>
            </a:r>
            <a:r>
              <a:rPr lang="en-US" altLang="ko-KR" sz="1400"/>
              <a:t>report </a:t>
            </a:r>
            <a:r>
              <a:rPr lang="ko-KR" altLang="en-US" sz="1400"/>
              <a:t>형식대로</a:t>
            </a:r>
            <a:br>
              <a:rPr lang="en-US" altLang="ko-KR" sz="1400"/>
            </a:br>
            <a:r>
              <a:rPr lang="ko-KR" altLang="en-US" sz="1400"/>
              <a:t>답변생성</a:t>
            </a:r>
            <a:endParaRPr lang="en-US" altLang="ko-KR" sz="14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E6FF0EE-53E9-4DDE-B079-6148A48E4B89}"/>
              </a:ext>
            </a:extLst>
          </p:cNvPr>
          <p:cNvSpPr/>
          <p:nvPr/>
        </p:nvSpPr>
        <p:spPr>
          <a:xfrm>
            <a:off x="2457892" y="2252933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DB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ABA80095-0AD4-44C4-ACC7-0B802D0F7141}"/>
              </a:ext>
            </a:extLst>
          </p:cNvPr>
          <p:cNvCxnSpPr>
            <a:cxnSpLocks/>
          </p:cNvCxnSpPr>
          <p:nvPr/>
        </p:nvCxnSpPr>
        <p:spPr>
          <a:xfrm>
            <a:off x="3627819" y="2632347"/>
            <a:ext cx="867374" cy="1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705C1F7-683E-4C53-B24A-CD29E18952C7}"/>
              </a:ext>
            </a:extLst>
          </p:cNvPr>
          <p:cNvCxnSpPr>
            <a:cxnSpLocks/>
            <a:stCxn id="20" idx="2"/>
            <a:endCxn id="38" idx="0"/>
          </p:cNvCxnSpPr>
          <p:nvPr/>
        </p:nvCxnSpPr>
        <p:spPr>
          <a:xfrm>
            <a:off x="7269761" y="3980858"/>
            <a:ext cx="0" cy="978289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4896600-D674-447A-816B-079BF647D293}"/>
              </a:ext>
            </a:extLst>
          </p:cNvPr>
          <p:cNvSpPr/>
          <p:nvPr/>
        </p:nvSpPr>
        <p:spPr>
          <a:xfrm>
            <a:off x="6684797" y="4959147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Dashboard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6A1059B3-13F3-4998-8750-C902B3C51639}"/>
              </a:ext>
            </a:extLst>
          </p:cNvPr>
          <p:cNvCxnSpPr>
            <a:cxnSpLocks/>
            <a:stCxn id="33" idx="2"/>
            <a:endCxn id="38" idx="1"/>
          </p:cNvCxnSpPr>
          <p:nvPr/>
        </p:nvCxnSpPr>
        <p:spPr>
          <a:xfrm rot="16200000" flipH="1">
            <a:off x="3633116" y="2152261"/>
            <a:ext cx="2461420" cy="3641941"/>
          </a:xfrm>
          <a:prstGeom prst="bentConnector2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18D42B80-FC82-4B51-B1A5-05F2669BE396}"/>
              </a:ext>
            </a:extLst>
          </p:cNvPr>
          <p:cNvCxnSpPr>
            <a:cxnSpLocks/>
          </p:cNvCxnSpPr>
          <p:nvPr/>
        </p:nvCxnSpPr>
        <p:spPr>
          <a:xfrm flipH="1">
            <a:off x="3627819" y="2407390"/>
            <a:ext cx="867374" cy="1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2381D4A4-1C97-453F-AD03-E2DCCC63F965}"/>
              </a:ext>
            </a:extLst>
          </p:cNvPr>
          <p:cNvSpPr txBox="1"/>
          <p:nvPr/>
        </p:nvSpPr>
        <p:spPr>
          <a:xfrm>
            <a:off x="3911480" y="4541509"/>
            <a:ext cx="107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날씨정보</a:t>
            </a:r>
            <a:r>
              <a:rPr lang="en-US" altLang="ko-KR" sz="1400"/>
              <a:t>,</a:t>
            </a:r>
            <a:r>
              <a:rPr lang="ko-KR" altLang="en-US" sz="1400"/>
              <a:t> 기상정보</a:t>
            </a:r>
            <a:endParaRPr lang="en-US" altLang="ko-KR" sz="14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2AD0C5E-66B8-4825-839E-17993C3A160C}"/>
              </a:ext>
            </a:extLst>
          </p:cNvPr>
          <p:cNvSpPr txBox="1"/>
          <p:nvPr/>
        </p:nvSpPr>
        <p:spPr>
          <a:xfrm>
            <a:off x="3302602" y="1602724"/>
            <a:ext cx="1610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시나리오에 관련된 </a:t>
            </a:r>
            <a:r>
              <a:rPr lang="en-US" altLang="ko-KR" sz="1400"/>
              <a:t>DB</a:t>
            </a:r>
            <a:r>
              <a:rPr lang="ko-KR" altLang="en-US" sz="1400"/>
              <a:t>정보 요청</a:t>
            </a:r>
            <a:endParaRPr lang="en-US" altLang="ko-KR" sz="14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FF8D79-271F-42FD-BA0F-DCC5351A54F4}"/>
              </a:ext>
            </a:extLst>
          </p:cNvPr>
          <p:cNvSpPr txBox="1"/>
          <p:nvPr/>
        </p:nvSpPr>
        <p:spPr>
          <a:xfrm>
            <a:off x="7954615" y="4491348"/>
            <a:ext cx="28318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날씨 정보</a:t>
            </a:r>
            <a:endParaRPr lang="en-US" altLang="ko-KR" sz="1400"/>
          </a:p>
          <a:p>
            <a:pPr marL="285750" indent="-285750">
              <a:buFontTx/>
              <a:buChar char="-"/>
            </a:pPr>
            <a:r>
              <a:rPr lang="ko-KR" altLang="en-US" sz="1400"/>
              <a:t>온도와 습도 등을 한눈에 알아볼 수 있는</a:t>
            </a:r>
            <a:r>
              <a:rPr lang="en-US" altLang="ko-KR" sz="1400"/>
              <a:t> template</a:t>
            </a:r>
            <a:r>
              <a:rPr lang="ko-KR" altLang="en-US" sz="1400"/>
              <a:t>구성</a:t>
            </a:r>
            <a:endParaRPr lang="en-US" altLang="ko-KR" sz="1400"/>
          </a:p>
          <a:p>
            <a:pPr marL="285750" indent="-285750">
              <a:buFontTx/>
              <a:buChar char="-"/>
            </a:pPr>
            <a:r>
              <a:rPr lang="ko-KR" altLang="en-US" sz="1400"/>
              <a:t>풍향</a:t>
            </a:r>
            <a:r>
              <a:rPr lang="en-US" altLang="ko-KR" sz="1400"/>
              <a:t>, </a:t>
            </a:r>
            <a:r>
              <a:rPr lang="ko-KR" altLang="en-US" sz="1400"/>
              <a:t>풍속을 쉽게 알 수 있는 </a:t>
            </a:r>
            <a:r>
              <a:rPr lang="en-US" altLang="ko-KR" sz="1400"/>
              <a:t>template</a:t>
            </a:r>
          </a:p>
          <a:p>
            <a:r>
              <a:rPr lang="ko-KR" altLang="en-US" sz="1400"/>
              <a:t>지형 정보</a:t>
            </a:r>
            <a:endParaRPr lang="en-US" altLang="ko-KR" sz="1400"/>
          </a:p>
          <a:p>
            <a:pPr marL="285750" indent="-285750">
              <a:buFontTx/>
              <a:buChar char="-"/>
            </a:pPr>
            <a:r>
              <a:rPr lang="ko-KR" altLang="en-US" sz="1400"/>
              <a:t>지형에 관한 정보를 한눈에 볼 수 있는 </a:t>
            </a:r>
            <a:r>
              <a:rPr lang="en-US" altLang="ko-KR" sz="1400"/>
              <a:t>template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5152CBF-B90B-4D67-ADE8-EE4D6B3601EC}"/>
              </a:ext>
            </a:extLst>
          </p:cNvPr>
          <p:cNvSpPr txBox="1"/>
          <p:nvPr/>
        </p:nvSpPr>
        <p:spPr>
          <a:xfrm>
            <a:off x="218236" y="169847"/>
            <a:ext cx="587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1. Data Dashboard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기능 구현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20E2632-9D1D-4102-9040-FEAA5D5FC112}"/>
              </a:ext>
            </a:extLst>
          </p:cNvPr>
          <p:cNvSpPr txBox="1"/>
          <p:nvPr/>
        </p:nvSpPr>
        <p:spPr>
          <a:xfrm>
            <a:off x="3372257" y="2852695"/>
            <a:ext cx="1610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시나리오에 관련된 </a:t>
            </a:r>
            <a:r>
              <a:rPr lang="en-US" altLang="ko-KR" sz="1400"/>
              <a:t>DB</a:t>
            </a:r>
            <a:r>
              <a:rPr lang="ko-KR" altLang="en-US" sz="1400"/>
              <a:t>정보 반환</a:t>
            </a:r>
            <a:endParaRPr lang="en-US" altLang="ko-KR" sz="1400"/>
          </a:p>
        </p:txBody>
      </p:sp>
    </p:spTree>
    <p:extLst>
      <p:ext uri="{BB962C8B-B14F-4D97-AF65-F5344CB8AC3E}">
        <p14:creationId xmlns:p14="http://schemas.microsoft.com/office/powerpoint/2010/main" val="812218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8D8F5C6-C3B9-4068-A2C1-CB8D53CCB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042" y="767482"/>
            <a:ext cx="7075477" cy="592067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7819FE5C-D732-46BB-8A04-45C847CCC21B}"/>
              </a:ext>
            </a:extLst>
          </p:cNvPr>
          <p:cNvSpPr txBox="1"/>
          <p:nvPr/>
        </p:nvSpPr>
        <p:spPr>
          <a:xfrm>
            <a:off x="6333116" y="3071705"/>
            <a:ext cx="12308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기존 </a:t>
            </a:r>
            <a:r>
              <a:rPr lang="en-US" altLang="ko-KR" sz="1400"/>
              <a:t>report </a:t>
            </a:r>
            <a:r>
              <a:rPr lang="ko-KR" altLang="en-US" sz="1400"/>
              <a:t>형식대로</a:t>
            </a:r>
            <a:br>
              <a:rPr lang="en-US" altLang="ko-KR" sz="1400"/>
            </a:br>
            <a:r>
              <a:rPr lang="ko-KR" altLang="en-US" sz="1400"/>
              <a:t>답변생성</a:t>
            </a:r>
            <a:endParaRPr lang="en-US" altLang="ko-KR" sz="14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81D4A4-1C97-453F-AD03-E2DCCC63F965}"/>
              </a:ext>
            </a:extLst>
          </p:cNvPr>
          <p:cNvSpPr txBox="1"/>
          <p:nvPr/>
        </p:nvSpPr>
        <p:spPr>
          <a:xfrm>
            <a:off x="2833164" y="5491078"/>
            <a:ext cx="107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날씨정보</a:t>
            </a:r>
            <a:r>
              <a:rPr lang="en-US" altLang="ko-KR" sz="1400"/>
              <a:t>,</a:t>
            </a:r>
            <a:r>
              <a:rPr lang="ko-KR" altLang="en-US" sz="1400"/>
              <a:t> 기상정보</a:t>
            </a:r>
            <a:endParaRPr lang="en-US" altLang="ko-KR" sz="14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2AD0C5E-66B8-4825-839E-17993C3A160C}"/>
              </a:ext>
            </a:extLst>
          </p:cNvPr>
          <p:cNvSpPr txBox="1"/>
          <p:nvPr/>
        </p:nvSpPr>
        <p:spPr>
          <a:xfrm>
            <a:off x="3106445" y="2268962"/>
            <a:ext cx="1610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시나리오에 관련된 </a:t>
            </a:r>
            <a:r>
              <a:rPr lang="en-US" altLang="ko-KR" sz="1400"/>
              <a:t>DB</a:t>
            </a:r>
            <a:r>
              <a:rPr lang="ko-KR" altLang="en-US" sz="1400"/>
              <a:t>정보 요청</a:t>
            </a:r>
            <a:endParaRPr lang="en-US" altLang="ko-KR" sz="14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FF8D79-271F-42FD-BA0F-DCC5351A54F4}"/>
              </a:ext>
            </a:extLst>
          </p:cNvPr>
          <p:cNvSpPr txBox="1"/>
          <p:nvPr/>
        </p:nvSpPr>
        <p:spPr>
          <a:xfrm>
            <a:off x="8016161" y="5042118"/>
            <a:ext cx="28318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날씨 정보</a:t>
            </a:r>
            <a:endParaRPr lang="en-US" altLang="ko-KR" sz="1400"/>
          </a:p>
          <a:p>
            <a:pPr marL="285750" indent="-285750">
              <a:buFontTx/>
              <a:buChar char="-"/>
            </a:pPr>
            <a:r>
              <a:rPr lang="ko-KR" altLang="en-US" sz="1400"/>
              <a:t>온도와 습도 등을 한눈에 알아볼 수 있는</a:t>
            </a:r>
            <a:r>
              <a:rPr lang="en-US" altLang="ko-KR" sz="1400"/>
              <a:t> template</a:t>
            </a:r>
            <a:r>
              <a:rPr lang="ko-KR" altLang="en-US" sz="1400"/>
              <a:t>구성</a:t>
            </a:r>
            <a:endParaRPr lang="en-US" altLang="ko-KR" sz="1400"/>
          </a:p>
          <a:p>
            <a:pPr marL="285750" indent="-285750">
              <a:buFontTx/>
              <a:buChar char="-"/>
            </a:pPr>
            <a:r>
              <a:rPr lang="ko-KR" altLang="en-US" sz="1400"/>
              <a:t>풍향</a:t>
            </a:r>
            <a:r>
              <a:rPr lang="en-US" altLang="ko-KR" sz="1400"/>
              <a:t>, </a:t>
            </a:r>
            <a:r>
              <a:rPr lang="ko-KR" altLang="en-US" sz="1400"/>
              <a:t>풍속을 쉽게 알 수 있는 </a:t>
            </a:r>
            <a:r>
              <a:rPr lang="en-US" altLang="ko-KR" sz="1400"/>
              <a:t>template</a:t>
            </a:r>
          </a:p>
          <a:p>
            <a:r>
              <a:rPr lang="ko-KR" altLang="en-US" sz="1400"/>
              <a:t>지형 정보</a:t>
            </a:r>
            <a:endParaRPr lang="en-US" altLang="ko-KR" sz="1400"/>
          </a:p>
          <a:p>
            <a:pPr marL="285750" indent="-285750">
              <a:buFontTx/>
              <a:buChar char="-"/>
            </a:pPr>
            <a:r>
              <a:rPr lang="ko-KR" altLang="en-US" sz="1400"/>
              <a:t>지형에 관한 정보를 한눈에 볼 수 있는 </a:t>
            </a:r>
            <a:r>
              <a:rPr lang="en-US" altLang="ko-KR" sz="1400"/>
              <a:t>template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5152CBF-B90B-4D67-ADE8-EE4D6B3601EC}"/>
              </a:ext>
            </a:extLst>
          </p:cNvPr>
          <p:cNvSpPr txBox="1"/>
          <p:nvPr/>
        </p:nvSpPr>
        <p:spPr>
          <a:xfrm>
            <a:off x="218236" y="169847"/>
            <a:ext cx="587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1. Data Dashboard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기능 구현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20E2632-9D1D-4102-9040-FEAA5D5FC112}"/>
              </a:ext>
            </a:extLst>
          </p:cNvPr>
          <p:cNvSpPr txBox="1"/>
          <p:nvPr/>
        </p:nvSpPr>
        <p:spPr>
          <a:xfrm>
            <a:off x="3157118" y="3179427"/>
            <a:ext cx="1610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시나리오에 관련된 </a:t>
            </a:r>
            <a:r>
              <a:rPr lang="en-US" altLang="ko-KR" sz="1400"/>
              <a:t>DB</a:t>
            </a:r>
            <a:r>
              <a:rPr lang="ko-KR" altLang="en-US" sz="1400"/>
              <a:t>정보 반환</a:t>
            </a:r>
            <a:endParaRPr lang="en-US" altLang="ko-KR" sz="1400"/>
          </a:p>
        </p:txBody>
      </p:sp>
    </p:spTree>
    <p:extLst>
      <p:ext uri="{BB962C8B-B14F-4D97-AF65-F5344CB8AC3E}">
        <p14:creationId xmlns:p14="http://schemas.microsoft.com/office/powerpoint/2010/main" val="234002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BDFDFA62-3190-4F3E-9BEC-741D738CF652}"/>
              </a:ext>
            </a:extLst>
          </p:cNvPr>
          <p:cNvGrpSpPr/>
          <p:nvPr/>
        </p:nvGrpSpPr>
        <p:grpSpPr>
          <a:xfrm>
            <a:off x="937998" y="1624272"/>
            <a:ext cx="4754318" cy="3286334"/>
            <a:chOff x="871782" y="717493"/>
            <a:chExt cx="3589708" cy="2481319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4166ECC-E036-48C5-A50A-8985E68F68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1782" y="717493"/>
              <a:ext cx="3589708" cy="2481319"/>
            </a:xfrm>
            <a:prstGeom prst="rect">
              <a:avLst/>
            </a:prstGeom>
          </p:spPr>
        </p:pic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834F56A3-5140-4F8D-9AE5-916225FACF5F}"/>
                </a:ext>
              </a:extLst>
            </p:cNvPr>
            <p:cNvCxnSpPr>
              <a:stCxn id="17" idx="2"/>
            </p:cNvCxnSpPr>
            <p:nvPr/>
          </p:nvCxnSpPr>
          <p:spPr>
            <a:xfrm flipH="1" flipV="1">
              <a:off x="2012950" y="2416175"/>
              <a:ext cx="104775" cy="4763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6B912F55-C108-4350-BFB7-074A8480BE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51037" y="2381250"/>
              <a:ext cx="64294" cy="34926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7ABD5DCF-5D27-4A40-BEF2-ED59B6D97F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98253" y="2308225"/>
              <a:ext cx="52388" cy="73025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D3C2DA1B-E96E-4900-87B9-36A3D63733A5}"/>
                </a:ext>
              </a:extLst>
            </p:cNvPr>
            <p:cNvGrpSpPr/>
            <p:nvPr/>
          </p:nvGrpSpPr>
          <p:grpSpPr>
            <a:xfrm rot="21079601">
              <a:off x="2825462" y="2395537"/>
              <a:ext cx="149225" cy="149225"/>
              <a:chOff x="3824287" y="2478087"/>
              <a:chExt cx="149225" cy="149225"/>
            </a:xfrm>
          </p:grpSpPr>
          <p:sp>
            <p:nvSpPr>
              <p:cNvPr id="25" name="화살표: 갈매기형 수장 24">
                <a:extLst>
                  <a:ext uri="{FF2B5EF4-FFF2-40B4-BE49-F238E27FC236}">
                    <a16:creationId xmlns:a16="http://schemas.microsoft.com/office/drawing/2014/main" id="{B5C4932E-F609-4F0E-BA9E-5CBFEACE361B}"/>
                  </a:ext>
                </a:extLst>
              </p:cNvPr>
              <p:cNvSpPr/>
              <p:nvPr/>
            </p:nvSpPr>
            <p:spPr>
              <a:xfrm rot="18900000">
                <a:off x="3868446" y="2503568"/>
                <a:ext cx="88900" cy="82550"/>
              </a:xfrm>
              <a:prstGeom prst="chevron">
                <a:avLst>
                  <a:gd name="adj" fmla="val 64279"/>
                </a:avLst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024D005C-6D47-4B77-BB92-5FD28D7BFF47}"/>
                  </a:ext>
                </a:extLst>
              </p:cNvPr>
              <p:cNvSpPr/>
              <p:nvPr/>
            </p:nvSpPr>
            <p:spPr>
              <a:xfrm>
                <a:off x="3824287" y="2478087"/>
                <a:ext cx="149225" cy="149225"/>
              </a:xfrm>
              <a:prstGeom prst="ellipse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B05AD43A-A047-41E6-B3D4-7B350F3F031A}"/>
                </a:ext>
              </a:extLst>
            </p:cNvPr>
            <p:cNvCxnSpPr>
              <a:cxnSpLocks/>
              <a:stCxn id="26" idx="3"/>
            </p:cNvCxnSpPr>
            <p:nvPr/>
          </p:nvCxnSpPr>
          <p:spPr>
            <a:xfrm flipH="1">
              <a:off x="2810539" y="2530262"/>
              <a:ext cx="45336" cy="69142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1D34E514-6AC1-426A-BD42-49DF312866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10539" y="2599404"/>
              <a:ext cx="14924" cy="67323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2EFF0C65-A6BC-4568-81AE-9446D79E66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5064" y="2661594"/>
              <a:ext cx="0" cy="111000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57BED47C-86B9-4E6C-A24C-80C536EA7E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73974" y="2769853"/>
              <a:ext cx="53682" cy="76422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4E0368F8-7C2E-4E6D-9ECB-F630CF71479F}"/>
                </a:ext>
              </a:extLst>
            </p:cNvPr>
            <p:cNvGrpSpPr/>
            <p:nvPr/>
          </p:nvGrpSpPr>
          <p:grpSpPr>
            <a:xfrm>
              <a:off x="2117725" y="2346325"/>
              <a:ext cx="149225" cy="149225"/>
              <a:chOff x="3692525" y="2625725"/>
              <a:chExt cx="149225" cy="149225"/>
            </a:xfrm>
          </p:grpSpPr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90B11010-BB3B-403F-8E5E-C56445554A50}"/>
                  </a:ext>
                </a:extLst>
              </p:cNvPr>
              <p:cNvSpPr/>
              <p:nvPr/>
            </p:nvSpPr>
            <p:spPr>
              <a:xfrm>
                <a:off x="3692525" y="2625725"/>
                <a:ext cx="149225" cy="14922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1" name="화살표: 갈매기형 수장 80">
                <a:extLst>
                  <a:ext uri="{FF2B5EF4-FFF2-40B4-BE49-F238E27FC236}">
                    <a16:creationId xmlns:a16="http://schemas.microsoft.com/office/drawing/2014/main" id="{F6B79611-D871-4125-84CD-D690F6ED1CF6}"/>
                  </a:ext>
                </a:extLst>
              </p:cNvPr>
              <p:cNvSpPr/>
              <p:nvPr/>
            </p:nvSpPr>
            <p:spPr>
              <a:xfrm>
                <a:off x="3736037" y="2660650"/>
                <a:ext cx="88900" cy="82550"/>
              </a:xfrm>
              <a:prstGeom prst="chevron">
                <a:avLst>
                  <a:gd name="adj" fmla="val 64279"/>
                </a:avLst>
              </a:prstGeom>
              <a:noFill/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5C28B5AC-38EB-43AE-A30F-46ACA2092806}"/>
                </a:ext>
              </a:extLst>
            </p:cNvPr>
            <p:cNvGrpSpPr/>
            <p:nvPr/>
          </p:nvGrpSpPr>
          <p:grpSpPr>
            <a:xfrm rot="16834836">
              <a:off x="3564949" y="1637893"/>
              <a:ext cx="149225" cy="149225"/>
              <a:chOff x="3692525" y="2625725"/>
              <a:chExt cx="149225" cy="149225"/>
            </a:xfrm>
          </p:grpSpPr>
          <p:sp>
            <p:nvSpPr>
              <p:cNvPr id="84" name="타원 83">
                <a:extLst>
                  <a:ext uri="{FF2B5EF4-FFF2-40B4-BE49-F238E27FC236}">
                    <a16:creationId xmlns:a16="http://schemas.microsoft.com/office/drawing/2014/main" id="{EAB6A95D-3E44-4915-8D2E-18205AD59A37}"/>
                  </a:ext>
                </a:extLst>
              </p:cNvPr>
              <p:cNvSpPr/>
              <p:nvPr/>
            </p:nvSpPr>
            <p:spPr>
              <a:xfrm>
                <a:off x="3692525" y="2625725"/>
                <a:ext cx="149225" cy="149225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5" name="화살표: 갈매기형 수장 84">
                <a:extLst>
                  <a:ext uri="{FF2B5EF4-FFF2-40B4-BE49-F238E27FC236}">
                    <a16:creationId xmlns:a16="http://schemas.microsoft.com/office/drawing/2014/main" id="{C33CF74C-F7A3-4973-B644-D5D815E53514}"/>
                  </a:ext>
                </a:extLst>
              </p:cNvPr>
              <p:cNvSpPr/>
              <p:nvPr/>
            </p:nvSpPr>
            <p:spPr>
              <a:xfrm>
                <a:off x="3736037" y="2660650"/>
                <a:ext cx="88900" cy="82550"/>
              </a:xfrm>
              <a:prstGeom prst="chevron">
                <a:avLst>
                  <a:gd name="adj" fmla="val 64279"/>
                </a:avLst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D675D78D-942D-4DAB-AEC1-49E993C411D9}"/>
                </a:ext>
              </a:extLst>
            </p:cNvPr>
            <p:cNvCxnSpPr>
              <a:cxnSpLocks/>
              <a:stCxn id="84" idx="2"/>
            </p:cNvCxnSpPr>
            <p:nvPr/>
          </p:nvCxnSpPr>
          <p:spPr>
            <a:xfrm flipH="1">
              <a:off x="3599875" y="1785849"/>
              <a:ext cx="25987" cy="105224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95BF3BAF-2B7A-4466-8819-DEF7F9064D52}"/>
                </a:ext>
              </a:extLst>
            </p:cNvPr>
            <p:cNvCxnSpPr>
              <a:cxnSpLocks/>
            </p:cNvCxnSpPr>
            <p:nvPr/>
          </p:nvCxnSpPr>
          <p:spPr>
            <a:xfrm>
              <a:off x="3599874" y="1891073"/>
              <a:ext cx="0" cy="78016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31B5BF81-0C4B-45CE-B69C-B3F183459AB7}"/>
                </a:ext>
              </a:extLst>
            </p:cNvPr>
            <p:cNvCxnSpPr>
              <a:cxnSpLocks/>
            </p:cNvCxnSpPr>
            <p:nvPr/>
          </p:nvCxnSpPr>
          <p:spPr>
            <a:xfrm>
              <a:off x="3599874" y="1969089"/>
              <a:ext cx="19844" cy="75611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CEC968EC-4AF8-4BD5-AB60-2BCA7B30B2C4}"/>
                </a:ext>
              </a:extLst>
            </p:cNvPr>
            <p:cNvCxnSpPr>
              <a:cxnSpLocks/>
            </p:cNvCxnSpPr>
            <p:nvPr/>
          </p:nvCxnSpPr>
          <p:spPr>
            <a:xfrm>
              <a:off x="3619718" y="2044700"/>
              <a:ext cx="0" cy="78016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14D6290B-AEFD-494F-B977-DDE43F054F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9874" y="2122716"/>
              <a:ext cx="19844" cy="71209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208C3D5D-5A1B-4637-9EF0-D7429355E1B7}"/>
                </a:ext>
              </a:extLst>
            </p:cNvPr>
            <p:cNvCxnSpPr>
              <a:cxnSpLocks/>
            </p:cNvCxnSpPr>
            <p:nvPr/>
          </p:nvCxnSpPr>
          <p:spPr>
            <a:xfrm>
              <a:off x="1652011" y="1634489"/>
              <a:ext cx="40264" cy="78016"/>
            </a:xfrm>
            <a:prstGeom prst="line">
              <a:avLst/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652035D8-8FF9-4549-8C2B-568E763E9AC6}"/>
                </a:ext>
              </a:extLst>
            </p:cNvPr>
            <p:cNvGrpSpPr/>
            <p:nvPr/>
          </p:nvGrpSpPr>
          <p:grpSpPr>
            <a:xfrm rot="2970472">
              <a:off x="1775222" y="1969089"/>
              <a:ext cx="149225" cy="149225"/>
              <a:chOff x="3692525" y="2625725"/>
              <a:chExt cx="149225" cy="149225"/>
            </a:xfrm>
          </p:grpSpPr>
          <p:sp>
            <p:nvSpPr>
              <p:cNvPr id="105" name="타원 104">
                <a:extLst>
                  <a:ext uri="{FF2B5EF4-FFF2-40B4-BE49-F238E27FC236}">
                    <a16:creationId xmlns:a16="http://schemas.microsoft.com/office/drawing/2014/main" id="{563B5A13-2E5D-4AA3-8D41-CBE4C0550BDA}"/>
                  </a:ext>
                </a:extLst>
              </p:cNvPr>
              <p:cNvSpPr/>
              <p:nvPr/>
            </p:nvSpPr>
            <p:spPr>
              <a:xfrm>
                <a:off x="3692525" y="2625725"/>
                <a:ext cx="149225" cy="149225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6" name="화살표: 갈매기형 수장 105">
                <a:extLst>
                  <a:ext uri="{FF2B5EF4-FFF2-40B4-BE49-F238E27FC236}">
                    <a16:creationId xmlns:a16="http://schemas.microsoft.com/office/drawing/2014/main" id="{83542B36-3127-4E53-985B-0C685865E96D}"/>
                  </a:ext>
                </a:extLst>
              </p:cNvPr>
              <p:cNvSpPr/>
              <p:nvPr/>
            </p:nvSpPr>
            <p:spPr>
              <a:xfrm>
                <a:off x="3736037" y="2660650"/>
                <a:ext cx="88900" cy="82550"/>
              </a:xfrm>
              <a:prstGeom prst="chevron">
                <a:avLst>
                  <a:gd name="adj" fmla="val 64279"/>
                </a:avLst>
              </a:prstGeom>
              <a:noFill/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D5BAF62E-F24E-4078-8C0E-EDB44A357328}"/>
                </a:ext>
              </a:extLst>
            </p:cNvPr>
            <p:cNvCxnSpPr>
              <a:cxnSpLocks/>
            </p:cNvCxnSpPr>
            <p:nvPr/>
          </p:nvCxnSpPr>
          <p:spPr>
            <a:xfrm>
              <a:off x="1692275" y="1712505"/>
              <a:ext cx="0" cy="73344"/>
            </a:xfrm>
            <a:prstGeom prst="line">
              <a:avLst/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직선 연결선 108">
              <a:extLst>
                <a:ext uri="{FF2B5EF4-FFF2-40B4-BE49-F238E27FC236}">
                  <a16:creationId xmlns:a16="http://schemas.microsoft.com/office/drawing/2014/main" id="{59E06BA7-8AA1-41EC-9856-1D79FBDC58D4}"/>
                </a:ext>
              </a:extLst>
            </p:cNvPr>
            <p:cNvCxnSpPr>
              <a:cxnSpLocks/>
            </p:cNvCxnSpPr>
            <p:nvPr/>
          </p:nvCxnSpPr>
          <p:spPr>
            <a:xfrm>
              <a:off x="1692275" y="1785849"/>
              <a:ext cx="19050" cy="77876"/>
            </a:xfrm>
            <a:prstGeom prst="line">
              <a:avLst/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449AFF39-D862-4720-8AF6-6D03CD15BB84}"/>
                </a:ext>
              </a:extLst>
            </p:cNvPr>
            <p:cNvCxnSpPr>
              <a:cxnSpLocks/>
            </p:cNvCxnSpPr>
            <p:nvPr/>
          </p:nvCxnSpPr>
          <p:spPr>
            <a:xfrm>
              <a:off x="1711325" y="1863725"/>
              <a:ext cx="40847" cy="73344"/>
            </a:xfrm>
            <a:prstGeom prst="line">
              <a:avLst/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직선 연결선 112">
              <a:extLst>
                <a:ext uri="{FF2B5EF4-FFF2-40B4-BE49-F238E27FC236}">
                  <a16:creationId xmlns:a16="http://schemas.microsoft.com/office/drawing/2014/main" id="{13294432-025D-406B-BF39-67094895ED7E}"/>
                </a:ext>
              </a:extLst>
            </p:cNvPr>
            <p:cNvCxnSpPr>
              <a:cxnSpLocks/>
              <a:endCxn id="105" idx="2"/>
            </p:cNvCxnSpPr>
            <p:nvPr/>
          </p:nvCxnSpPr>
          <p:spPr>
            <a:xfrm>
              <a:off x="1751900" y="1937069"/>
              <a:ext cx="49485" cy="49890"/>
            </a:xfrm>
            <a:prstGeom prst="line">
              <a:avLst/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1" name="그림 130">
            <a:extLst>
              <a:ext uri="{FF2B5EF4-FFF2-40B4-BE49-F238E27FC236}">
                <a16:creationId xmlns:a16="http://schemas.microsoft.com/office/drawing/2014/main" id="{AA025398-32BF-410B-909E-16BB3A18A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123" y="452884"/>
            <a:ext cx="4216164" cy="5952232"/>
          </a:xfrm>
          <a:prstGeom prst="rect">
            <a:avLst/>
          </a:prstGeom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F1453C1E-F221-48F0-AC11-4D84B18A29B8}"/>
              </a:ext>
            </a:extLst>
          </p:cNvPr>
          <p:cNvSpPr txBox="1"/>
          <p:nvPr/>
        </p:nvSpPr>
        <p:spPr>
          <a:xfrm>
            <a:off x="6723448" y="918229"/>
            <a:ext cx="3980251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 b="1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주요 변화 포인트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100" b="1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탄약 보급량</a:t>
            </a:r>
            <a:endParaRPr lang="ko-KR" altLang="en-US" sz="1100" b="0" i="0">
              <a:solidFill>
                <a:srgbClr val="D4D4D4"/>
              </a:solidFill>
              <a:effectLst/>
              <a:latin typeface="Segoe UI" panose="020B0502040204020203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5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~6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시에는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100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으로 유지되었으나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, 7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시부터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10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시까지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99→97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로 소폭 감소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11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 이후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97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이 유지되다가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15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시부터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93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으로 감소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, 19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시에는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87, 21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시에는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86, 22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시에는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80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으로 급격히 하락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23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~24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시에는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76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으로 최종적으로 가장 낮은 수준에 도달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100" b="1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연료 보급량</a:t>
            </a:r>
            <a:endParaRPr lang="ko-KR" altLang="en-US" sz="1100" b="0" i="0">
              <a:solidFill>
                <a:srgbClr val="D4D4D4"/>
              </a:solidFill>
              <a:effectLst/>
              <a:latin typeface="Segoe UI" panose="020B0502040204020203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5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~12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시까지는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100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으로 안정적이었으나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, 12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시부터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98, 13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시부터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96, 14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시부터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95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로 점진적으로 감소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15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 이후부터는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95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를 유지하며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23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~24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시까지 변동이 없었음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algn="l"/>
            <a:r>
              <a:rPr lang="ko-KR" altLang="en-US" sz="1100" b="1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전반적 추이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100" b="1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탄약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: 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전반적으로 지속적인 감소 추세이며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, 22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 이후 급격히 하락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100" b="1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연료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: 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초기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12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시까지는 안정적이었으나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, 14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시 이후 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95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로 감소한 뒤 일정 수준을 유지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algn="l"/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이러한 보급량 변화를 토대로 부대의 전투 지속 가능성을 평가하고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, </a:t>
            </a:r>
            <a:r>
              <a:rPr lang="ko-KR" altLang="en-US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필요 시 추가 보급 계획을 수립할 필요가 있습니다</a:t>
            </a:r>
            <a:r>
              <a:rPr lang="en-US" altLang="ko-KR" sz="1100" b="0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083188-A641-43A1-A559-367D8E930D29}"/>
              </a:ext>
            </a:extLst>
          </p:cNvPr>
          <p:cNvSpPr txBox="1"/>
          <p:nvPr/>
        </p:nvSpPr>
        <p:spPr>
          <a:xfrm>
            <a:off x="6694351" y="5354443"/>
            <a:ext cx="398025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 b="1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예상 질문</a:t>
            </a:r>
            <a:endParaRPr lang="en-US" altLang="ko-KR" sz="1100" b="1" i="0">
              <a:solidFill>
                <a:srgbClr val="D4D4D4"/>
              </a:solidFill>
              <a:effectLst/>
              <a:latin typeface="Segoe UI" panose="020B0502040204020203" pitchFamily="34" charset="0"/>
            </a:endParaRPr>
          </a:p>
          <a:p>
            <a:pPr marL="228600" indent="-228600" algn="l">
              <a:buAutoNum type="arabicPeriod"/>
            </a:pPr>
            <a:r>
              <a:rPr lang="ko-KR" altLang="en-US" sz="1100" b="1">
                <a:solidFill>
                  <a:srgbClr val="D4D4D4"/>
                </a:solidFill>
                <a:latin typeface="Segoe UI" panose="020B0502040204020203" pitchFamily="34" charset="0"/>
              </a:rPr>
              <a:t>지덕칠함의 이동패턴은 어떻게 돼</a:t>
            </a:r>
            <a:r>
              <a:rPr lang="en-US" altLang="ko-KR" sz="1100" b="1">
                <a:solidFill>
                  <a:srgbClr val="D4D4D4"/>
                </a:solidFill>
                <a:latin typeface="Segoe UI" panose="020B0502040204020203" pitchFamily="34" charset="0"/>
              </a:rPr>
              <a:t>?</a:t>
            </a:r>
          </a:p>
          <a:p>
            <a:pPr marL="228600" indent="-228600" algn="l">
              <a:buAutoNum type="arabicPeriod"/>
            </a:pPr>
            <a:r>
              <a:rPr lang="ko-KR" altLang="en-US" sz="1100" b="1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어떤 배가 가장 먼 거리를 이동했어</a:t>
            </a:r>
            <a:r>
              <a:rPr lang="en-US" altLang="ko-KR" sz="1100" b="1" i="0">
                <a:solidFill>
                  <a:srgbClr val="D4D4D4"/>
                </a:solidFill>
                <a:effectLst/>
                <a:latin typeface="Segoe UI" panose="020B0502040204020203" pitchFamily="34" charset="0"/>
              </a:rPr>
              <a:t>??</a:t>
            </a:r>
          </a:p>
          <a:p>
            <a:pPr marL="228600" indent="-228600" algn="l">
              <a:buAutoNum type="arabicPeriod"/>
            </a:pPr>
            <a:r>
              <a:rPr lang="ko-KR" altLang="en-US" sz="1100" b="1">
                <a:solidFill>
                  <a:srgbClr val="D4D4D4"/>
                </a:solidFill>
                <a:latin typeface="Segoe UI" panose="020B0502040204020203" pitchFamily="34" charset="0"/>
              </a:rPr>
              <a:t>가장 많은 배가 다니는 수로가 어디야</a:t>
            </a:r>
            <a:r>
              <a:rPr lang="en-US" altLang="ko-KR" sz="1100" b="1">
                <a:solidFill>
                  <a:srgbClr val="D4D4D4"/>
                </a:solidFill>
                <a:latin typeface="Segoe UI" panose="020B0502040204020203" pitchFamily="34" charset="0"/>
              </a:rPr>
              <a:t>?</a:t>
            </a:r>
          </a:p>
          <a:p>
            <a:pPr marL="228600" indent="-228600" algn="l">
              <a:buAutoNum type="arabicPeriod"/>
            </a:pPr>
            <a:r>
              <a:rPr lang="en-US" altLang="ko-KR" sz="1100" b="1">
                <a:solidFill>
                  <a:srgbClr val="D4D4D4"/>
                </a:solidFill>
                <a:latin typeface="Segoe UI" panose="020B0502040204020203" pitchFamily="34" charset="0"/>
              </a:rPr>
              <a:t>00</a:t>
            </a:r>
            <a:r>
              <a:rPr lang="ko-KR" altLang="en-US" sz="1100" b="1">
                <a:solidFill>
                  <a:srgbClr val="D4D4D4"/>
                </a:solidFill>
                <a:latin typeface="Segoe UI" panose="020B0502040204020203" pitchFamily="34" charset="0"/>
              </a:rPr>
              <a:t>시 </a:t>
            </a:r>
            <a:r>
              <a:rPr lang="en-US" altLang="ko-KR" sz="1100" b="1">
                <a:solidFill>
                  <a:srgbClr val="D4D4D4"/>
                </a:solidFill>
                <a:latin typeface="Segoe UI" panose="020B0502040204020203" pitchFamily="34" charset="0"/>
              </a:rPr>
              <a:t>00</a:t>
            </a:r>
            <a:r>
              <a:rPr lang="ko-KR" altLang="en-US" sz="1100" b="1">
                <a:solidFill>
                  <a:srgbClr val="D4D4D4"/>
                </a:solidFill>
                <a:latin typeface="Segoe UI" panose="020B0502040204020203" pitchFamily="34" charset="0"/>
              </a:rPr>
              <a:t>분에 배가 가장 밀집되어있는 곳은 어디야</a:t>
            </a:r>
            <a:r>
              <a:rPr lang="en-US" altLang="ko-KR" sz="1100" b="1">
                <a:solidFill>
                  <a:srgbClr val="D4D4D4"/>
                </a:solidFill>
                <a:latin typeface="Segoe UI" panose="020B0502040204020203" pitchFamily="34" charset="0"/>
              </a:rPr>
              <a:t>?</a:t>
            </a:r>
            <a:endParaRPr lang="en-US" altLang="ko-KR" sz="1100" b="0" i="0">
              <a:solidFill>
                <a:srgbClr val="D4D4D4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5DE55BE-4FA2-4DA0-AB62-567DC25C83BA}"/>
              </a:ext>
            </a:extLst>
          </p:cNvPr>
          <p:cNvSpPr txBox="1"/>
          <p:nvPr/>
        </p:nvSpPr>
        <p:spPr>
          <a:xfrm>
            <a:off x="218235" y="169847"/>
            <a:ext cx="58777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2. AIS 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대용량 </a:t>
            </a:r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Big Data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기반 워게임 패킷생성 시뮬레이터 개발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4787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C482F7E-E921-43FA-B8BC-3A9D835A4DB9}"/>
              </a:ext>
            </a:extLst>
          </p:cNvPr>
          <p:cNvSpPr/>
          <p:nvPr/>
        </p:nvSpPr>
        <p:spPr>
          <a:xfrm>
            <a:off x="1236210" y="3947019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streamlit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AC9A1F8-9CA3-41C5-AC3C-377A941504DF}"/>
              </a:ext>
            </a:extLst>
          </p:cNvPr>
          <p:cNvSpPr/>
          <p:nvPr/>
        </p:nvSpPr>
        <p:spPr>
          <a:xfrm>
            <a:off x="7418553" y="1699884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accent2">
                    <a:lumMod val="75000"/>
                  </a:schemeClr>
                </a:solidFill>
              </a:rPr>
              <a:t>사용자 질문</a:t>
            </a:r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ko-KR" altLang="en-US" sz="1400">
                <a:solidFill>
                  <a:schemeClr val="accent2">
                    <a:lumMod val="75000"/>
                  </a:schemeClr>
                </a:solidFill>
              </a:rPr>
              <a:t>시나리오</a:t>
            </a:r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C86136E-B3BC-458D-A2F1-AFA1432C9892}"/>
              </a:ext>
            </a:extLst>
          </p:cNvPr>
          <p:cNvGrpSpPr/>
          <p:nvPr/>
        </p:nvGrpSpPr>
        <p:grpSpPr>
          <a:xfrm>
            <a:off x="1028587" y="4993465"/>
            <a:ext cx="1605072" cy="1109476"/>
            <a:chOff x="217732" y="711143"/>
            <a:chExt cx="3589708" cy="2481319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FCE8E469-7AC9-4841-BCA7-46EF7AD59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7732" y="711143"/>
              <a:ext cx="3589708" cy="2481319"/>
            </a:xfrm>
            <a:prstGeom prst="rect">
              <a:avLst/>
            </a:prstGeom>
          </p:spPr>
        </p:pic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6FDCE170-AACF-4BDC-9759-D65EB38B172B}"/>
                </a:ext>
              </a:extLst>
            </p:cNvPr>
            <p:cNvGrpSpPr/>
            <p:nvPr/>
          </p:nvGrpSpPr>
          <p:grpSpPr>
            <a:xfrm>
              <a:off x="1463675" y="2339975"/>
              <a:ext cx="149225" cy="149225"/>
              <a:chOff x="3381375" y="2314575"/>
              <a:chExt cx="149225" cy="149225"/>
            </a:xfrm>
          </p:grpSpPr>
          <p:sp>
            <p:nvSpPr>
              <p:cNvPr id="33" name="화살표: 갈매기형 수장 32">
                <a:extLst>
                  <a:ext uri="{FF2B5EF4-FFF2-40B4-BE49-F238E27FC236}">
                    <a16:creationId xmlns:a16="http://schemas.microsoft.com/office/drawing/2014/main" id="{E9B93CA5-40C6-40BE-95B9-1EDA035E6044}"/>
                  </a:ext>
                </a:extLst>
              </p:cNvPr>
              <p:cNvSpPr/>
              <p:nvPr/>
            </p:nvSpPr>
            <p:spPr>
              <a:xfrm>
                <a:off x="3422650" y="2349500"/>
                <a:ext cx="88900" cy="82550"/>
              </a:xfrm>
              <a:prstGeom prst="chevron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1812E88D-BC42-4D37-9341-3E1A63888DD1}"/>
                  </a:ext>
                </a:extLst>
              </p:cNvPr>
              <p:cNvSpPr/>
              <p:nvPr/>
            </p:nvSpPr>
            <p:spPr>
              <a:xfrm>
                <a:off x="3381375" y="2314575"/>
                <a:ext cx="149225" cy="14922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C8DB09D-8A4B-44AD-A8C1-464FE5FB1EA9}"/>
                </a:ext>
              </a:extLst>
            </p:cNvPr>
            <p:cNvCxnSpPr>
              <a:stCxn id="34" idx="2"/>
            </p:cNvCxnSpPr>
            <p:nvPr/>
          </p:nvCxnSpPr>
          <p:spPr>
            <a:xfrm flipH="1" flipV="1">
              <a:off x="1358900" y="2409825"/>
              <a:ext cx="104775" cy="4763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36B98282-38D1-48FC-8845-5F785FBD62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96987" y="2374900"/>
              <a:ext cx="64294" cy="34926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050B3CFC-5407-406A-A5B1-17E7D6CDAE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44203" y="2301875"/>
              <a:ext cx="52388" cy="73025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0F722AFE-44D5-4608-8774-31CA3680E6F9}"/>
                </a:ext>
              </a:extLst>
            </p:cNvPr>
            <p:cNvGrpSpPr/>
            <p:nvPr/>
          </p:nvGrpSpPr>
          <p:grpSpPr>
            <a:xfrm>
              <a:off x="2171412" y="2389187"/>
              <a:ext cx="149225" cy="149225"/>
              <a:chOff x="3824287" y="2478087"/>
              <a:chExt cx="149225" cy="149225"/>
            </a:xfrm>
          </p:grpSpPr>
          <p:sp>
            <p:nvSpPr>
              <p:cNvPr id="39" name="화살표: 갈매기형 수장 38">
                <a:extLst>
                  <a:ext uri="{FF2B5EF4-FFF2-40B4-BE49-F238E27FC236}">
                    <a16:creationId xmlns:a16="http://schemas.microsoft.com/office/drawing/2014/main" id="{FC23F335-13AC-4606-849D-2D5FCBF76F4D}"/>
                  </a:ext>
                </a:extLst>
              </p:cNvPr>
              <p:cNvSpPr/>
              <p:nvPr/>
            </p:nvSpPr>
            <p:spPr>
              <a:xfrm rot="18900000">
                <a:off x="3865562" y="2510631"/>
                <a:ext cx="88900" cy="82550"/>
              </a:xfrm>
              <a:prstGeom prst="chevron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8528A0E8-50A4-442E-8888-2D004556894F}"/>
                  </a:ext>
                </a:extLst>
              </p:cNvPr>
              <p:cNvSpPr/>
              <p:nvPr/>
            </p:nvSpPr>
            <p:spPr>
              <a:xfrm>
                <a:off x="3824287" y="2478087"/>
                <a:ext cx="149225" cy="149225"/>
              </a:xfrm>
              <a:prstGeom prst="ellipse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F64E72F9-2A40-497D-8684-98F6FA410FA2}"/>
                </a:ext>
              </a:extLst>
            </p:cNvPr>
            <p:cNvCxnSpPr>
              <a:cxnSpLocks/>
              <a:stCxn id="40" idx="3"/>
            </p:cNvCxnSpPr>
            <p:nvPr/>
          </p:nvCxnSpPr>
          <p:spPr>
            <a:xfrm flipH="1">
              <a:off x="2140877" y="2516559"/>
              <a:ext cx="52388" cy="85354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7E19DAA9-8B91-4F78-AF93-42988A6C56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41566" y="2600602"/>
              <a:ext cx="29846" cy="59774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1550F436-ED4E-4EF3-B48E-4FAB32F28F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7332" y="2655244"/>
              <a:ext cx="53682" cy="76422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BE63DDB-73E1-4056-B1CD-CE7112F5DA84}"/>
              </a:ext>
            </a:extLst>
          </p:cNvPr>
          <p:cNvSpPr txBox="1"/>
          <p:nvPr/>
        </p:nvSpPr>
        <p:spPr>
          <a:xfrm>
            <a:off x="1069204" y="6102941"/>
            <a:ext cx="15039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실시간 상황전시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4096748-AE24-40B2-9280-C0F1ECE23C8F}"/>
              </a:ext>
            </a:extLst>
          </p:cNvPr>
          <p:cNvSpPr/>
          <p:nvPr/>
        </p:nvSpPr>
        <p:spPr>
          <a:xfrm>
            <a:off x="3426245" y="1127182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Server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F228255-20BC-4648-9CF6-7ADC97CED8F5}"/>
              </a:ext>
            </a:extLst>
          </p:cNvPr>
          <p:cNvSpPr/>
          <p:nvPr/>
        </p:nvSpPr>
        <p:spPr>
          <a:xfrm>
            <a:off x="3426245" y="2670233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Client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BAC28C-0945-44A3-8DC4-0E6435A45038}"/>
              </a:ext>
            </a:extLst>
          </p:cNvPr>
          <p:cNvSpPr txBox="1"/>
          <p:nvPr/>
        </p:nvSpPr>
        <p:spPr>
          <a:xfrm>
            <a:off x="4011208" y="1838745"/>
            <a:ext cx="20014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패킷 전송</a:t>
            </a:r>
            <a:endParaRPr lang="en-US" altLang="ko-KR" sz="1200"/>
          </a:p>
          <a:p>
            <a:r>
              <a:rPr lang="ko-KR" altLang="en-US" sz="1200"/>
              <a:t>서버</a:t>
            </a:r>
            <a:r>
              <a:rPr lang="en-US" altLang="ko-KR" sz="1200"/>
              <a:t>-</a:t>
            </a:r>
            <a:r>
              <a:rPr lang="ko-KR" altLang="en-US" sz="1200"/>
              <a:t>클라이언트 </a:t>
            </a:r>
            <a:r>
              <a:rPr lang="en-US" altLang="ko-KR" sz="1200"/>
              <a:t>TCP </a:t>
            </a:r>
            <a:r>
              <a:rPr lang="ko-KR" altLang="en-US" sz="1200"/>
              <a:t>통신</a:t>
            </a:r>
            <a:endParaRPr lang="en-US" altLang="ko-KR" sz="120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976528D-00A8-49C9-AD6E-835FA4DBFB42}"/>
              </a:ext>
            </a:extLst>
          </p:cNvPr>
          <p:cNvSpPr/>
          <p:nvPr/>
        </p:nvSpPr>
        <p:spPr>
          <a:xfrm>
            <a:off x="3426245" y="5026933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DB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EE4B92F-E73C-4F94-A5F6-729768CE849B}"/>
              </a:ext>
            </a:extLst>
          </p:cNvPr>
          <p:cNvSpPr/>
          <p:nvPr/>
        </p:nvSpPr>
        <p:spPr>
          <a:xfrm>
            <a:off x="7418553" y="2638144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LLM</a:t>
            </a:r>
            <a:endParaRPr lang="ko-KR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BD1EE22-0CA2-41AA-8A2A-530043A18933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>
            <a:off x="4011209" y="1616771"/>
            <a:ext cx="0" cy="1053462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B29338D1-3BC6-4175-9F77-76F4172FD1FA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>
            <a:off x="4011209" y="3159822"/>
            <a:ext cx="0" cy="1867111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C34AB67C-78D8-4D54-86A7-0DE2FA6A84DD}"/>
              </a:ext>
            </a:extLst>
          </p:cNvPr>
          <p:cNvSpPr txBox="1"/>
          <p:nvPr/>
        </p:nvSpPr>
        <p:spPr>
          <a:xfrm>
            <a:off x="3986450" y="3414710"/>
            <a:ext cx="28039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- </a:t>
            </a:r>
            <a:r>
              <a:rPr lang="ko-KR" altLang="en-US" sz="1200"/>
              <a:t>패킷 구조화 후 저장</a:t>
            </a:r>
            <a:endParaRPr lang="en-US" altLang="ko-KR" sz="1200"/>
          </a:p>
          <a:p>
            <a:r>
              <a:rPr lang="en-US" altLang="ko-KR" sz="1200"/>
              <a:t>(LLM</a:t>
            </a:r>
            <a:r>
              <a:rPr lang="ko-KR" altLang="en-US" sz="1200"/>
              <a:t>에 포함할 데이터</a:t>
            </a:r>
            <a:endParaRPr lang="en-US" altLang="ko-KR" sz="1200"/>
          </a:p>
          <a:p>
            <a:r>
              <a:rPr lang="ko-KR" altLang="en-US" sz="1200"/>
              <a:t>및 </a:t>
            </a:r>
            <a:r>
              <a:rPr lang="en-US" altLang="ko-KR" sz="1200"/>
              <a:t>DB</a:t>
            </a:r>
            <a:r>
              <a:rPr lang="ko-KR" altLang="en-US" sz="1200"/>
              <a:t>스키마가 확정되어야 진행 가능</a:t>
            </a:r>
            <a:r>
              <a:rPr lang="en-US" altLang="ko-KR" sz="1200"/>
              <a:t>)</a:t>
            </a:r>
          </a:p>
          <a:p>
            <a:r>
              <a:rPr lang="en-US" altLang="ko-KR" sz="1200"/>
              <a:t>- </a:t>
            </a:r>
            <a:r>
              <a:rPr lang="ko-KR" altLang="en-US" sz="1200"/>
              <a:t>실시간 데이터 </a:t>
            </a:r>
            <a:r>
              <a:rPr lang="en-US" altLang="ko-KR" sz="1200"/>
              <a:t>DB</a:t>
            </a:r>
            <a:r>
              <a:rPr lang="ko-KR" altLang="en-US" sz="1200"/>
              <a:t>에 어떻게 쌓을지</a:t>
            </a:r>
            <a:endParaRPr lang="en-US" altLang="ko-KR" sz="1200"/>
          </a:p>
          <a:p>
            <a:r>
              <a:rPr lang="ko-KR" altLang="en-US" sz="1200"/>
              <a:t>구체적인 구현방안 필요</a:t>
            </a:r>
            <a:endParaRPr lang="en-US" altLang="ko-KR" sz="12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EB25A2B-3807-4C6F-AE93-5BD08738FD7B}"/>
              </a:ext>
            </a:extLst>
          </p:cNvPr>
          <p:cNvSpPr txBox="1"/>
          <p:nvPr/>
        </p:nvSpPr>
        <p:spPr>
          <a:xfrm>
            <a:off x="1475027" y="1764413"/>
            <a:ext cx="17748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가공된 패킷 전송</a:t>
            </a:r>
            <a:endParaRPr lang="en-US" altLang="ko-KR" sz="1200"/>
          </a:p>
          <a:p>
            <a:pPr marL="342900" indent="-342900">
              <a:buAutoNum type="arabicPeriod"/>
            </a:pPr>
            <a:r>
              <a:rPr lang="ko-KR" altLang="en-US" sz="1200"/>
              <a:t>위치</a:t>
            </a:r>
            <a:r>
              <a:rPr lang="en-US" altLang="ko-KR" sz="1200"/>
              <a:t>(</a:t>
            </a:r>
            <a:r>
              <a:rPr lang="ko-KR" altLang="en-US" sz="1200"/>
              <a:t>위경도</a:t>
            </a:r>
            <a:r>
              <a:rPr lang="en-US" altLang="ko-KR" sz="1200"/>
              <a:t>)</a:t>
            </a:r>
          </a:p>
          <a:p>
            <a:pPr marL="342900" indent="-342900">
              <a:buAutoNum type="arabicPeriod"/>
            </a:pPr>
            <a:r>
              <a:rPr lang="ko-KR" altLang="en-US" sz="1200"/>
              <a:t>방향</a:t>
            </a:r>
            <a:endParaRPr lang="en-US" altLang="ko-KR" sz="1200"/>
          </a:p>
          <a:p>
            <a:pPr marL="342900" indent="-342900">
              <a:buAutoNum type="arabicPeriod"/>
            </a:pPr>
            <a:r>
              <a:rPr lang="ko-KR" altLang="en-US" sz="1200"/>
              <a:t>탐지범위</a:t>
            </a:r>
            <a:endParaRPr lang="en-US" altLang="ko-KR" sz="1200"/>
          </a:p>
          <a:p>
            <a:pPr marL="342900" indent="-342900">
              <a:buAutoNum type="arabicPeriod"/>
            </a:pPr>
            <a:r>
              <a:rPr lang="en-US" altLang="ko-KR" sz="1200"/>
              <a:t>Mmsi(</a:t>
            </a:r>
            <a:r>
              <a:rPr lang="ko-KR" altLang="en-US" sz="1200"/>
              <a:t>고유식별자</a:t>
            </a:r>
            <a:r>
              <a:rPr lang="en-US" altLang="ko-KR" sz="1200"/>
              <a:t>)</a:t>
            </a: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2981F28F-3100-4A7E-965E-937CDB383483}"/>
              </a:ext>
            </a:extLst>
          </p:cNvPr>
          <p:cNvCxnSpPr>
            <a:cxnSpLocks/>
            <a:stCxn id="21" idx="2"/>
            <a:endCxn id="47" idx="0"/>
          </p:cNvCxnSpPr>
          <p:nvPr/>
        </p:nvCxnSpPr>
        <p:spPr>
          <a:xfrm>
            <a:off x="8003517" y="2189473"/>
            <a:ext cx="0" cy="448671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931E45D7-7028-49DF-8653-5A8AA95A57D9}"/>
              </a:ext>
            </a:extLst>
          </p:cNvPr>
          <p:cNvCxnSpPr>
            <a:cxnSpLocks/>
            <a:stCxn id="45" idx="1"/>
            <a:endCxn id="2" idx="0"/>
          </p:cNvCxnSpPr>
          <p:nvPr/>
        </p:nvCxnSpPr>
        <p:spPr>
          <a:xfrm rot="10800000" flipV="1">
            <a:off x="1821175" y="2915027"/>
            <a:ext cx="1605071" cy="1031991"/>
          </a:xfrm>
          <a:prstGeom prst="bentConnector2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5E5233DE-ADE2-498F-BA90-6F8E80F5E4A1}"/>
              </a:ext>
            </a:extLst>
          </p:cNvPr>
          <p:cNvCxnSpPr>
            <a:cxnSpLocks/>
            <a:stCxn id="2" idx="2"/>
            <a:endCxn id="24" idx="0"/>
          </p:cNvCxnSpPr>
          <p:nvPr/>
        </p:nvCxnSpPr>
        <p:spPr>
          <a:xfrm>
            <a:off x="1821174" y="4436608"/>
            <a:ext cx="9949" cy="556857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DAD2705A-369B-4296-91B3-F73F5B6840B9}"/>
              </a:ext>
            </a:extLst>
          </p:cNvPr>
          <p:cNvSpPr/>
          <p:nvPr/>
        </p:nvSpPr>
        <p:spPr>
          <a:xfrm>
            <a:off x="8720134" y="3947019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accent2">
                    <a:lumMod val="75000"/>
                  </a:schemeClr>
                </a:solidFill>
              </a:rPr>
              <a:t>답변생성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4AFBD1E7-1170-47D2-A8B7-C504BEA0492B}"/>
              </a:ext>
            </a:extLst>
          </p:cNvPr>
          <p:cNvSpPr/>
          <p:nvPr/>
        </p:nvSpPr>
        <p:spPr>
          <a:xfrm>
            <a:off x="6097821" y="5951584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accent2">
                    <a:lumMod val="75000"/>
                  </a:schemeClr>
                </a:solidFill>
              </a:rPr>
              <a:t>전처리된</a:t>
            </a:r>
            <a:b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DB </a:t>
            </a:r>
            <a:r>
              <a:rPr lang="ko-KR" altLang="en-US" sz="1400">
                <a:solidFill>
                  <a:schemeClr val="accent2">
                    <a:lumMod val="75000"/>
                  </a:schemeClr>
                </a:solidFill>
              </a:rPr>
              <a:t>정보</a:t>
            </a:r>
          </a:p>
        </p:txBody>
      </p:sp>
      <p:cxnSp>
        <p:nvCxnSpPr>
          <p:cNvPr id="94" name="연결선: 꺾임 93">
            <a:extLst>
              <a:ext uri="{FF2B5EF4-FFF2-40B4-BE49-F238E27FC236}">
                <a16:creationId xmlns:a16="http://schemas.microsoft.com/office/drawing/2014/main" id="{E6124B47-B367-45E9-A631-1BB6F0FFDAE2}"/>
              </a:ext>
            </a:extLst>
          </p:cNvPr>
          <p:cNvCxnSpPr>
            <a:cxnSpLocks/>
            <a:stCxn id="46" idx="2"/>
            <a:endCxn id="93" idx="1"/>
          </p:cNvCxnSpPr>
          <p:nvPr/>
        </p:nvCxnSpPr>
        <p:spPr>
          <a:xfrm rot="16200000" flipH="1">
            <a:off x="4714587" y="4813144"/>
            <a:ext cx="679857" cy="2086612"/>
          </a:xfrm>
          <a:prstGeom prst="bentConnector2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01AF6E08-96F8-443C-9894-C180672FCE70}"/>
              </a:ext>
            </a:extLst>
          </p:cNvPr>
          <p:cNvSpPr txBox="1"/>
          <p:nvPr/>
        </p:nvSpPr>
        <p:spPr>
          <a:xfrm>
            <a:off x="4142325" y="6256829"/>
            <a:ext cx="16594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200"/>
              <a:t>질문 의도에 맞는</a:t>
            </a:r>
            <a:br>
              <a:rPr lang="en-US" altLang="ko-KR" sz="1200"/>
            </a:br>
            <a:r>
              <a:rPr lang="ko-KR" altLang="en-US" sz="1200"/>
              <a:t>데이터 전처리</a:t>
            </a:r>
            <a:endParaRPr lang="en-US" altLang="ko-KR" sz="120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6646941-ED6B-4937-B8C1-07703BA4BF7B}"/>
              </a:ext>
            </a:extLst>
          </p:cNvPr>
          <p:cNvSpPr txBox="1"/>
          <p:nvPr/>
        </p:nvSpPr>
        <p:spPr>
          <a:xfrm>
            <a:off x="8003516" y="5752999"/>
            <a:ext cx="2175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200"/>
              <a:t>템플릿에 맞게 정보 입력</a:t>
            </a:r>
            <a:endParaRPr lang="en-US" altLang="ko-KR" sz="1200"/>
          </a:p>
        </p:txBody>
      </p:sp>
      <p:cxnSp>
        <p:nvCxnSpPr>
          <p:cNvPr id="99" name="연결선: 꺾임 98">
            <a:extLst>
              <a:ext uri="{FF2B5EF4-FFF2-40B4-BE49-F238E27FC236}">
                <a16:creationId xmlns:a16="http://schemas.microsoft.com/office/drawing/2014/main" id="{C09BA2E1-1DB3-48B4-8E62-EC87B990A324}"/>
              </a:ext>
            </a:extLst>
          </p:cNvPr>
          <p:cNvCxnSpPr>
            <a:cxnSpLocks/>
            <a:stCxn id="93" idx="3"/>
            <a:endCxn id="47" idx="2"/>
          </p:cNvCxnSpPr>
          <p:nvPr/>
        </p:nvCxnSpPr>
        <p:spPr>
          <a:xfrm flipV="1">
            <a:off x="7267748" y="3127733"/>
            <a:ext cx="735769" cy="3068646"/>
          </a:xfrm>
          <a:prstGeom prst="bentConnector2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연결선: 꺾임 104">
            <a:extLst>
              <a:ext uri="{FF2B5EF4-FFF2-40B4-BE49-F238E27FC236}">
                <a16:creationId xmlns:a16="http://schemas.microsoft.com/office/drawing/2014/main" id="{4FABAF07-ED18-4A73-9D11-7560B62D7EC8}"/>
              </a:ext>
            </a:extLst>
          </p:cNvPr>
          <p:cNvCxnSpPr>
            <a:cxnSpLocks/>
            <a:stCxn id="47" idx="3"/>
            <a:endCxn id="90" idx="0"/>
          </p:cNvCxnSpPr>
          <p:nvPr/>
        </p:nvCxnSpPr>
        <p:spPr>
          <a:xfrm>
            <a:off x="8588480" y="2882939"/>
            <a:ext cx="716618" cy="1064080"/>
          </a:xfrm>
          <a:prstGeom prst="bentConnector2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E5F2F7BB-B27E-407E-90E5-75B5EF1B7B2F}"/>
              </a:ext>
            </a:extLst>
          </p:cNvPr>
          <p:cNvSpPr/>
          <p:nvPr/>
        </p:nvSpPr>
        <p:spPr>
          <a:xfrm>
            <a:off x="10323230" y="1095092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accent1">
                    <a:lumMod val="75000"/>
                  </a:schemeClr>
                </a:solidFill>
              </a:rPr>
              <a:t>사용자 질문</a:t>
            </a:r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ko-KR" altLang="en-US" sz="1400">
                <a:solidFill>
                  <a:schemeClr val="accent1">
                    <a:lumMod val="75000"/>
                  </a:schemeClr>
                </a:solidFill>
              </a:rPr>
              <a:t>교리교범</a:t>
            </a:r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ko-KR" alt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529ADF76-A7CF-4609-B414-5303A1ED0BB8}"/>
              </a:ext>
            </a:extLst>
          </p:cNvPr>
          <p:cNvSpPr/>
          <p:nvPr/>
        </p:nvSpPr>
        <p:spPr>
          <a:xfrm>
            <a:off x="10323380" y="2056325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Vector</a:t>
            </a:r>
            <a:r>
              <a:rPr lang="ko-KR" altLang="en-US" sz="140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DB</a:t>
            </a:r>
            <a:endParaRPr lang="ko-KR" alt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B2AD7305-BF3D-4A0A-AF7B-C16E2BD89784}"/>
              </a:ext>
            </a:extLst>
          </p:cNvPr>
          <p:cNvSpPr/>
          <p:nvPr/>
        </p:nvSpPr>
        <p:spPr>
          <a:xfrm>
            <a:off x="10323230" y="3017558"/>
            <a:ext cx="1169927" cy="48958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accent1">
                    <a:lumMod val="75000"/>
                  </a:schemeClr>
                </a:solidFill>
              </a:rPr>
              <a:t>  LLM</a:t>
            </a:r>
          </a:p>
        </p:txBody>
      </p: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93CA564E-9276-4740-99C1-1F7F16331B62}"/>
              </a:ext>
            </a:extLst>
          </p:cNvPr>
          <p:cNvCxnSpPr>
            <a:cxnSpLocks/>
            <a:stCxn id="107" idx="2"/>
            <a:endCxn id="109" idx="0"/>
          </p:cNvCxnSpPr>
          <p:nvPr/>
        </p:nvCxnSpPr>
        <p:spPr>
          <a:xfrm>
            <a:off x="10908194" y="1584681"/>
            <a:ext cx="150" cy="4716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52650676-0C70-4B2A-B34B-B6537DE9D7FB}"/>
              </a:ext>
            </a:extLst>
          </p:cNvPr>
          <p:cNvCxnSpPr>
            <a:cxnSpLocks/>
            <a:stCxn id="109" idx="2"/>
            <a:endCxn id="110" idx="0"/>
          </p:cNvCxnSpPr>
          <p:nvPr/>
        </p:nvCxnSpPr>
        <p:spPr>
          <a:xfrm flipH="1">
            <a:off x="10908194" y="2545914"/>
            <a:ext cx="150" cy="4716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연결선: 꺾임 116">
            <a:extLst>
              <a:ext uri="{FF2B5EF4-FFF2-40B4-BE49-F238E27FC236}">
                <a16:creationId xmlns:a16="http://schemas.microsoft.com/office/drawing/2014/main" id="{2184D4E7-5C94-4771-86B4-F9718FF2D774}"/>
              </a:ext>
            </a:extLst>
          </p:cNvPr>
          <p:cNvCxnSpPr>
            <a:cxnSpLocks/>
            <a:stCxn id="110" idx="2"/>
            <a:endCxn id="90" idx="3"/>
          </p:cNvCxnSpPr>
          <p:nvPr/>
        </p:nvCxnSpPr>
        <p:spPr>
          <a:xfrm rot="5400000">
            <a:off x="10056795" y="3340414"/>
            <a:ext cx="684667" cy="1018133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9C57CD80-C833-4450-BFCC-63B327B8AED7}"/>
              </a:ext>
            </a:extLst>
          </p:cNvPr>
          <p:cNvSpPr txBox="1"/>
          <p:nvPr/>
        </p:nvSpPr>
        <p:spPr>
          <a:xfrm>
            <a:off x="8169117" y="3137815"/>
            <a:ext cx="1230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기존 </a:t>
            </a:r>
            <a:r>
              <a:rPr lang="en-US" altLang="ko-KR" sz="1200"/>
              <a:t>report</a:t>
            </a:r>
          </a:p>
          <a:p>
            <a:r>
              <a:rPr lang="ko-KR" altLang="en-US" sz="1200"/>
              <a:t>형식대로</a:t>
            </a:r>
            <a:br>
              <a:rPr lang="en-US" altLang="ko-KR" sz="1200"/>
            </a:br>
            <a:r>
              <a:rPr lang="ko-KR" altLang="en-US" sz="1200"/>
              <a:t>답변생성</a:t>
            </a:r>
            <a:endParaRPr lang="en-US" altLang="ko-KR" sz="120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5E24949-7362-4D19-800C-EF791ABA240C}"/>
              </a:ext>
            </a:extLst>
          </p:cNvPr>
          <p:cNvSpPr txBox="1"/>
          <p:nvPr/>
        </p:nvSpPr>
        <p:spPr>
          <a:xfrm>
            <a:off x="4652020" y="1158484"/>
            <a:ext cx="13356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-</a:t>
            </a:r>
            <a:r>
              <a:rPr lang="ko-KR" altLang="en-US" sz="1400"/>
              <a:t>시간배속기능</a:t>
            </a:r>
            <a:endParaRPr lang="en-US" altLang="ko-KR" sz="1400"/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EF566A23-881E-4521-8C64-963C81A22EC1}"/>
              </a:ext>
            </a:extLst>
          </p:cNvPr>
          <p:cNvCxnSpPr>
            <a:cxnSpLocks/>
            <a:stCxn id="47" idx="1"/>
            <a:endCxn id="46" idx="3"/>
          </p:cNvCxnSpPr>
          <p:nvPr/>
        </p:nvCxnSpPr>
        <p:spPr>
          <a:xfrm rot="10800000" flipV="1">
            <a:off x="4596173" y="2882938"/>
            <a:ext cx="2822381" cy="2388789"/>
          </a:xfrm>
          <a:prstGeom prst="bentConnector3">
            <a:avLst>
              <a:gd name="adj1" fmla="val 5764"/>
            </a:avLst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1A6D5C0C-A5E8-4577-85F2-122418ADE469}"/>
              </a:ext>
            </a:extLst>
          </p:cNvPr>
          <p:cNvSpPr txBox="1"/>
          <p:nvPr/>
        </p:nvSpPr>
        <p:spPr>
          <a:xfrm>
            <a:off x="4643424" y="4873045"/>
            <a:ext cx="2316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사용자 질문이 </a:t>
            </a:r>
            <a:r>
              <a:rPr lang="en-US" altLang="ko-KR" sz="1200"/>
              <a:t>SQL</a:t>
            </a:r>
            <a:r>
              <a:rPr lang="ko-KR" altLang="en-US" sz="1200"/>
              <a:t>쿼리로 변환</a:t>
            </a:r>
            <a:endParaRPr lang="en-US" altLang="ko-KR" sz="12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6889027-453A-4BA8-993D-C5AEA520DA09}"/>
              </a:ext>
            </a:extLst>
          </p:cNvPr>
          <p:cNvSpPr txBox="1"/>
          <p:nvPr/>
        </p:nvSpPr>
        <p:spPr>
          <a:xfrm>
            <a:off x="218235" y="169847"/>
            <a:ext cx="58777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2. AIS 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대용량 </a:t>
            </a:r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Big Data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기반 워게임 패킷생성 시뮬레이터 개발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29D9A5-4925-4301-B3C8-F028FA2778EE}"/>
              </a:ext>
            </a:extLst>
          </p:cNvPr>
          <p:cNvSpPr txBox="1"/>
          <p:nvPr/>
        </p:nvSpPr>
        <p:spPr>
          <a:xfrm>
            <a:off x="6345436" y="279923"/>
            <a:ext cx="39549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400" i="0">
                <a:effectLst/>
                <a:latin typeface="Segoe UI" panose="020B0502040204020203" pitchFamily="34" charset="0"/>
              </a:rPr>
              <a:t>예상 질문</a:t>
            </a:r>
            <a:endParaRPr lang="en-US" altLang="ko-KR" sz="1400" i="0">
              <a:effectLst/>
              <a:latin typeface="Segoe UI" panose="020B0502040204020203" pitchFamily="34" charset="0"/>
            </a:endParaRPr>
          </a:p>
          <a:p>
            <a:pPr marL="228600" indent="-228600" algn="l">
              <a:buAutoNum type="arabicPeriod"/>
            </a:pPr>
            <a:r>
              <a:rPr lang="ko-KR" altLang="en-US" sz="1400">
                <a:latin typeface="Segoe UI" panose="020B0502040204020203" pitchFamily="34" charset="0"/>
              </a:rPr>
              <a:t>지덕칠함의 이동패턴은 어떻게 돼</a:t>
            </a:r>
            <a:r>
              <a:rPr lang="en-US" altLang="ko-KR" sz="1400">
                <a:latin typeface="Segoe UI" panose="020B0502040204020203" pitchFamily="34" charset="0"/>
              </a:rPr>
              <a:t>?</a:t>
            </a:r>
          </a:p>
          <a:p>
            <a:pPr marL="228600" indent="-228600" algn="l">
              <a:buAutoNum type="arabicPeriod"/>
            </a:pPr>
            <a:r>
              <a:rPr lang="ko-KR" altLang="en-US" sz="1400" i="0">
                <a:effectLst/>
                <a:latin typeface="Segoe UI" panose="020B0502040204020203" pitchFamily="34" charset="0"/>
              </a:rPr>
              <a:t>어떤 배가 가장 먼 거리를 이동했어</a:t>
            </a:r>
            <a:r>
              <a:rPr lang="en-US" altLang="ko-KR" sz="1400" i="0">
                <a:effectLst/>
                <a:latin typeface="Segoe UI" panose="020B0502040204020203" pitchFamily="34" charset="0"/>
              </a:rPr>
              <a:t>??</a:t>
            </a:r>
          </a:p>
          <a:p>
            <a:pPr marL="228600" indent="-228600" algn="l">
              <a:buAutoNum type="arabicPeriod"/>
            </a:pPr>
            <a:r>
              <a:rPr lang="ko-KR" altLang="en-US" sz="1400">
                <a:latin typeface="Segoe UI" panose="020B0502040204020203" pitchFamily="34" charset="0"/>
              </a:rPr>
              <a:t>가장 많은 배가 다니는 수로가 어디야</a:t>
            </a:r>
            <a:r>
              <a:rPr lang="en-US" altLang="ko-KR" sz="1400">
                <a:latin typeface="Segoe UI" panose="020B0502040204020203" pitchFamily="34" charset="0"/>
              </a:rPr>
              <a:t>?</a:t>
            </a:r>
          </a:p>
          <a:p>
            <a:pPr marL="228600" indent="-228600" algn="l">
              <a:buAutoNum type="arabicPeriod"/>
            </a:pPr>
            <a:r>
              <a:rPr lang="en-US" altLang="ko-KR" sz="1400">
                <a:latin typeface="Segoe UI" panose="020B0502040204020203" pitchFamily="34" charset="0"/>
              </a:rPr>
              <a:t>00</a:t>
            </a:r>
            <a:r>
              <a:rPr lang="ko-KR" altLang="en-US" sz="1400">
                <a:latin typeface="Segoe UI" panose="020B0502040204020203" pitchFamily="34" charset="0"/>
              </a:rPr>
              <a:t>시 </a:t>
            </a:r>
            <a:r>
              <a:rPr lang="en-US" altLang="ko-KR" sz="1400">
                <a:latin typeface="Segoe UI" panose="020B0502040204020203" pitchFamily="34" charset="0"/>
              </a:rPr>
              <a:t>00</a:t>
            </a:r>
            <a:r>
              <a:rPr lang="ko-KR" altLang="en-US" sz="1400">
                <a:latin typeface="Segoe UI" panose="020B0502040204020203" pitchFamily="34" charset="0"/>
              </a:rPr>
              <a:t>분에 배가 가장 밀집되어있는 곳은 어디야</a:t>
            </a:r>
            <a:r>
              <a:rPr lang="en-US" altLang="ko-KR" sz="1400">
                <a:latin typeface="Segoe UI" panose="020B0502040204020203" pitchFamily="34" charset="0"/>
              </a:rPr>
              <a:t>?</a:t>
            </a:r>
            <a:endParaRPr lang="en-US" altLang="ko-KR" sz="1400" i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991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11CD726-896A-472F-BD4C-3606B5B6BF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029" y="1079994"/>
            <a:ext cx="8709083" cy="57777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BAC28C-0945-44A3-8DC4-0E6435A45038}"/>
              </a:ext>
            </a:extLst>
          </p:cNvPr>
          <p:cNvSpPr txBox="1"/>
          <p:nvPr/>
        </p:nvSpPr>
        <p:spPr>
          <a:xfrm>
            <a:off x="3823125" y="1994151"/>
            <a:ext cx="20014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패킷 전송</a:t>
            </a:r>
            <a:endParaRPr lang="en-US" altLang="ko-KR" sz="1200"/>
          </a:p>
          <a:p>
            <a:r>
              <a:rPr lang="ko-KR" altLang="en-US" sz="1200"/>
              <a:t>서버</a:t>
            </a:r>
            <a:r>
              <a:rPr lang="en-US" altLang="ko-KR" sz="1200"/>
              <a:t>-</a:t>
            </a:r>
            <a:r>
              <a:rPr lang="ko-KR" altLang="en-US" sz="1200"/>
              <a:t>클라이언트 </a:t>
            </a:r>
            <a:r>
              <a:rPr lang="en-US" altLang="ko-KR" sz="1200"/>
              <a:t>TCP </a:t>
            </a:r>
            <a:r>
              <a:rPr lang="ko-KR" altLang="en-US" sz="1200"/>
              <a:t>통신</a:t>
            </a:r>
            <a:endParaRPr lang="en-US" altLang="ko-KR" sz="12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4AB67C-78D8-4D54-86A7-0DE2FA6A84DD}"/>
              </a:ext>
            </a:extLst>
          </p:cNvPr>
          <p:cNvSpPr txBox="1"/>
          <p:nvPr/>
        </p:nvSpPr>
        <p:spPr>
          <a:xfrm>
            <a:off x="4035153" y="2905844"/>
            <a:ext cx="20056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- </a:t>
            </a:r>
            <a:r>
              <a:rPr lang="ko-KR" altLang="en-US" sz="1200"/>
              <a:t>패킷 구조화 후 저장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ko-KR" altLang="en-US" sz="1200"/>
              <a:t>실시간 데이터 </a:t>
            </a:r>
            <a:r>
              <a:rPr lang="en-US" altLang="ko-KR" sz="1200"/>
              <a:t>DB</a:t>
            </a:r>
            <a:r>
              <a:rPr lang="ko-KR" altLang="en-US" sz="1200"/>
              <a:t>에</a:t>
            </a:r>
            <a:br>
              <a:rPr lang="en-US" altLang="ko-KR" sz="1200"/>
            </a:br>
            <a:r>
              <a:rPr lang="ko-KR" altLang="en-US" sz="1200"/>
              <a:t>어떻게 쌓을지</a:t>
            </a:r>
            <a:br>
              <a:rPr lang="en-US" altLang="ko-KR" sz="1200"/>
            </a:br>
            <a:r>
              <a:rPr lang="ko-KR" altLang="en-US" sz="1200"/>
              <a:t>구체적인 구현방안 필요</a:t>
            </a:r>
            <a:endParaRPr lang="en-US" altLang="ko-KR" sz="12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EB25A2B-3807-4C6F-AE93-5BD08738FD7B}"/>
              </a:ext>
            </a:extLst>
          </p:cNvPr>
          <p:cNvSpPr txBox="1"/>
          <p:nvPr/>
        </p:nvSpPr>
        <p:spPr>
          <a:xfrm>
            <a:off x="1475027" y="1764413"/>
            <a:ext cx="17748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가공된 패킷 전송</a:t>
            </a:r>
            <a:endParaRPr lang="en-US" altLang="ko-KR" sz="1200"/>
          </a:p>
          <a:p>
            <a:pPr marL="342900" indent="-342900">
              <a:buAutoNum type="arabicPeriod"/>
            </a:pPr>
            <a:r>
              <a:rPr lang="ko-KR" altLang="en-US" sz="1200"/>
              <a:t>위치</a:t>
            </a:r>
            <a:r>
              <a:rPr lang="en-US" altLang="ko-KR" sz="1200"/>
              <a:t>(</a:t>
            </a:r>
            <a:r>
              <a:rPr lang="ko-KR" altLang="en-US" sz="1200"/>
              <a:t>위경도</a:t>
            </a:r>
            <a:r>
              <a:rPr lang="en-US" altLang="ko-KR" sz="1200"/>
              <a:t>)</a:t>
            </a:r>
          </a:p>
          <a:p>
            <a:pPr marL="342900" indent="-342900">
              <a:buAutoNum type="arabicPeriod"/>
            </a:pPr>
            <a:r>
              <a:rPr lang="ko-KR" altLang="en-US" sz="1200"/>
              <a:t>방향</a:t>
            </a:r>
            <a:endParaRPr lang="en-US" altLang="ko-KR" sz="1200"/>
          </a:p>
          <a:p>
            <a:pPr marL="342900" indent="-342900">
              <a:buAutoNum type="arabicPeriod"/>
            </a:pPr>
            <a:r>
              <a:rPr lang="ko-KR" altLang="en-US" sz="1200"/>
              <a:t>탐지범위</a:t>
            </a:r>
            <a:endParaRPr lang="en-US" altLang="ko-KR" sz="1200"/>
          </a:p>
          <a:p>
            <a:pPr marL="342900" indent="-342900">
              <a:buAutoNum type="arabicPeriod"/>
            </a:pPr>
            <a:r>
              <a:rPr lang="en-US" altLang="ko-KR" sz="1200"/>
              <a:t>Mmsi(</a:t>
            </a:r>
            <a:r>
              <a:rPr lang="ko-KR" altLang="en-US" sz="1200"/>
              <a:t>고유식별자</a:t>
            </a:r>
            <a:r>
              <a:rPr lang="en-US" altLang="ko-KR" sz="1200"/>
              <a:t>)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1AF6E08-96F8-443C-9894-C180672FCE70}"/>
              </a:ext>
            </a:extLst>
          </p:cNvPr>
          <p:cNvSpPr txBox="1"/>
          <p:nvPr/>
        </p:nvSpPr>
        <p:spPr>
          <a:xfrm>
            <a:off x="3551657" y="5134331"/>
            <a:ext cx="1433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-</a:t>
            </a:r>
            <a:r>
              <a:rPr lang="ko-KR" altLang="en-US" sz="1200"/>
              <a:t>질문 의도에 맞는</a:t>
            </a:r>
            <a:br>
              <a:rPr lang="en-US" altLang="ko-KR" sz="1200"/>
            </a:br>
            <a:r>
              <a:rPr lang="ko-KR" altLang="en-US" sz="1200"/>
              <a:t>데이터전처리</a:t>
            </a:r>
            <a:endParaRPr lang="en-US" altLang="ko-KR" sz="120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6646941-ED6B-4937-B8C1-07703BA4BF7B}"/>
              </a:ext>
            </a:extLst>
          </p:cNvPr>
          <p:cNvSpPr txBox="1"/>
          <p:nvPr/>
        </p:nvSpPr>
        <p:spPr>
          <a:xfrm>
            <a:off x="5618778" y="5135051"/>
            <a:ext cx="1279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- </a:t>
            </a:r>
            <a:r>
              <a:rPr lang="ko-KR" altLang="en-US" sz="1200"/>
              <a:t>템플릿에 맞게</a:t>
            </a:r>
            <a:br>
              <a:rPr lang="en-US" altLang="ko-KR" sz="1200"/>
            </a:br>
            <a:r>
              <a:rPr lang="ko-KR" altLang="en-US" sz="1200"/>
              <a:t>정보 입력</a:t>
            </a:r>
            <a:endParaRPr lang="en-US" altLang="ko-KR" sz="120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9C57CD80-C833-4450-BFCC-63B327B8AED7}"/>
              </a:ext>
            </a:extLst>
          </p:cNvPr>
          <p:cNvSpPr txBox="1"/>
          <p:nvPr/>
        </p:nvSpPr>
        <p:spPr>
          <a:xfrm>
            <a:off x="8003516" y="4341670"/>
            <a:ext cx="1230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기존 </a:t>
            </a:r>
            <a:r>
              <a:rPr lang="en-US" altLang="ko-KR" sz="1200"/>
              <a:t>report</a:t>
            </a:r>
          </a:p>
          <a:p>
            <a:r>
              <a:rPr lang="ko-KR" altLang="en-US" sz="1200"/>
              <a:t>형식대로</a:t>
            </a:r>
            <a:br>
              <a:rPr lang="en-US" altLang="ko-KR" sz="1200"/>
            </a:br>
            <a:r>
              <a:rPr lang="ko-KR" altLang="en-US" sz="1200"/>
              <a:t>답변생성</a:t>
            </a:r>
            <a:endParaRPr lang="en-US" altLang="ko-KR" sz="120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5E24949-7362-4D19-800C-EF791ABA240C}"/>
              </a:ext>
            </a:extLst>
          </p:cNvPr>
          <p:cNvSpPr txBox="1"/>
          <p:nvPr/>
        </p:nvSpPr>
        <p:spPr>
          <a:xfrm>
            <a:off x="4054556" y="1338014"/>
            <a:ext cx="13356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-</a:t>
            </a:r>
            <a:r>
              <a:rPr lang="ko-KR" altLang="en-US" sz="1400"/>
              <a:t>시간배속기능</a:t>
            </a:r>
            <a:endParaRPr lang="en-US" altLang="ko-KR" sz="14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A6D5C0C-A5E8-4577-85F2-122418ADE469}"/>
              </a:ext>
            </a:extLst>
          </p:cNvPr>
          <p:cNvSpPr txBox="1"/>
          <p:nvPr/>
        </p:nvSpPr>
        <p:spPr>
          <a:xfrm>
            <a:off x="4517428" y="4013274"/>
            <a:ext cx="1284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사용자 질문이</a:t>
            </a:r>
            <a:endParaRPr lang="en-US" altLang="ko-KR" sz="1200"/>
          </a:p>
          <a:p>
            <a:r>
              <a:rPr lang="en-US" altLang="ko-KR" sz="1200"/>
              <a:t>SQL</a:t>
            </a:r>
            <a:r>
              <a:rPr lang="ko-KR" altLang="en-US" sz="1200"/>
              <a:t>쿼리로 변환</a:t>
            </a:r>
            <a:endParaRPr lang="en-US" altLang="ko-KR" sz="12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6889027-453A-4BA8-993D-C5AEA520DA09}"/>
              </a:ext>
            </a:extLst>
          </p:cNvPr>
          <p:cNvSpPr txBox="1"/>
          <p:nvPr/>
        </p:nvSpPr>
        <p:spPr>
          <a:xfrm>
            <a:off x="218235" y="169847"/>
            <a:ext cx="58777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2. AIS 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대용량 </a:t>
            </a:r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Big Data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기반 워게임 패킷생성 시뮬레이터 개발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29D9A5-4925-4301-B3C8-F028FA2778EE}"/>
              </a:ext>
            </a:extLst>
          </p:cNvPr>
          <p:cNvSpPr txBox="1"/>
          <p:nvPr/>
        </p:nvSpPr>
        <p:spPr>
          <a:xfrm>
            <a:off x="5707515" y="1138350"/>
            <a:ext cx="39549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400" i="0">
                <a:effectLst/>
                <a:latin typeface="Segoe UI" panose="020B0502040204020203" pitchFamily="34" charset="0"/>
              </a:rPr>
              <a:t>예상 질문</a:t>
            </a:r>
            <a:endParaRPr lang="en-US" altLang="ko-KR" sz="1400" i="0">
              <a:effectLst/>
              <a:latin typeface="Segoe UI" panose="020B0502040204020203" pitchFamily="34" charset="0"/>
            </a:endParaRPr>
          </a:p>
          <a:p>
            <a:pPr marL="228600" indent="-228600" algn="l">
              <a:buAutoNum type="arabicPeriod"/>
            </a:pPr>
            <a:r>
              <a:rPr lang="ko-KR" altLang="en-US" sz="1400">
                <a:latin typeface="Segoe UI" panose="020B0502040204020203" pitchFamily="34" charset="0"/>
              </a:rPr>
              <a:t>지덕칠함의 이동패턴은 어떻게 돼</a:t>
            </a:r>
            <a:r>
              <a:rPr lang="en-US" altLang="ko-KR" sz="1400">
                <a:latin typeface="Segoe UI" panose="020B0502040204020203" pitchFamily="34" charset="0"/>
              </a:rPr>
              <a:t>?</a:t>
            </a:r>
          </a:p>
          <a:p>
            <a:pPr marL="228600" indent="-228600" algn="l">
              <a:buAutoNum type="arabicPeriod"/>
            </a:pPr>
            <a:r>
              <a:rPr lang="ko-KR" altLang="en-US" sz="1400" i="0">
                <a:effectLst/>
                <a:latin typeface="Segoe UI" panose="020B0502040204020203" pitchFamily="34" charset="0"/>
              </a:rPr>
              <a:t>어떤 배가 가장 먼 거리를 이동했어</a:t>
            </a:r>
            <a:r>
              <a:rPr lang="en-US" altLang="ko-KR" sz="1400" i="0">
                <a:effectLst/>
                <a:latin typeface="Segoe UI" panose="020B0502040204020203" pitchFamily="34" charset="0"/>
              </a:rPr>
              <a:t>??</a:t>
            </a:r>
          </a:p>
          <a:p>
            <a:pPr marL="228600" indent="-228600" algn="l">
              <a:buAutoNum type="arabicPeriod"/>
            </a:pPr>
            <a:r>
              <a:rPr lang="ko-KR" altLang="en-US" sz="1400">
                <a:latin typeface="Segoe UI" panose="020B0502040204020203" pitchFamily="34" charset="0"/>
              </a:rPr>
              <a:t>가장 많은 배가 다니는 수로가 어디야</a:t>
            </a:r>
            <a:r>
              <a:rPr lang="en-US" altLang="ko-KR" sz="1400">
                <a:latin typeface="Segoe UI" panose="020B0502040204020203" pitchFamily="34" charset="0"/>
              </a:rPr>
              <a:t>?</a:t>
            </a:r>
          </a:p>
          <a:p>
            <a:pPr marL="228600" indent="-228600" algn="l">
              <a:buAutoNum type="arabicPeriod"/>
            </a:pPr>
            <a:r>
              <a:rPr lang="en-US" altLang="ko-KR" sz="1400">
                <a:latin typeface="Segoe UI" panose="020B0502040204020203" pitchFamily="34" charset="0"/>
              </a:rPr>
              <a:t>00</a:t>
            </a:r>
            <a:r>
              <a:rPr lang="ko-KR" altLang="en-US" sz="1400">
                <a:latin typeface="Segoe UI" panose="020B0502040204020203" pitchFamily="34" charset="0"/>
              </a:rPr>
              <a:t>시 </a:t>
            </a:r>
            <a:r>
              <a:rPr lang="en-US" altLang="ko-KR" sz="1400">
                <a:latin typeface="Segoe UI" panose="020B0502040204020203" pitchFamily="34" charset="0"/>
              </a:rPr>
              <a:t>00</a:t>
            </a:r>
            <a:r>
              <a:rPr lang="ko-KR" altLang="en-US" sz="1400">
                <a:latin typeface="Segoe UI" panose="020B0502040204020203" pitchFamily="34" charset="0"/>
              </a:rPr>
              <a:t>분에 배가 가장 밀집되어 있는</a:t>
            </a:r>
            <a:br>
              <a:rPr lang="en-US" altLang="ko-KR" sz="1400">
                <a:latin typeface="Segoe UI" panose="020B0502040204020203" pitchFamily="34" charset="0"/>
              </a:rPr>
            </a:br>
            <a:r>
              <a:rPr lang="ko-KR" altLang="en-US" sz="1400">
                <a:latin typeface="Segoe UI" panose="020B0502040204020203" pitchFamily="34" charset="0"/>
              </a:rPr>
              <a:t>곳은 어디야</a:t>
            </a:r>
            <a:r>
              <a:rPr lang="en-US" altLang="ko-KR" sz="1400">
                <a:latin typeface="Segoe UI" panose="020B0502040204020203" pitchFamily="34" charset="0"/>
              </a:rPr>
              <a:t>?</a:t>
            </a:r>
            <a:endParaRPr lang="en-US" altLang="ko-KR" sz="1400" i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472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86889027-453A-4BA8-993D-C5AEA520DA09}"/>
              </a:ext>
            </a:extLst>
          </p:cNvPr>
          <p:cNvSpPr txBox="1"/>
          <p:nvPr/>
        </p:nvSpPr>
        <p:spPr>
          <a:xfrm>
            <a:off x="218235" y="169847"/>
            <a:ext cx="5877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3. 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논문아이디어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867145-43CC-45B6-A331-FBA297527F7C}"/>
              </a:ext>
            </a:extLst>
          </p:cNvPr>
          <p:cNvSpPr txBox="1"/>
          <p:nvPr/>
        </p:nvSpPr>
        <p:spPr>
          <a:xfrm>
            <a:off x="1290804" y="1017538"/>
            <a:ext cx="9610388" cy="4822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250000"/>
              </a:lnSpc>
              <a:buFont typeface="+mj-lt"/>
              <a:buAutoNum type="arabicPeriod"/>
            </a:pPr>
            <a:r>
              <a:rPr lang="ko-KR" altLang="en-US" b="0" i="0">
                <a:effectLst/>
                <a:latin typeface="Roboto" panose="020B0604020202020204" pitchFamily="2" charset="0"/>
              </a:rPr>
              <a:t>군사 교육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·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훈련 및 워게임 운용을 위한 전장 상황 인식 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Agents 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개발 방안 연구 </a:t>
            </a:r>
          </a:p>
          <a:p>
            <a:pPr algn="l">
              <a:lnSpc>
                <a:spcPct val="250000"/>
              </a:lnSpc>
              <a:buFont typeface="+mj-lt"/>
              <a:buAutoNum type="arabicPeriod"/>
            </a:pPr>
            <a:r>
              <a:rPr lang="ko-KR" altLang="en-US" b="0" i="0">
                <a:effectLst/>
                <a:latin typeface="Roboto" panose="020B0604020202020204" pitchFamily="2" charset="0"/>
              </a:rPr>
              <a:t>이미지 및 테이블 정보 분석을 위한 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Multimodal SLLM 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통합 방안 연구</a:t>
            </a:r>
          </a:p>
          <a:p>
            <a:pPr algn="l">
              <a:lnSpc>
                <a:spcPct val="250000"/>
              </a:lnSpc>
              <a:buFont typeface="+mj-lt"/>
              <a:buAutoNum type="arabicPeriod"/>
            </a:pPr>
            <a:r>
              <a:rPr lang="en-US" altLang="ko-KR" b="0" i="0">
                <a:effectLst/>
                <a:latin typeface="Roboto" panose="020B0604020202020204" pitchFamily="2" charset="0"/>
              </a:rPr>
              <a:t>GIS 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기반 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Geospatial Agent 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개발 방안 연구</a:t>
            </a:r>
          </a:p>
          <a:p>
            <a:pPr algn="l">
              <a:lnSpc>
                <a:spcPct val="250000"/>
              </a:lnSpc>
              <a:buFont typeface="+mj-lt"/>
              <a:buAutoNum type="arabicPeriod"/>
            </a:pPr>
            <a:r>
              <a:rPr lang="ko-KR" altLang="en-US" b="0" i="0">
                <a:effectLst/>
                <a:latin typeface="Roboto" panose="020B0604020202020204" pitchFamily="2" charset="0"/>
              </a:rPr>
              <a:t>방책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(COA, Course of Action) 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생성을 통한 지휘관 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MDMP(Military Decision Making Process)</a:t>
            </a:r>
            <a:br>
              <a:rPr lang="en-US" altLang="ko-KR" b="0" i="0">
                <a:effectLst/>
                <a:latin typeface="Roboto" panose="020B0604020202020204" pitchFamily="2" charset="0"/>
              </a:rPr>
            </a:br>
            <a:r>
              <a:rPr lang="en-US" altLang="ko-KR" b="0" i="0">
                <a:effectLst/>
                <a:latin typeface="Roboto" panose="020B0604020202020204" pitchFamily="2" charset="0"/>
              </a:rPr>
              <a:t>    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지원 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Agent 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기능 구현 연구</a:t>
            </a:r>
          </a:p>
          <a:p>
            <a:pPr algn="l">
              <a:lnSpc>
                <a:spcPct val="250000"/>
              </a:lnSpc>
              <a:buFont typeface="+mj-lt"/>
              <a:buAutoNum type="arabicPeriod"/>
            </a:pPr>
            <a:r>
              <a:rPr lang="ko-KR" altLang="en-US" b="0" i="0">
                <a:effectLst/>
                <a:latin typeface="Roboto" panose="020B0604020202020204" pitchFamily="2" charset="0"/>
              </a:rPr>
              <a:t>모델 미세조정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(Fine-tuning)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을 통한 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Military 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특화 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LLM 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개발 방안 연구</a:t>
            </a:r>
          </a:p>
          <a:p>
            <a:pPr algn="l">
              <a:lnSpc>
                <a:spcPct val="250000"/>
              </a:lnSpc>
              <a:buFont typeface="+mj-lt"/>
              <a:buAutoNum type="arabicPeriod"/>
            </a:pPr>
            <a:r>
              <a:rPr lang="ko-KR" altLang="en-US" b="0" i="0">
                <a:effectLst/>
                <a:latin typeface="Roboto" panose="020B0604020202020204" pitchFamily="2" charset="0"/>
              </a:rPr>
              <a:t>지식 그래프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(Knowledge Graph) 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기반 </a:t>
            </a:r>
            <a:r>
              <a:rPr lang="en-US" altLang="ko-KR" b="0" i="0">
                <a:effectLst/>
                <a:latin typeface="Roboto" panose="020B0604020202020204" pitchFamily="2" charset="0"/>
              </a:rPr>
              <a:t>RAG </a:t>
            </a:r>
            <a:r>
              <a:rPr lang="ko-KR" altLang="en-US" b="0" i="0">
                <a:effectLst/>
                <a:latin typeface="Roboto" panose="020B0604020202020204" pitchFamily="2" charset="0"/>
              </a:rPr>
              <a:t>시스템 고도화 방안 연구</a:t>
            </a:r>
          </a:p>
        </p:txBody>
      </p:sp>
    </p:spTree>
    <p:extLst>
      <p:ext uri="{BB962C8B-B14F-4D97-AF65-F5344CB8AC3E}">
        <p14:creationId xmlns:p14="http://schemas.microsoft.com/office/powerpoint/2010/main" val="772416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86889027-453A-4BA8-993D-C5AEA520DA09}"/>
              </a:ext>
            </a:extLst>
          </p:cNvPr>
          <p:cNvSpPr txBox="1"/>
          <p:nvPr/>
        </p:nvSpPr>
        <p:spPr>
          <a:xfrm>
            <a:off x="218235" y="169847"/>
            <a:ext cx="2296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4. </a:t>
            </a:r>
            <a:r>
              <a:rPr lang="ko-KR" altLang="en-US" sz="2800">
                <a:solidFill>
                  <a:srgbClr val="00206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건의사항</a:t>
            </a:r>
            <a:endParaRPr lang="ko-KR" altLang="en-US" sz="2800" dirty="0">
              <a:solidFill>
                <a:srgbClr val="00206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9A5BB29-995C-42B4-AD38-AE158742F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97" y="993499"/>
            <a:ext cx="4538594" cy="28595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27A1EE-641D-4696-ABF3-4C473B2FF2F2}"/>
              </a:ext>
            </a:extLst>
          </p:cNvPr>
          <p:cNvSpPr txBox="1"/>
          <p:nvPr/>
        </p:nvSpPr>
        <p:spPr>
          <a:xfrm>
            <a:off x="323512" y="3853017"/>
            <a:ext cx="58838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/>
              <a:t>1. </a:t>
            </a:r>
            <a:r>
              <a:rPr lang="ko-KR" altLang="en-US" sz="1200" b="1"/>
              <a:t>개인용 </a:t>
            </a:r>
            <a:r>
              <a:rPr lang="en-US" altLang="ko-KR" sz="1200" b="1"/>
              <a:t>AI Premium (</a:t>
            </a:r>
            <a:r>
              <a:rPr lang="ko-KR" altLang="en-US" sz="1200" b="1"/>
              <a:t>기록 중지 시</a:t>
            </a:r>
            <a:r>
              <a:rPr lang="en-US" altLang="ko-KR" sz="1200" b="1"/>
              <a:t>)</a:t>
            </a:r>
          </a:p>
          <a:p>
            <a:r>
              <a:rPr lang="ko-KR" altLang="en-US" sz="1200"/>
              <a:t>개인용 계정에서 </a:t>
            </a:r>
            <a:r>
              <a:rPr lang="en-US" altLang="ko-KR" sz="1200"/>
              <a:t>'</a:t>
            </a:r>
            <a:r>
              <a:rPr lang="ko-KR" altLang="en-US" sz="1200"/>
              <a:t>활동 보관 기록</a:t>
            </a:r>
            <a:r>
              <a:rPr lang="en-US" altLang="ko-KR" sz="1200"/>
              <a:t>'</a:t>
            </a:r>
            <a:r>
              <a:rPr lang="ko-KR" altLang="en-US" sz="1200"/>
              <a:t>을 끄면 다음과 같은 상황이 발생합니다</a:t>
            </a:r>
            <a:r>
              <a:rPr lang="en-US" altLang="ko-KR" sz="12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200" b="1"/>
              <a:t>휘발성 대화</a:t>
            </a:r>
            <a:r>
              <a:rPr lang="en-US" altLang="ko-KR" sz="1200" b="1"/>
              <a:t>:</a:t>
            </a:r>
            <a:r>
              <a:rPr lang="ko-KR" altLang="en-US" sz="1200"/>
              <a:t> 채팅창을 닫거나 일정 시간이 지나면 이전 대화 목록에서 사라집니다</a:t>
            </a:r>
            <a:r>
              <a:rPr lang="en-US" altLang="ko-KR" sz="1200"/>
              <a:t>. (</a:t>
            </a:r>
            <a:r>
              <a:rPr lang="ko-KR" altLang="en-US" sz="1200"/>
              <a:t>구글 서버에는 서비스 운영 및 보안 검토를 위해 </a:t>
            </a:r>
            <a:r>
              <a:rPr lang="ko-KR" altLang="en-US" sz="1200" b="1"/>
              <a:t>최대 </a:t>
            </a:r>
            <a:r>
              <a:rPr lang="en-US" altLang="ko-KR" sz="1200" b="1"/>
              <a:t>72</a:t>
            </a:r>
            <a:r>
              <a:rPr lang="ko-KR" altLang="en-US" sz="1200" b="1"/>
              <a:t>시간</a:t>
            </a:r>
            <a:r>
              <a:rPr lang="ko-KR" altLang="en-US" sz="1200"/>
              <a:t> 동안만 임시 보관된 후 삭제됩니다</a:t>
            </a:r>
            <a:r>
              <a:rPr lang="en-US" altLang="ko-KR" sz="1200"/>
              <a:t>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200" b="1"/>
              <a:t>학습 제외</a:t>
            </a:r>
            <a:r>
              <a:rPr lang="en-US" altLang="ko-KR" sz="1200" b="1"/>
              <a:t>:</a:t>
            </a:r>
            <a:r>
              <a:rPr lang="ko-KR" altLang="en-US" sz="1200"/>
              <a:t> 대신</a:t>
            </a:r>
            <a:r>
              <a:rPr lang="en-US" altLang="ko-KR" sz="1200"/>
              <a:t>, </a:t>
            </a:r>
            <a:r>
              <a:rPr lang="ko-KR" altLang="en-US" sz="1200"/>
              <a:t>구글은 이 데이터를 </a:t>
            </a:r>
            <a:r>
              <a:rPr lang="en-US" altLang="ko-KR" sz="1200"/>
              <a:t>AI </a:t>
            </a:r>
            <a:r>
              <a:rPr lang="ko-KR" altLang="en-US" sz="1200"/>
              <a:t>모델 학습용으로 쓰지 않습니다</a:t>
            </a:r>
            <a:r>
              <a:rPr lang="en-US" altLang="ko-KR" sz="12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200" b="1"/>
              <a:t>불편함</a:t>
            </a:r>
            <a:r>
              <a:rPr lang="en-US" altLang="ko-KR" sz="1200" b="1"/>
              <a:t>:</a:t>
            </a:r>
            <a:r>
              <a:rPr lang="ko-KR" altLang="en-US" sz="1200"/>
              <a:t> 과거에 나누었던 유익한 정보나 코드</a:t>
            </a:r>
            <a:r>
              <a:rPr lang="en-US" altLang="ko-KR" sz="1200"/>
              <a:t>, </a:t>
            </a:r>
            <a:r>
              <a:rPr lang="ko-KR" altLang="en-US" sz="1200"/>
              <a:t>기획안 등을 나중에 다시 찾아볼 수 없습니다</a:t>
            </a:r>
            <a:r>
              <a:rPr lang="en-US" altLang="ko-KR" sz="1200"/>
              <a:t>. </a:t>
            </a:r>
            <a:r>
              <a:rPr lang="ko-KR" altLang="en-US" sz="1200"/>
              <a:t>즉</a:t>
            </a:r>
            <a:r>
              <a:rPr lang="en-US" altLang="ko-KR" sz="1200"/>
              <a:t>, **"</a:t>
            </a:r>
            <a:r>
              <a:rPr lang="ko-KR" altLang="en-US" sz="1200"/>
              <a:t>보안을 선택하면 기록</a:t>
            </a:r>
            <a:r>
              <a:rPr lang="en-US" altLang="ko-KR" sz="1200"/>
              <a:t>(</a:t>
            </a:r>
            <a:r>
              <a:rPr lang="ko-KR" altLang="en-US" sz="1200"/>
              <a:t>편의성</a:t>
            </a:r>
            <a:r>
              <a:rPr lang="en-US" altLang="ko-KR" sz="1200"/>
              <a:t>)</a:t>
            </a:r>
            <a:r>
              <a:rPr lang="ko-KR" altLang="en-US" sz="1200"/>
              <a:t>을 포기해야 하는 구조</a:t>
            </a:r>
            <a:r>
              <a:rPr lang="en-US" altLang="ko-KR" sz="1200"/>
              <a:t>"**</a:t>
            </a:r>
            <a:r>
              <a:rPr lang="ko-KR" altLang="en-US" sz="1200"/>
              <a:t>입니다</a:t>
            </a:r>
            <a:r>
              <a:rPr lang="en-US" altLang="ko-KR" sz="1200"/>
              <a:t>.</a:t>
            </a:r>
          </a:p>
          <a:p>
            <a:r>
              <a:rPr lang="en-US" altLang="ko-KR" sz="1200" b="1"/>
              <a:t>2. </a:t>
            </a:r>
            <a:r>
              <a:rPr lang="ko-KR" altLang="en-US" sz="1200" b="1"/>
              <a:t>비즈니스용 </a:t>
            </a:r>
            <a:r>
              <a:rPr lang="en-US" altLang="ko-KR" sz="1200" b="1"/>
              <a:t>Workspace (Gemini Business/Enterprise)</a:t>
            </a:r>
          </a:p>
          <a:p>
            <a:r>
              <a:rPr lang="ko-KR" altLang="en-US" sz="1200"/>
              <a:t>기업용 요금제는 구조 자체가 다릅니다</a:t>
            </a:r>
            <a:r>
              <a:rPr lang="en-US" altLang="ko-KR" sz="12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200" b="1"/>
              <a:t>기록 유지 </a:t>
            </a:r>
            <a:r>
              <a:rPr lang="en-US" altLang="ko-KR" sz="1200" b="1"/>
              <a:t>+ </a:t>
            </a:r>
            <a:r>
              <a:rPr lang="ko-KR" altLang="en-US" sz="1200" b="1"/>
              <a:t>학습 제외</a:t>
            </a:r>
            <a:r>
              <a:rPr lang="en-US" altLang="ko-KR" sz="1200" b="1"/>
              <a:t>:</a:t>
            </a:r>
            <a:r>
              <a:rPr lang="ko-KR" altLang="en-US" sz="1200"/>
              <a:t> 기업용은 </a:t>
            </a:r>
            <a:r>
              <a:rPr lang="ko-KR" altLang="en-US" sz="1200" b="1"/>
              <a:t>활동 기록을 켜두어도 구글이 그 데이터를 </a:t>
            </a:r>
            <a:r>
              <a:rPr lang="en-US" altLang="ko-KR" sz="1200" b="1"/>
              <a:t>AI </a:t>
            </a:r>
            <a:r>
              <a:rPr lang="ko-KR" altLang="en-US" sz="1200" b="1"/>
              <a:t>학습에 절대 사용하지 않습니다</a:t>
            </a:r>
            <a:r>
              <a:rPr lang="en-US" altLang="ko-KR" sz="1200" b="1"/>
              <a:t>.</a:t>
            </a:r>
            <a:r>
              <a:rPr lang="ko-KR" altLang="en-US" sz="1200"/>
              <a:t> * </a:t>
            </a:r>
            <a:r>
              <a:rPr lang="ko-KR" altLang="en-US" sz="1200" b="1"/>
              <a:t>영구 보관</a:t>
            </a:r>
            <a:r>
              <a:rPr lang="en-US" altLang="ko-KR" sz="1200" b="1"/>
              <a:t>:</a:t>
            </a:r>
            <a:r>
              <a:rPr lang="ko-KR" altLang="en-US" sz="1200"/>
              <a:t> 사용자는 과거의 모든 채팅 기록을 언제든 다시 열어볼 수 있고</a:t>
            </a:r>
            <a:r>
              <a:rPr lang="en-US" altLang="ko-KR" sz="1200"/>
              <a:t>, </a:t>
            </a:r>
            <a:r>
              <a:rPr lang="ko-KR" altLang="en-US" sz="1200"/>
              <a:t>이전 맥락을 이어서 대화할 수 있습니다</a:t>
            </a:r>
            <a:r>
              <a:rPr lang="en-US" altLang="ko-KR" sz="12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200" b="1"/>
              <a:t>관리 권한</a:t>
            </a:r>
            <a:r>
              <a:rPr lang="en-US" altLang="ko-KR" sz="1200" b="1"/>
              <a:t>:</a:t>
            </a:r>
            <a:r>
              <a:rPr lang="ko-KR" altLang="en-US" sz="1200"/>
              <a:t> 기업 관리자</a:t>
            </a:r>
            <a:r>
              <a:rPr lang="en-US" altLang="ko-KR" sz="1200"/>
              <a:t>(Admin) </a:t>
            </a:r>
            <a:r>
              <a:rPr lang="ko-KR" altLang="en-US" sz="1200"/>
              <a:t>설정에 따라 기록 보관 기간</a:t>
            </a:r>
            <a:r>
              <a:rPr lang="en-US" altLang="ko-KR" sz="1200"/>
              <a:t>(</a:t>
            </a:r>
            <a:r>
              <a:rPr lang="ko-KR" altLang="en-US" sz="1200"/>
              <a:t>예</a:t>
            </a:r>
            <a:r>
              <a:rPr lang="en-US" altLang="ko-KR" sz="1200"/>
              <a:t>: 18</a:t>
            </a:r>
            <a:r>
              <a:rPr lang="ko-KR" altLang="en-US" sz="1200"/>
              <a:t>개월</a:t>
            </a:r>
            <a:r>
              <a:rPr lang="en-US" altLang="ko-KR" sz="1200"/>
              <a:t>, 36</a:t>
            </a:r>
            <a:r>
              <a:rPr lang="ko-KR" altLang="en-US" sz="1200"/>
              <a:t>개월 또는 무기한</a:t>
            </a:r>
            <a:r>
              <a:rPr lang="en-US" altLang="ko-KR" sz="1200"/>
              <a:t>)</a:t>
            </a:r>
            <a:r>
              <a:rPr lang="ko-KR" altLang="en-US" sz="1200"/>
              <a:t>을 조직 전체 정책에 맞춰 조절할 수 있습니다</a:t>
            </a:r>
            <a:r>
              <a:rPr lang="en-US" altLang="ko-KR" sz="120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7F455DB-2A05-4A40-BDAD-1D632E4EF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084" y="993499"/>
            <a:ext cx="5819505" cy="285951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AB371B0-2489-4C3D-A501-570D31DC44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4084" y="4030292"/>
            <a:ext cx="2875085" cy="15128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06286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2822</TotalTime>
  <Words>925</Words>
  <Application>Microsoft Office PowerPoint</Application>
  <PresentationFormat>와이드스크린</PresentationFormat>
  <Paragraphs>160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맑은 고딕</vt:lpstr>
      <vt:lpstr>휴먼둥근헤드라인</vt:lpstr>
      <vt:lpstr>Arial</vt:lpstr>
      <vt:lpstr>Roboto</vt:lpstr>
      <vt:lpstr>Segoe UI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changsu lee</dc:creator>
  <cp:lastModifiedBy>changsu lee</cp:lastModifiedBy>
  <cp:revision>75</cp:revision>
  <dcterms:created xsi:type="dcterms:W3CDTF">2026-01-21T01:49:08Z</dcterms:created>
  <dcterms:modified xsi:type="dcterms:W3CDTF">2026-01-26T07:27:46Z</dcterms:modified>
</cp:coreProperties>
</file>