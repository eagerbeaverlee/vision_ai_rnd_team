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1" r:id="rId3"/>
    <p:sldId id="266" r:id="rId4"/>
    <p:sldId id="256" r:id="rId5"/>
    <p:sldId id="267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F9000"/>
    <a:srgbClr val="B18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B3F2A-AE29-4F5B-A250-F27A3FDE7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A89337-408C-4A0F-AF31-394EB8C73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02B793-6D07-4339-8DE0-C323EC47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AA3757-3CBC-4C69-B852-4F22A99A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33F6F-A15B-48A0-8932-BBECDEB4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507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C62A-C68A-40CF-8589-7E7E6593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CFB6A-E62D-4E00-B130-ABEEC98D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C48C89-7723-41AD-A0F8-3820A605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14119-C03B-4E02-8E36-749CEF4C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E4127-C877-4BFB-8738-E49D912D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83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1624D-2835-4904-831F-55E7790D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AD342C-A977-41D2-A012-91AFB8FAB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85AAF-9B89-4429-A1A5-A3A64DE8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B248A-E6E5-4D9C-A544-F609A947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7ABB59-DB45-4993-8831-0FFE3E77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23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96A13-D24E-4B88-9245-36ACEF7E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20831-93AC-45D3-B119-DE25237B6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D2A40D-4E3C-43CA-AE6D-82C611285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C2D538-449B-4C3A-B53C-7DE79D51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72BA93-071B-47AA-A3E7-7D3D4143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9BA8D2-5B52-4241-A473-43691414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22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4ABD7-37D0-4DE8-8978-56C256169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A0E459-5ED9-4FA3-8A5C-838B49058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C96488-3E17-482C-97D9-605EB4773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445C76-7971-497F-91E4-EF0E14D39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C7BCBB-9FBF-478E-9574-A03F73F2C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4ED4D1-6E8D-4F06-A223-29654C7A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7840C6-2DDD-4936-B859-065E7678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AACA74-245F-41D8-9E2E-6D4183E4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621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2E728-0108-4850-A6C2-0C2A80637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B39809-DE8C-459D-9D98-331B1667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2B14A2-17B5-4A8A-8332-6976E6B3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A5BE37-4F2C-4915-BE90-B5A832C2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119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B54803-DA87-40E2-9FA2-09BEB943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01872B-F0A4-4709-AA00-4A6CE3FF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C2C4D-07BB-4A36-9093-BE967B9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7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A9899-40D5-4C91-A67A-A093619D7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5E8BDF-B9B9-4AB5-A8EC-C1BE7C03E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AD5709-E8C0-4A73-8520-C166EFD30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6CBDB-A7EE-4D70-9814-8ED20BCC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F568B4-BEEE-4801-A933-B3CE9297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BF6B2-0286-4D34-BDE3-9523F1CA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9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D2CD8-9E8A-45B1-B30F-CC784A9A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2A1681-92BD-4406-BA91-4FA9910A9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D87747-D7BC-4608-B482-1717359D2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14F246-EC6F-4530-BAE3-52AFC770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5219E0-EA2E-4431-A095-3ED349CD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126BB8-CF55-41BB-A27D-B0EA4F51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387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07ECB-6CC9-428B-8243-3196BBB6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33809-FB4E-4DE6-9202-88A655BBD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62C74-644A-4B08-9533-A850A551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A0C18E-24AF-4EA0-AD91-95C097B4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B9A563-7803-428E-BA64-B8318801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35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4DB79C-795E-472D-A813-4BA077059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1B22FF-9D46-4D8B-94C6-07C358C08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A17BF-AD23-46EA-9F77-71412415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A4CEF-6AC3-439B-8D7F-69143C2D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81D5A-59BF-4A5E-B456-4AE90E00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40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0103E6-67DF-41F9-B7F4-80E0443C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146BE3-4FA6-445C-9B61-3FD898483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2F19D-7530-47D9-B464-5C5205FC0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557D2-8FD4-4216-A37E-6B0C9F938144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3B8FF-46F1-4A84-AF5F-234E02696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52C62-88C2-4E2C-A58A-EE8AE926C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7655A0-DE48-4762-B9DB-18FC5B7B360F}"/>
              </a:ext>
            </a:extLst>
          </p:cNvPr>
          <p:cNvSpPr txBox="1"/>
          <p:nvPr/>
        </p:nvSpPr>
        <p:spPr>
          <a:xfrm>
            <a:off x="218236" y="169847"/>
            <a:ext cx="215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연간계획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8A5BFB7-E1BE-4CC5-A87B-1771B577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508" y="0"/>
            <a:ext cx="9187751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1A4487-7D70-4657-ABB5-26DACCAC25D4}"/>
              </a:ext>
            </a:extLst>
          </p:cNvPr>
          <p:cNvSpPr/>
          <p:nvPr/>
        </p:nvSpPr>
        <p:spPr>
          <a:xfrm>
            <a:off x="3750553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2">
                    <a:lumMod val="75000"/>
                  </a:schemeClr>
                </a:solidFill>
              </a:rPr>
              <a:t>Sprint3</a:t>
            </a:r>
            <a:endParaRPr lang="ko-KR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C64FCC-4151-4CB8-BD28-F62859F620D1}"/>
              </a:ext>
            </a:extLst>
          </p:cNvPr>
          <p:cNvSpPr/>
          <p:nvPr/>
        </p:nvSpPr>
        <p:spPr>
          <a:xfrm>
            <a:off x="4983572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</a:rPr>
              <a:t>Sprint4</a:t>
            </a:r>
            <a:endParaRPr lang="ko-KR" altLang="en-US" sz="16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AABC7B-B6C9-4671-88CB-2B284D9D36F8}"/>
              </a:ext>
            </a:extLst>
          </p:cNvPr>
          <p:cNvSpPr/>
          <p:nvPr/>
        </p:nvSpPr>
        <p:spPr>
          <a:xfrm>
            <a:off x="621659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rgbClr val="B18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B189C3"/>
                </a:solidFill>
              </a:rPr>
              <a:t>Sprint5</a:t>
            </a:r>
            <a:endParaRPr lang="ko-KR" altLang="en-US" sz="1600" b="1">
              <a:solidFill>
                <a:srgbClr val="B189C3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D36A0B-A6BF-47B0-8465-1C61B98E1CFA}"/>
              </a:ext>
            </a:extLst>
          </p:cNvPr>
          <p:cNvSpPr/>
          <p:nvPr/>
        </p:nvSpPr>
        <p:spPr>
          <a:xfrm>
            <a:off x="744961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4">
                    <a:lumMod val="75000"/>
                  </a:schemeClr>
                </a:solidFill>
              </a:rPr>
              <a:t>Sprint6</a:t>
            </a:r>
            <a:endParaRPr lang="ko-KR" altLang="en-US" sz="16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53047E-94AA-496F-A48B-E74E1B78A9FB}"/>
              </a:ext>
            </a:extLst>
          </p:cNvPr>
          <p:cNvSpPr/>
          <p:nvPr/>
        </p:nvSpPr>
        <p:spPr>
          <a:xfrm>
            <a:off x="2517534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1">
                    <a:lumMod val="75000"/>
                  </a:schemeClr>
                </a:solidFill>
              </a:rPr>
              <a:t>~Sprint2</a:t>
            </a:r>
            <a:endParaRPr lang="ko-KR" altLang="en-US" sz="16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6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07302E1-1FE1-446A-9B93-0F8CFFBB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074" y="437698"/>
            <a:ext cx="5946780" cy="41499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546F9A-52D0-4956-A246-64990607F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578" y="4053553"/>
            <a:ext cx="5059509" cy="243325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5088F3D-38DB-4558-845D-E3E7F6F1AA47}"/>
              </a:ext>
            </a:extLst>
          </p:cNvPr>
          <p:cNvSpPr/>
          <p:nvPr/>
        </p:nvSpPr>
        <p:spPr>
          <a:xfrm>
            <a:off x="9069505" y="2443942"/>
            <a:ext cx="2540733" cy="1229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9D0CB9B-B6EB-466A-9179-00649B2521A6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rot="5400000">
            <a:off x="7999024" y="2929331"/>
            <a:ext cx="1596912" cy="3084785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5DFF11-3634-48FE-941B-F67B2E4A77C6}"/>
              </a:ext>
            </a:extLst>
          </p:cNvPr>
          <p:cNvSpPr/>
          <p:nvPr/>
        </p:nvSpPr>
        <p:spPr>
          <a:xfrm>
            <a:off x="9069504" y="1230284"/>
            <a:ext cx="2540733" cy="1108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8DCB2A1-22BB-41D8-9075-52A5CC638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578" y="994380"/>
            <a:ext cx="5059509" cy="301540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789B8DF-BA96-4002-8403-8FADA5F05CC1}"/>
              </a:ext>
            </a:extLst>
          </p:cNvPr>
          <p:cNvCxnSpPr>
            <a:cxnSpLocks/>
            <a:stCxn id="17" idx="1"/>
            <a:endCxn id="15" idx="3"/>
          </p:cNvCxnSpPr>
          <p:nvPr/>
        </p:nvCxnSpPr>
        <p:spPr>
          <a:xfrm rot="10800000" flipV="1">
            <a:off x="7255088" y="1784359"/>
            <a:ext cx="1814417" cy="717726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891D439-7163-4F1B-959F-2FB55CD43972}"/>
              </a:ext>
            </a:extLst>
          </p:cNvPr>
          <p:cNvSpPr txBox="1"/>
          <p:nvPr/>
        </p:nvSpPr>
        <p:spPr>
          <a:xfrm>
            <a:off x="218236" y="169847"/>
            <a:ext cx="587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Data Dashboard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기능 구현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6046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AF4E455-0097-4B94-82F7-5B961AEF5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549" y="734050"/>
            <a:ext cx="6635994" cy="601752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819FE5C-D732-46BB-8A04-45C847CCC21B}"/>
              </a:ext>
            </a:extLst>
          </p:cNvPr>
          <p:cNvSpPr txBox="1"/>
          <p:nvPr/>
        </p:nvSpPr>
        <p:spPr>
          <a:xfrm>
            <a:off x="7377983" y="3742813"/>
            <a:ext cx="12308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기존 </a:t>
            </a:r>
            <a:r>
              <a:rPr lang="en-US" altLang="ko-KR" sz="1400"/>
              <a:t>report </a:t>
            </a:r>
            <a:r>
              <a:rPr lang="ko-KR" altLang="en-US" sz="1400"/>
              <a:t>형식대로</a:t>
            </a:r>
            <a:br>
              <a:rPr lang="en-US" altLang="ko-KR" sz="1400"/>
            </a:br>
            <a:r>
              <a:rPr lang="ko-KR" altLang="en-US" sz="1400"/>
              <a:t>답변생성</a:t>
            </a:r>
            <a:endParaRPr lang="en-US" altLang="ko-KR" sz="1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81D4A4-1C97-453F-AD03-E2DCCC63F965}"/>
              </a:ext>
            </a:extLst>
          </p:cNvPr>
          <p:cNvSpPr txBox="1"/>
          <p:nvPr/>
        </p:nvSpPr>
        <p:spPr>
          <a:xfrm>
            <a:off x="3474175" y="5772432"/>
            <a:ext cx="107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날씨정보</a:t>
            </a:r>
            <a:r>
              <a:rPr lang="en-US" altLang="ko-KR" sz="1400"/>
              <a:t>,</a:t>
            </a:r>
            <a:r>
              <a:rPr lang="ko-KR" altLang="en-US" sz="1400"/>
              <a:t> 기상정보</a:t>
            </a:r>
            <a:endParaRPr lang="en-US" altLang="ko-KR" sz="1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AD0C5E-66B8-4825-839E-17993C3A160C}"/>
              </a:ext>
            </a:extLst>
          </p:cNvPr>
          <p:cNvSpPr txBox="1"/>
          <p:nvPr/>
        </p:nvSpPr>
        <p:spPr>
          <a:xfrm>
            <a:off x="3747456" y="2883571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요청</a:t>
            </a:r>
            <a:endParaRPr lang="en-US" altLang="ko-KR"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FF8D79-271F-42FD-BA0F-DCC5351A54F4}"/>
              </a:ext>
            </a:extLst>
          </p:cNvPr>
          <p:cNvSpPr txBox="1"/>
          <p:nvPr/>
        </p:nvSpPr>
        <p:spPr>
          <a:xfrm>
            <a:off x="8146628" y="4600864"/>
            <a:ext cx="28318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온도와 습도 등을 한눈에 알아볼 수 있는</a:t>
            </a:r>
            <a:r>
              <a:rPr lang="en-US" altLang="ko-KR" sz="1400"/>
              <a:t> template</a:t>
            </a:r>
            <a:r>
              <a:rPr lang="ko-KR" altLang="en-US" sz="1400"/>
              <a:t>구성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풍향</a:t>
            </a:r>
            <a:r>
              <a:rPr lang="en-US" altLang="ko-KR" sz="1400"/>
              <a:t>, </a:t>
            </a:r>
            <a:r>
              <a:rPr lang="ko-KR" altLang="en-US" sz="1400"/>
              <a:t>풍속을 쉽게 알 수 있는 </a:t>
            </a:r>
            <a:r>
              <a:rPr lang="en-US" altLang="ko-KR" sz="1400"/>
              <a:t>template</a:t>
            </a:r>
          </a:p>
          <a:p>
            <a:endParaRPr lang="en-US" altLang="ko-KR" sz="1400"/>
          </a:p>
          <a:p>
            <a:r>
              <a:rPr lang="ko-KR" altLang="en-US" sz="1400"/>
              <a:t>지형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지형에 관한 정보를 한눈에 볼 수 있는 </a:t>
            </a:r>
            <a:r>
              <a:rPr lang="en-US" altLang="ko-KR" sz="1400"/>
              <a:t>template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152CBF-B90B-4D67-ADE8-EE4D6B3601EC}"/>
              </a:ext>
            </a:extLst>
          </p:cNvPr>
          <p:cNvSpPr txBox="1"/>
          <p:nvPr/>
        </p:nvSpPr>
        <p:spPr>
          <a:xfrm>
            <a:off x="218236" y="169847"/>
            <a:ext cx="587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Data Dashboard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기능 구현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7B8B8C-AA07-498C-ABB1-6E1D7CF828A6}"/>
              </a:ext>
            </a:extLst>
          </p:cNvPr>
          <p:cNvSpPr txBox="1"/>
          <p:nvPr/>
        </p:nvSpPr>
        <p:spPr>
          <a:xfrm>
            <a:off x="3747456" y="693067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요청</a:t>
            </a:r>
            <a:endParaRPr lang="en-US" altLang="ko-KR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DB80E7-9BD5-4A91-8195-D3C50BA25DE2}"/>
              </a:ext>
            </a:extLst>
          </p:cNvPr>
          <p:cNvSpPr txBox="1"/>
          <p:nvPr/>
        </p:nvSpPr>
        <p:spPr>
          <a:xfrm>
            <a:off x="1630495" y="2395520"/>
            <a:ext cx="1078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지형정보</a:t>
            </a:r>
            <a:endParaRPr lang="en-US" altLang="ko-KR" sz="1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C64BD54-205D-42A8-961A-E8B135946C74}"/>
              </a:ext>
            </a:extLst>
          </p:cNvPr>
          <p:cNvSpPr/>
          <p:nvPr/>
        </p:nvSpPr>
        <p:spPr>
          <a:xfrm>
            <a:off x="10561505" y="734050"/>
            <a:ext cx="1515792" cy="44912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 </a:t>
            </a:r>
            <a:r>
              <a:rPr lang="ko-KR" altLang="en-US" sz="1600" b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기존시스템</a:t>
            </a:r>
            <a:endParaRPr lang="ko-KR" altLang="en-US" sz="1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CB4591-99F0-4F27-8524-73AADD9F9A10}"/>
              </a:ext>
            </a:extLst>
          </p:cNvPr>
          <p:cNvSpPr/>
          <p:nvPr/>
        </p:nvSpPr>
        <p:spPr>
          <a:xfrm>
            <a:off x="9045713" y="734050"/>
            <a:ext cx="1515792" cy="44912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 </a:t>
            </a:r>
            <a:r>
              <a:rPr lang="ko-KR" altLang="en-US" sz="1600" b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신규시스템</a:t>
            </a:r>
            <a:endParaRPr lang="ko-KR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0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BDFDFA62-3190-4F3E-9BEC-741D738CF652}"/>
              </a:ext>
            </a:extLst>
          </p:cNvPr>
          <p:cNvGrpSpPr/>
          <p:nvPr/>
        </p:nvGrpSpPr>
        <p:grpSpPr>
          <a:xfrm>
            <a:off x="937998" y="1624272"/>
            <a:ext cx="4754318" cy="3286334"/>
            <a:chOff x="871782" y="717493"/>
            <a:chExt cx="3589708" cy="248131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4166ECC-E036-48C5-A50A-8985E68F6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1782" y="717493"/>
              <a:ext cx="3589708" cy="2481319"/>
            </a:xfrm>
            <a:prstGeom prst="rect">
              <a:avLst/>
            </a:prstGeom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34F56A3-5140-4F8D-9AE5-916225FACF5F}"/>
                </a:ext>
              </a:extLst>
            </p:cNvPr>
            <p:cNvCxnSpPr>
              <a:stCxn id="17" idx="2"/>
            </p:cNvCxnSpPr>
            <p:nvPr/>
          </p:nvCxnSpPr>
          <p:spPr>
            <a:xfrm flipH="1" flipV="1">
              <a:off x="2012950" y="2416175"/>
              <a:ext cx="104775" cy="4763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B912F55-C108-4350-BFB7-074A8480BE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1037" y="2381250"/>
              <a:ext cx="64294" cy="3492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7ABD5DCF-5D27-4A40-BEF2-ED59B6D97F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8253" y="2308225"/>
              <a:ext cx="52388" cy="7302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3C2DA1B-E96E-4900-87B9-36A3D63733A5}"/>
                </a:ext>
              </a:extLst>
            </p:cNvPr>
            <p:cNvGrpSpPr/>
            <p:nvPr/>
          </p:nvGrpSpPr>
          <p:grpSpPr>
            <a:xfrm rot="21079601">
              <a:off x="2825462" y="2395537"/>
              <a:ext cx="149225" cy="149225"/>
              <a:chOff x="3824287" y="2478087"/>
              <a:chExt cx="149225" cy="149225"/>
            </a:xfrm>
          </p:grpSpPr>
          <p:sp>
            <p:nvSpPr>
              <p:cNvPr id="25" name="화살표: 갈매기형 수장 24">
                <a:extLst>
                  <a:ext uri="{FF2B5EF4-FFF2-40B4-BE49-F238E27FC236}">
                    <a16:creationId xmlns:a16="http://schemas.microsoft.com/office/drawing/2014/main" id="{B5C4932E-F609-4F0E-BA9E-5CBFEACE361B}"/>
                  </a:ext>
                </a:extLst>
              </p:cNvPr>
              <p:cNvSpPr/>
              <p:nvPr/>
            </p:nvSpPr>
            <p:spPr>
              <a:xfrm rot="18900000">
                <a:off x="3868446" y="2503568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024D005C-6D47-4B77-BB92-5FD28D7BFF47}"/>
                  </a:ext>
                </a:extLst>
              </p:cNvPr>
              <p:cNvSpPr/>
              <p:nvPr/>
            </p:nvSpPr>
            <p:spPr>
              <a:xfrm>
                <a:off x="3824287" y="2478087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B05AD43A-A047-41E6-B3D4-7B350F3F031A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 flipH="1">
              <a:off x="2810539" y="2530262"/>
              <a:ext cx="45336" cy="6914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D34E514-6AC1-426A-BD42-49DF312866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10539" y="2599404"/>
              <a:ext cx="14924" cy="6732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EFF0C65-A6BC-4568-81AE-9446D79E6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5064" y="2661594"/>
              <a:ext cx="0" cy="11100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57BED47C-86B9-4E6C-A24C-80C536EA7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3974" y="2769853"/>
              <a:ext cx="53682" cy="7642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E0368F8-7C2E-4E6D-9ECB-F630CF71479F}"/>
                </a:ext>
              </a:extLst>
            </p:cNvPr>
            <p:cNvGrpSpPr/>
            <p:nvPr/>
          </p:nvGrpSpPr>
          <p:grpSpPr>
            <a:xfrm>
              <a:off x="2117725" y="2346325"/>
              <a:ext cx="149225" cy="149225"/>
              <a:chOff x="3692525" y="2625725"/>
              <a:chExt cx="149225" cy="149225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90B11010-BB3B-403F-8E5E-C56445554A50}"/>
                  </a:ext>
                </a:extLst>
              </p:cNvPr>
              <p:cNvSpPr/>
              <p:nvPr/>
            </p:nvSpPr>
            <p:spPr>
              <a:xfrm>
                <a:off x="3692525" y="2625725"/>
                <a:ext cx="149225" cy="14922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화살표: 갈매기형 수장 80">
                <a:extLst>
                  <a:ext uri="{FF2B5EF4-FFF2-40B4-BE49-F238E27FC236}">
                    <a16:creationId xmlns:a16="http://schemas.microsoft.com/office/drawing/2014/main" id="{F6B79611-D871-4125-84CD-D690F6ED1CF6}"/>
                  </a:ext>
                </a:extLst>
              </p:cNvPr>
              <p:cNvSpPr/>
              <p:nvPr/>
            </p:nvSpPr>
            <p:spPr>
              <a:xfrm>
                <a:off x="3736037" y="2660650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5C28B5AC-38EB-43AE-A30F-46ACA2092806}"/>
                </a:ext>
              </a:extLst>
            </p:cNvPr>
            <p:cNvGrpSpPr/>
            <p:nvPr/>
          </p:nvGrpSpPr>
          <p:grpSpPr>
            <a:xfrm rot="16834836">
              <a:off x="3564949" y="1637893"/>
              <a:ext cx="149225" cy="149225"/>
              <a:chOff x="3692525" y="2625725"/>
              <a:chExt cx="149225" cy="149225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EAB6A95D-3E44-4915-8D2E-18205AD59A37}"/>
                  </a:ext>
                </a:extLst>
              </p:cNvPr>
              <p:cNvSpPr/>
              <p:nvPr/>
            </p:nvSpPr>
            <p:spPr>
              <a:xfrm>
                <a:off x="3692525" y="2625725"/>
                <a:ext cx="149225" cy="149225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화살표: 갈매기형 수장 84">
                <a:extLst>
                  <a:ext uri="{FF2B5EF4-FFF2-40B4-BE49-F238E27FC236}">
                    <a16:creationId xmlns:a16="http://schemas.microsoft.com/office/drawing/2014/main" id="{C33CF74C-F7A3-4973-B644-D5D815E53514}"/>
                  </a:ext>
                </a:extLst>
              </p:cNvPr>
              <p:cNvSpPr/>
              <p:nvPr/>
            </p:nvSpPr>
            <p:spPr>
              <a:xfrm>
                <a:off x="3736037" y="2660650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D675D78D-942D-4DAB-AEC1-49E993C411D9}"/>
                </a:ext>
              </a:extLst>
            </p:cNvPr>
            <p:cNvCxnSpPr>
              <a:cxnSpLocks/>
              <a:stCxn id="84" idx="2"/>
            </p:cNvCxnSpPr>
            <p:nvPr/>
          </p:nvCxnSpPr>
          <p:spPr>
            <a:xfrm flipH="1">
              <a:off x="3599875" y="1785849"/>
              <a:ext cx="25987" cy="105224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95BF3BAF-2B7A-4466-8819-DEF7F9064D52}"/>
                </a:ext>
              </a:extLst>
            </p:cNvPr>
            <p:cNvCxnSpPr>
              <a:cxnSpLocks/>
            </p:cNvCxnSpPr>
            <p:nvPr/>
          </p:nvCxnSpPr>
          <p:spPr>
            <a:xfrm>
              <a:off x="3599874" y="1891073"/>
              <a:ext cx="0" cy="7801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31B5BF81-0C4B-45CE-B69C-B3F183459AB7}"/>
                </a:ext>
              </a:extLst>
            </p:cNvPr>
            <p:cNvCxnSpPr>
              <a:cxnSpLocks/>
            </p:cNvCxnSpPr>
            <p:nvPr/>
          </p:nvCxnSpPr>
          <p:spPr>
            <a:xfrm>
              <a:off x="3599874" y="1969089"/>
              <a:ext cx="19844" cy="75611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CEC968EC-4AF8-4BD5-AB60-2BCA7B30B2C4}"/>
                </a:ext>
              </a:extLst>
            </p:cNvPr>
            <p:cNvCxnSpPr>
              <a:cxnSpLocks/>
            </p:cNvCxnSpPr>
            <p:nvPr/>
          </p:nvCxnSpPr>
          <p:spPr>
            <a:xfrm>
              <a:off x="3619718" y="2044700"/>
              <a:ext cx="0" cy="7801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14D6290B-AEFD-494F-B977-DDE43F054F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9874" y="2122716"/>
              <a:ext cx="19844" cy="71209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208C3D5D-5A1B-4637-9EF0-D7429355E1B7}"/>
                </a:ext>
              </a:extLst>
            </p:cNvPr>
            <p:cNvCxnSpPr>
              <a:cxnSpLocks/>
            </p:cNvCxnSpPr>
            <p:nvPr/>
          </p:nvCxnSpPr>
          <p:spPr>
            <a:xfrm>
              <a:off x="1652011" y="1634489"/>
              <a:ext cx="40264" cy="78016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652035D8-8FF9-4549-8C2B-568E763E9AC6}"/>
                </a:ext>
              </a:extLst>
            </p:cNvPr>
            <p:cNvGrpSpPr/>
            <p:nvPr/>
          </p:nvGrpSpPr>
          <p:grpSpPr>
            <a:xfrm rot="2970472">
              <a:off x="1775222" y="1969089"/>
              <a:ext cx="149225" cy="149225"/>
              <a:chOff x="3692525" y="2625725"/>
              <a:chExt cx="149225" cy="149225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563B5A13-2E5D-4AA3-8D41-CBE4C0550BDA}"/>
                  </a:ext>
                </a:extLst>
              </p:cNvPr>
              <p:cNvSpPr/>
              <p:nvPr/>
            </p:nvSpPr>
            <p:spPr>
              <a:xfrm>
                <a:off x="3692525" y="2625725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화살표: 갈매기형 수장 105">
                <a:extLst>
                  <a:ext uri="{FF2B5EF4-FFF2-40B4-BE49-F238E27FC236}">
                    <a16:creationId xmlns:a16="http://schemas.microsoft.com/office/drawing/2014/main" id="{83542B36-3127-4E53-985B-0C685865E96D}"/>
                  </a:ext>
                </a:extLst>
              </p:cNvPr>
              <p:cNvSpPr/>
              <p:nvPr/>
            </p:nvSpPr>
            <p:spPr>
              <a:xfrm>
                <a:off x="3736037" y="2660650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D5BAF62E-F24E-4078-8C0E-EDB44A357328}"/>
                </a:ext>
              </a:extLst>
            </p:cNvPr>
            <p:cNvCxnSpPr>
              <a:cxnSpLocks/>
            </p:cNvCxnSpPr>
            <p:nvPr/>
          </p:nvCxnSpPr>
          <p:spPr>
            <a:xfrm>
              <a:off x="1692275" y="1712505"/>
              <a:ext cx="0" cy="73344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59E06BA7-8AA1-41EC-9856-1D79FBDC58D4}"/>
                </a:ext>
              </a:extLst>
            </p:cNvPr>
            <p:cNvCxnSpPr>
              <a:cxnSpLocks/>
            </p:cNvCxnSpPr>
            <p:nvPr/>
          </p:nvCxnSpPr>
          <p:spPr>
            <a:xfrm>
              <a:off x="1692275" y="1785849"/>
              <a:ext cx="19050" cy="77876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449AFF39-D862-4720-8AF6-6D03CD15BB84}"/>
                </a:ext>
              </a:extLst>
            </p:cNvPr>
            <p:cNvCxnSpPr>
              <a:cxnSpLocks/>
            </p:cNvCxnSpPr>
            <p:nvPr/>
          </p:nvCxnSpPr>
          <p:spPr>
            <a:xfrm>
              <a:off x="1711325" y="1863725"/>
              <a:ext cx="40847" cy="73344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13294432-025D-406B-BF39-67094895ED7E}"/>
                </a:ext>
              </a:extLst>
            </p:cNvPr>
            <p:cNvCxnSpPr>
              <a:cxnSpLocks/>
              <a:endCxn id="105" idx="2"/>
            </p:cNvCxnSpPr>
            <p:nvPr/>
          </p:nvCxnSpPr>
          <p:spPr>
            <a:xfrm>
              <a:off x="1751900" y="1937069"/>
              <a:ext cx="49485" cy="4989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1" name="그림 130">
            <a:extLst>
              <a:ext uri="{FF2B5EF4-FFF2-40B4-BE49-F238E27FC236}">
                <a16:creationId xmlns:a16="http://schemas.microsoft.com/office/drawing/2014/main" id="{AA025398-32BF-410B-909E-16BB3A18A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123" y="452884"/>
            <a:ext cx="4216164" cy="5952232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F1453C1E-F221-48F0-AC11-4D84B18A29B8}"/>
              </a:ext>
            </a:extLst>
          </p:cNvPr>
          <p:cNvSpPr txBox="1"/>
          <p:nvPr/>
        </p:nvSpPr>
        <p:spPr>
          <a:xfrm>
            <a:off x="6723448" y="918229"/>
            <a:ext cx="398025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주요 변화 포인트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탄약 보급량</a:t>
            </a:r>
            <a:endParaRPr lang="ko-KR" altLang="en-US" sz="1100" b="0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~6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100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유지되었으나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7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99→97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로 소폭 감소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11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97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이 유지되다가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감소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19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87, 21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86, 22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80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급격히 하락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23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~24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76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최종적으로 가장 낮은 수준에 도달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연료 보급량</a:t>
            </a:r>
            <a:endParaRPr lang="ko-KR" altLang="en-US" sz="1100" b="0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~12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100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안정적이었으나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12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98, 13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96, 14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로 점진적으로 감소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이후부터는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를 유지하며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23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~24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 변동이 없었음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/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전반적 추이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탄약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: 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전반적으로 지속적인 감소 추세이며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22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 급격히 하락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연료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: 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초기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시까지는 안정적이었으나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14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로 감소한 뒤 일정 수준을 유지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/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이러한 보급량 변화를 토대로 부대의 전투 지속 가능성을 평가하고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필요 시 추가 보급 계획을 수립할 필요가 있습니다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083188-A641-43A1-A559-367D8E930D29}"/>
              </a:ext>
            </a:extLst>
          </p:cNvPr>
          <p:cNvSpPr txBox="1"/>
          <p:nvPr/>
        </p:nvSpPr>
        <p:spPr>
          <a:xfrm>
            <a:off x="6694351" y="5354443"/>
            <a:ext cx="39802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예상 질문</a:t>
            </a:r>
            <a:endParaRPr lang="en-US" altLang="ko-KR" sz="1100" b="1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지덕칠함의 이동패턴은 어떻게 돼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어떤 배가 가장 먼 거리를 이동했어</a:t>
            </a:r>
            <a:r>
              <a:rPr lang="en-US" altLang="ko-KR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??</a:t>
            </a:r>
          </a:p>
          <a:p>
            <a:pPr marL="228600" indent="-228600" algn="l">
              <a:buAutoNum type="arabicPeriod"/>
            </a:pP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가장 많은 배가 다니는 수로가 어디야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00</a:t>
            </a: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시 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00</a:t>
            </a: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분에 배가 가장 밀집되어있는 곳은 어디야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?</a:t>
            </a:r>
            <a:endParaRPr lang="en-US" altLang="ko-KR" sz="1100" b="0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DE55BE-4FA2-4DA0-AB62-567DC25C83BA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워게임 패킷생성 시뮬레이터 개발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478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FD8CB8-A2CB-4351-812E-01F0F5824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281" y="1138350"/>
            <a:ext cx="9487434" cy="5596716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34AB67C-78D8-4D54-86A7-0DE2FA6A84DD}"/>
              </a:ext>
            </a:extLst>
          </p:cNvPr>
          <p:cNvSpPr txBox="1"/>
          <p:nvPr/>
        </p:nvSpPr>
        <p:spPr>
          <a:xfrm>
            <a:off x="4479135" y="2865187"/>
            <a:ext cx="24689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/>
              <a:t>Server</a:t>
            </a:r>
            <a:r>
              <a:rPr lang="ko-KR" altLang="en-US" sz="1200"/>
              <a:t>와 </a:t>
            </a:r>
            <a:r>
              <a:rPr lang="en-US" altLang="ko-KR" sz="1200"/>
              <a:t>TCP</a:t>
            </a:r>
            <a:r>
              <a:rPr lang="ko-KR" altLang="en-US" sz="1200"/>
              <a:t>연결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Server</a:t>
            </a:r>
            <a:r>
              <a:rPr lang="ko-KR" altLang="en-US" sz="1200"/>
              <a:t>에서 받은 패킷 파싱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파싱된 패킷을 실시간</a:t>
            </a:r>
            <a:br>
              <a:rPr lang="en-US" altLang="ko-KR" sz="1200"/>
            </a:br>
            <a:r>
              <a:rPr lang="en-US" altLang="ko-KR" sz="1200"/>
              <a:t>streamlit</a:t>
            </a:r>
            <a:r>
              <a:rPr lang="ko-KR" altLang="en-US" sz="1200"/>
              <a:t>으로 전송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파싱된 패킷 구조화 후 </a:t>
            </a:r>
            <a:r>
              <a:rPr lang="en-US" altLang="ko-KR" sz="1200"/>
              <a:t>DB</a:t>
            </a:r>
            <a:r>
              <a:rPr lang="ko-KR" altLang="en-US" sz="1200"/>
              <a:t>전송</a:t>
            </a:r>
            <a:endParaRPr lang="en-US" altLang="ko-KR" sz="12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B25A2B-3807-4C6F-AE93-5BD08738FD7B}"/>
              </a:ext>
            </a:extLst>
          </p:cNvPr>
          <p:cNvSpPr txBox="1"/>
          <p:nvPr/>
        </p:nvSpPr>
        <p:spPr>
          <a:xfrm>
            <a:off x="1700281" y="2048952"/>
            <a:ext cx="177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가공된 패킷 전송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위치</a:t>
            </a:r>
            <a:r>
              <a:rPr lang="en-US" altLang="ko-KR" sz="1200"/>
              <a:t>(</a:t>
            </a:r>
            <a:r>
              <a:rPr lang="ko-KR" altLang="en-US" sz="1200"/>
              <a:t>위경도</a:t>
            </a:r>
            <a:r>
              <a:rPr lang="en-US" altLang="ko-KR" sz="1200"/>
              <a:t>)</a:t>
            </a:r>
          </a:p>
          <a:p>
            <a:pPr marL="342900" indent="-342900">
              <a:buAutoNum type="arabicPeriod"/>
            </a:pPr>
            <a:r>
              <a:rPr lang="ko-KR" altLang="en-US" sz="1200"/>
              <a:t>방향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탐지범위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en-US" altLang="ko-KR" sz="1200"/>
              <a:t>Mmsi(</a:t>
            </a:r>
            <a:r>
              <a:rPr lang="ko-KR" altLang="en-US" sz="1200"/>
              <a:t>고유식별자</a:t>
            </a:r>
            <a:r>
              <a:rPr lang="en-US" altLang="ko-KR" sz="1200"/>
              <a:t>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1AF6E08-96F8-443C-9894-C180672FCE70}"/>
              </a:ext>
            </a:extLst>
          </p:cNvPr>
          <p:cNvSpPr txBox="1"/>
          <p:nvPr/>
        </p:nvSpPr>
        <p:spPr>
          <a:xfrm>
            <a:off x="3956772" y="6128582"/>
            <a:ext cx="1433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</a:t>
            </a:r>
            <a:r>
              <a:rPr lang="ko-KR" altLang="en-US" sz="1200"/>
              <a:t>질문 의도에 맞는</a:t>
            </a:r>
            <a:br>
              <a:rPr lang="en-US" altLang="ko-KR" sz="1200"/>
            </a:br>
            <a:r>
              <a:rPr lang="ko-KR" altLang="en-US" sz="1200"/>
              <a:t>데이터전처리</a:t>
            </a:r>
            <a:endParaRPr lang="en-US" altLang="ko-KR" sz="12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6646941-ED6B-4937-B8C1-07703BA4BF7B}"/>
              </a:ext>
            </a:extLst>
          </p:cNvPr>
          <p:cNvSpPr txBox="1"/>
          <p:nvPr/>
        </p:nvSpPr>
        <p:spPr>
          <a:xfrm>
            <a:off x="6278201" y="6128582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 </a:t>
            </a:r>
            <a:r>
              <a:rPr lang="ko-KR" altLang="en-US" sz="1200"/>
              <a:t>템플릿에 맞게</a:t>
            </a:r>
            <a:br>
              <a:rPr lang="en-US" altLang="ko-KR" sz="1200"/>
            </a:br>
            <a:r>
              <a:rPr lang="ko-KR" altLang="en-US" sz="1200"/>
              <a:t>정보 입력</a:t>
            </a:r>
            <a:endParaRPr lang="en-US" altLang="ko-KR" sz="120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C57CD80-C833-4450-BFCC-63B327B8AED7}"/>
              </a:ext>
            </a:extLst>
          </p:cNvPr>
          <p:cNvSpPr txBox="1"/>
          <p:nvPr/>
        </p:nvSpPr>
        <p:spPr>
          <a:xfrm>
            <a:off x="7757331" y="4856654"/>
            <a:ext cx="123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기존 </a:t>
            </a:r>
            <a:r>
              <a:rPr lang="en-US" altLang="ko-KR" sz="1200"/>
              <a:t>report</a:t>
            </a:r>
          </a:p>
          <a:p>
            <a:r>
              <a:rPr lang="ko-KR" altLang="en-US" sz="1200"/>
              <a:t>형식대로</a:t>
            </a:r>
            <a:br>
              <a:rPr lang="en-US" altLang="ko-KR" sz="1200"/>
            </a:br>
            <a:r>
              <a:rPr lang="ko-KR" altLang="en-US" sz="1200"/>
              <a:t>답변생성</a:t>
            </a:r>
            <a:endParaRPr lang="en-US" altLang="ko-KR" sz="12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5E24949-7362-4D19-800C-EF791ABA240C}"/>
              </a:ext>
            </a:extLst>
          </p:cNvPr>
          <p:cNvSpPr txBox="1"/>
          <p:nvPr/>
        </p:nvSpPr>
        <p:spPr>
          <a:xfrm>
            <a:off x="4595848" y="1331138"/>
            <a:ext cx="1568058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/>
              <a:t>Big Data</a:t>
            </a:r>
            <a:r>
              <a:rPr lang="ko-KR" altLang="en-US" sz="1100"/>
              <a:t>기반</a:t>
            </a:r>
            <a:br>
              <a:rPr lang="en-US" altLang="ko-KR" sz="1100"/>
            </a:br>
            <a:r>
              <a:rPr lang="ko-KR" altLang="en-US" sz="1100"/>
              <a:t>워게임 패킷생성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Client</a:t>
            </a:r>
            <a:r>
              <a:rPr lang="ko-KR" altLang="en-US" sz="1100"/>
              <a:t>와 </a:t>
            </a:r>
            <a:r>
              <a:rPr lang="en-US" altLang="ko-KR" sz="1100"/>
              <a:t>TCP </a:t>
            </a:r>
            <a:r>
              <a:rPr lang="ko-KR" altLang="en-US" sz="1100"/>
              <a:t>연결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Client</a:t>
            </a:r>
            <a:r>
              <a:rPr lang="ko-KR" altLang="en-US" sz="1100"/>
              <a:t>로 패킷 전송</a:t>
            </a:r>
            <a:endParaRPr lang="en-US" altLang="ko-KR" sz="1100"/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endParaRPr lang="en-US" altLang="ko-KR" sz="11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6D5C0C-A5E8-4577-85F2-122418ADE469}"/>
              </a:ext>
            </a:extLst>
          </p:cNvPr>
          <p:cNvSpPr txBox="1"/>
          <p:nvPr/>
        </p:nvSpPr>
        <p:spPr>
          <a:xfrm>
            <a:off x="5263659" y="4625821"/>
            <a:ext cx="128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사용자 질문이</a:t>
            </a:r>
            <a:endParaRPr lang="en-US" altLang="ko-KR" sz="1200"/>
          </a:p>
          <a:p>
            <a:r>
              <a:rPr lang="en-US" altLang="ko-KR" sz="1200"/>
              <a:t>SQL</a:t>
            </a:r>
            <a:r>
              <a:rPr lang="ko-KR" altLang="en-US" sz="1200"/>
              <a:t>쿼리로 변환</a:t>
            </a:r>
            <a:endParaRPr lang="en-US" altLang="ko-KR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워게임 패킷생성 시뮬레이터 개발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29D9A5-4925-4301-B3C8-F028FA2778EE}"/>
              </a:ext>
            </a:extLst>
          </p:cNvPr>
          <p:cNvSpPr txBox="1"/>
          <p:nvPr/>
        </p:nvSpPr>
        <p:spPr>
          <a:xfrm>
            <a:off x="6484812" y="1381229"/>
            <a:ext cx="3954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i="0">
                <a:effectLst/>
                <a:latin typeface="Segoe UI" panose="020B0502040204020203" pitchFamily="34" charset="0"/>
              </a:rPr>
              <a:t>예상 질문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지덕칠함의 이동패턴은 어떻게 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ko-KR" altLang="en-US" sz="1400" i="0">
                <a:effectLst/>
                <a:latin typeface="Segoe UI" panose="020B0502040204020203" pitchFamily="34" charset="0"/>
              </a:rPr>
              <a:t>어떤 배가 가장 먼 거리를 이동했어</a:t>
            </a:r>
            <a:r>
              <a:rPr lang="en-US" altLang="ko-KR" sz="1400" i="0">
                <a:effectLst/>
                <a:latin typeface="Segoe UI" panose="020B0502040204020203" pitchFamily="34" charset="0"/>
              </a:rPr>
              <a:t>??</a:t>
            </a: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가장 많은 배가 다니는 수로가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시 </a:t>
            </a: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분에 배가 가장 밀집되어 있는</a:t>
            </a:r>
            <a:br>
              <a:rPr lang="en-US" altLang="ko-KR" sz="1400">
                <a:latin typeface="Segoe UI" panose="020B0502040204020203" pitchFamily="34" charset="0"/>
              </a:rPr>
            </a:br>
            <a:r>
              <a:rPr lang="ko-KR" altLang="en-US" sz="1400">
                <a:latin typeface="Segoe UI" panose="020B0502040204020203" pitchFamily="34" charset="0"/>
              </a:rPr>
              <a:t>곳은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463326-AC1C-4EB0-8508-8E09D8383625}"/>
              </a:ext>
            </a:extLst>
          </p:cNvPr>
          <p:cNvSpPr/>
          <p:nvPr/>
        </p:nvSpPr>
        <p:spPr>
          <a:xfrm>
            <a:off x="10402725" y="1138350"/>
            <a:ext cx="1515792" cy="44912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 </a:t>
            </a:r>
            <a:r>
              <a:rPr lang="ko-KR" altLang="en-US" sz="1600" b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기존시스템</a:t>
            </a:r>
            <a:endParaRPr lang="ko-KR" altLang="en-US" sz="1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646994-AD98-4124-81AB-4EFA0D276BE7}"/>
              </a:ext>
            </a:extLst>
          </p:cNvPr>
          <p:cNvSpPr/>
          <p:nvPr/>
        </p:nvSpPr>
        <p:spPr>
          <a:xfrm>
            <a:off x="8886933" y="1138350"/>
            <a:ext cx="1515792" cy="44912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 </a:t>
            </a:r>
            <a:r>
              <a:rPr lang="ko-KR" altLang="en-US" sz="1600" b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신규시스템</a:t>
            </a:r>
            <a:endParaRPr lang="ko-KR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472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5877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3.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논문아이디어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67145-43CC-45B6-A331-FBA297527F7C}"/>
              </a:ext>
            </a:extLst>
          </p:cNvPr>
          <p:cNvSpPr txBox="1"/>
          <p:nvPr/>
        </p:nvSpPr>
        <p:spPr>
          <a:xfrm>
            <a:off x="1290804" y="1017538"/>
            <a:ext cx="9610388" cy="4822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군사 교육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·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훈련 및 워게임 운용을 위한 전장 상황 인식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Agents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개발 방안 연구 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이미지 및 테이블 정보 분석을 위한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Multimodal SLLM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통합 방안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en-US" altLang="ko-KR" b="0" i="0">
                <a:effectLst/>
                <a:latin typeface="Roboto" panose="020B0604020202020204" pitchFamily="2" charset="0"/>
              </a:rPr>
              <a:t>GIS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기반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Geospatial Agent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개발 방안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방책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(COA, Course of Action)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생성을 통한 지휘관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MDMP(Military Decision Making Process)</a:t>
            </a:r>
            <a:br>
              <a:rPr lang="en-US" altLang="ko-KR" b="0" i="0">
                <a:effectLst/>
                <a:latin typeface="Roboto" panose="020B0604020202020204" pitchFamily="2" charset="0"/>
              </a:rPr>
            </a:br>
            <a:r>
              <a:rPr lang="en-US" altLang="ko-KR" b="0" i="0">
                <a:effectLst/>
                <a:latin typeface="Roboto" panose="020B0604020202020204" pitchFamily="2" charset="0"/>
              </a:rPr>
              <a:t>   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지원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Agent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기능 구현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모델 미세조정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(Fine-tuning)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을 통한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Military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특화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LLM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개발 방안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지식 그래프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(Knowledge Graph)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기반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RAG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시스템 고도화 방안 연구</a:t>
            </a:r>
          </a:p>
        </p:txBody>
      </p:sp>
    </p:spTree>
    <p:extLst>
      <p:ext uri="{BB962C8B-B14F-4D97-AF65-F5344CB8AC3E}">
        <p14:creationId xmlns:p14="http://schemas.microsoft.com/office/powerpoint/2010/main" val="772416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2296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4.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건의사항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A5BB29-995C-42B4-AD38-AE158742F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66" y="1192883"/>
            <a:ext cx="4169357" cy="26268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7A1EE-641D-4696-ABF3-4C473B2FF2F2}"/>
              </a:ext>
            </a:extLst>
          </p:cNvPr>
          <p:cNvSpPr txBox="1"/>
          <p:nvPr/>
        </p:nvSpPr>
        <p:spPr>
          <a:xfrm>
            <a:off x="323512" y="3853017"/>
            <a:ext cx="58838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1. </a:t>
            </a:r>
            <a:r>
              <a:rPr lang="ko-KR" altLang="en-US" sz="1200" b="1"/>
              <a:t>개인용 </a:t>
            </a:r>
            <a:r>
              <a:rPr lang="en-US" altLang="ko-KR" sz="1200" b="1"/>
              <a:t>AI Premium (</a:t>
            </a:r>
            <a:r>
              <a:rPr lang="ko-KR" altLang="en-US" sz="1200" b="1"/>
              <a:t>기록 중지 시</a:t>
            </a:r>
            <a:r>
              <a:rPr lang="en-US" altLang="ko-KR" sz="1200" b="1"/>
              <a:t>)</a:t>
            </a:r>
          </a:p>
          <a:p>
            <a:r>
              <a:rPr lang="ko-KR" altLang="en-US" sz="1200"/>
              <a:t>개인용 계정에서 </a:t>
            </a:r>
            <a:r>
              <a:rPr lang="en-US" altLang="ko-KR" sz="1200"/>
              <a:t>'</a:t>
            </a:r>
            <a:r>
              <a:rPr lang="ko-KR" altLang="en-US" sz="1200"/>
              <a:t>활동 보관 기록</a:t>
            </a:r>
            <a:r>
              <a:rPr lang="en-US" altLang="ko-KR" sz="1200"/>
              <a:t>'</a:t>
            </a:r>
            <a:r>
              <a:rPr lang="ko-KR" altLang="en-US" sz="1200"/>
              <a:t>을 끄면 다음과 같은 상황이 발생합니다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휘발성 대화</a:t>
            </a:r>
            <a:r>
              <a:rPr lang="en-US" altLang="ko-KR" sz="1200" b="1"/>
              <a:t>:</a:t>
            </a:r>
            <a:r>
              <a:rPr lang="ko-KR" altLang="en-US" sz="1200"/>
              <a:t> 채팅창을 닫거나 일정 시간이 지나면 이전 대화 목록에서 사라집니다</a:t>
            </a:r>
            <a:r>
              <a:rPr lang="en-US" altLang="ko-KR" sz="1200"/>
              <a:t>. (</a:t>
            </a:r>
            <a:r>
              <a:rPr lang="ko-KR" altLang="en-US" sz="1200"/>
              <a:t>구글 서버에는 서비스 운영 및 보안 검토를 위해 </a:t>
            </a:r>
            <a:r>
              <a:rPr lang="ko-KR" altLang="en-US" sz="1200" b="1"/>
              <a:t>최대 </a:t>
            </a:r>
            <a:r>
              <a:rPr lang="en-US" altLang="ko-KR" sz="1200" b="1"/>
              <a:t>72</a:t>
            </a:r>
            <a:r>
              <a:rPr lang="ko-KR" altLang="en-US" sz="1200" b="1"/>
              <a:t>시간</a:t>
            </a:r>
            <a:r>
              <a:rPr lang="ko-KR" altLang="en-US" sz="1200"/>
              <a:t> 동안만 임시 보관된 후 삭제됩니다</a:t>
            </a:r>
            <a:r>
              <a:rPr lang="en-US" altLang="ko-KR" sz="1200"/>
              <a:t>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학습 제외</a:t>
            </a:r>
            <a:r>
              <a:rPr lang="en-US" altLang="ko-KR" sz="1200" b="1"/>
              <a:t>:</a:t>
            </a:r>
            <a:r>
              <a:rPr lang="ko-KR" altLang="en-US" sz="1200"/>
              <a:t> 대신</a:t>
            </a:r>
            <a:r>
              <a:rPr lang="en-US" altLang="ko-KR" sz="1200"/>
              <a:t>, </a:t>
            </a:r>
            <a:r>
              <a:rPr lang="ko-KR" altLang="en-US" sz="1200"/>
              <a:t>구글은 이 데이터를 </a:t>
            </a:r>
            <a:r>
              <a:rPr lang="en-US" altLang="ko-KR" sz="1200"/>
              <a:t>AI </a:t>
            </a:r>
            <a:r>
              <a:rPr lang="ko-KR" altLang="en-US" sz="1200"/>
              <a:t>모델 학습용으로 쓰지 않습니다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불편함</a:t>
            </a:r>
            <a:r>
              <a:rPr lang="en-US" altLang="ko-KR" sz="1200" b="1"/>
              <a:t>:</a:t>
            </a:r>
            <a:r>
              <a:rPr lang="ko-KR" altLang="en-US" sz="1200"/>
              <a:t> 과거에 나누었던 유익한 정보나 코드</a:t>
            </a:r>
            <a:r>
              <a:rPr lang="en-US" altLang="ko-KR" sz="1200"/>
              <a:t>, </a:t>
            </a:r>
            <a:r>
              <a:rPr lang="ko-KR" altLang="en-US" sz="1200"/>
              <a:t>기획안 등을 나중에 다시 찾아볼 수 없습니다</a:t>
            </a:r>
            <a:r>
              <a:rPr lang="en-US" altLang="ko-KR" sz="1200"/>
              <a:t>. </a:t>
            </a:r>
            <a:r>
              <a:rPr lang="ko-KR" altLang="en-US" sz="1200"/>
              <a:t>즉</a:t>
            </a:r>
            <a:r>
              <a:rPr lang="en-US" altLang="ko-KR" sz="1200"/>
              <a:t>, **"</a:t>
            </a:r>
            <a:r>
              <a:rPr lang="ko-KR" altLang="en-US" sz="1200"/>
              <a:t>보안을 선택하면 기록</a:t>
            </a:r>
            <a:r>
              <a:rPr lang="en-US" altLang="ko-KR" sz="1200"/>
              <a:t>(</a:t>
            </a:r>
            <a:r>
              <a:rPr lang="ko-KR" altLang="en-US" sz="1200"/>
              <a:t>편의성</a:t>
            </a:r>
            <a:r>
              <a:rPr lang="en-US" altLang="ko-KR" sz="1200"/>
              <a:t>)</a:t>
            </a:r>
            <a:r>
              <a:rPr lang="ko-KR" altLang="en-US" sz="1200"/>
              <a:t>을 포기해야 하는 구조</a:t>
            </a:r>
            <a:r>
              <a:rPr lang="en-US" altLang="ko-KR" sz="1200"/>
              <a:t>"**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</a:p>
          <a:p>
            <a:r>
              <a:rPr lang="en-US" altLang="ko-KR" sz="1200" b="1"/>
              <a:t>2. </a:t>
            </a:r>
            <a:r>
              <a:rPr lang="ko-KR" altLang="en-US" sz="1200" b="1"/>
              <a:t>비즈니스용 </a:t>
            </a:r>
            <a:r>
              <a:rPr lang="en-US" altLang="ko-KR" sz="1200" b="1"/>
              <a:t>Workspace (Gemini Business/Enterprise)</a:t>
            </a:r>
          </a:p>
          <a:p>
            <a:r>
              <a:rPr lang="ko-KR" altLang="en-US" sz="1200"/>
              <a:t>기업용 요금제는 구조 자체가 다릅니다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기록 유지 </a:t>
            </a:r>
            <a:r>
              <a:rPr lang="en-US" altLang="ko-KR" sz="1200" b="1"/>
              <a:t>+ </a:t>
            </a:r>
            <a:r>
              <a:rPr lang="ko-KR" altLang="en-US" sz="1200" b="1"/>
              <a:t>학습 제외</a:t>
            </a:r>
            <a:r>
              <a:rPr lang="en-US" altLang="ko-KR" sz="1200" b="1"/>
              <a:t>:</a:t>
            </a:r>
            <a:r>
              <a:rPr lang="ko-KR" altLang="en-US" sz="1200"/>
              <a:t> 기업용은 </a:t>
            </a:r>
            <a:r>
              <a:rPr lang="ko-KR" altLang="en-US" sz="1200" b="1"/>
              <a:t>활동 기록을 켜두어도 구글이 그 데이터를 </a:t>
            </a:r>
            <a:r>
              <a:rPr lang="en-US" altLang="ko-KR" sz="1200" b="1"/>
              <a:t>AI </a:t>
            </a:r>
            <a:r>
              <a:rPr lang="ko-KR" altLang="en-US" sz="1200" b="1"/>
              <a:t>학습에 절대 사용하지 않습니다</a:t>
            </a:r>
            <a:r>
              <a:rPr lang="en-US" altLang="ko-KR" sz="1200" b="1"/>
              <a:t>.</a:t>
            </a:r>
            <a:r>
              <a:rPr lang="ko-KR" altLang="en-US" sz="1200"/>
              <a:t> * </a:t>
            </a:r>
            <a:r>
              <a:rPr lang="ko-KR" altLang="en-US" sz="1200" b="1"/>
              <a:t>영구 보관</a:t>
            </a:r>
            <a:r>
              <a:rPr lang="en-US" altLang="ko-KR" sz="1200" b="1"/>
              <a:t>:</a:t>
            </a:r>
            <a:r>
              <a:rPr lang="ko-KR" altLang="en-US" sz="1200"/>
              <a:t> 사용자는 과거의 모든 채팅 기록을 언제든 다시 열어볼 수 있고</a:t>
            </a:r>
            <a:r>
              <a:rPr lang="en-US" altLang="ko-KR" sz="1200"/>
              <a:t>, </a:t>
            </a:r>
            <a:r>
              <a:rPr lang="ko-KR" altLang="en-US" sz="1200"/>
              <a:t>이전 맥락을 이어서 대화할 수 있습니다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관리 권한</a:t>
            </a:r>
            <a:r>
              <a:rPr lang="en-US" altLang="ko-KR" sz="1200" b="1"/>
              <a:t>:</a:t>
            </a:r>
            <a:r>
              <a:rPr lang="ko-KR" altLang="en-US" sz="1200"/>
              <a:t> 기업 관리자</a:t>
            </a:r>
            <a:r>
              <a:rPr lang="en-US" altLang="ko-KR" sz="1200"/>
              <a:t>(Admin) </a:t>
            </a:r>
            <a:r>
              <a:rPr lang="ko-KR" altLang="en-US" sz="1200"/>
              <a:t>설정에 따라 기록 보관 기간</a:t>
            </a:r>
            <a:r>
              <a:rPr lang="en-US" altLang="ko-KR" sz="1200"/>
              <a:t>(</a:t>
            </a:r>
            <a:r>
              <a:rPr lang="ko-KR" altLang="en-US" sz="1200"/>
              <a:t>예</a:t>
            </a:r>
            <a:r>
              <a:rPr lang="en-US" altLang="ko-KR" sz="1200"/>
              <a:t>: 18</a:t>
            </a:r>
            <a:r>
              <a:rPr lang="ko-KR" altLang="en-US" sz="1200"/>
              <a:t>개월</a:t>
            </a:r>
            <a:r>
              <a:rPr lang="en-US" altLang="ko-KR" sz="1200"/>
              <a:t>, 36</a:t>
            </a:r>
            <a:r>
              <a:rPr lang="ko-KR" altLang="en-US" sz="1200"/>
              <a:t>개월 또는 무기한</a:t>
            </a:r>
            <a:r>
              <a:rPr lang="en-US" altLang="ko-KR" sz="1200"/>
              <a:t>)</a:t>
            </a:r>
            <a:r>
              <a:rPr lang="ko-KR" altLang="en-US" sz="1200"/>
              <a:t>을 조직 전체 정책에 맞춰 조절할 수 있습니다</a:t>
            </a:r>
            <a:r>
              <a:rPr lang="en-US" altLang="ko-KR" sz="120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F455DB-2A05-4A40-BDAD-1D632E4EF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840" y="1192883"/>
            <a:ext cx="5278658" cy="25937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C504C2-2F9F-4160-AA1D-CA05C51E51BF}"/>
              </a:ext>
            </a:extLst>
          </p:cNvPr>
          <p:cNvSpPr txBox="1"/>
          <p:nvPr/>
        </p:nvSpPr>
        <p:spPr>
          <a:xfrm>
            <a:off x="604865" y="726711"/>
            <a:ext cx="4169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Gemini Business ($21/1</a:t>
            </a:r>
            <a:r>
              <a:rPr lang="ko-KR" altLang="en-US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인</a:t>
            </a:r>
            <a:r>
              <a:rPr lang="en-US" altLang="ko-KR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)</a:t>
            </a:r>
            <a:endParaRPr lang="ko-KR" altLang="en-US" sz="20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FD9314-DC79-4D11-A22A-B4C411CDDD29}"/>
              </a:ext>
            </a:extLst>
          </p:cNvPr>
          <p:cNvSpPr txBox="1"/>
          <p:nvPr/>
        </p:nvSpPr>
        <p:spPr>
          <a:xfrm>
            <a:off x="6539840" y="726711"/>
            <a:ext cx="4274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Notion Plus (14,000</a:t>
            </a:r>
            <a:r>
              <a:rPr lang="ko-KR" altLang="en-US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원</a:t>
            </a:r>
            <a:r>
              <a:rPr lang="en-US" altLang="ko-KR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/1</a:t>
            </a:r>
            <a:r>
              <a:rPr lang="ko-KR" altLang="en-US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인</a:t>
            </a:r>
            <a:r>
              <a:rPr lang="en-US" altLang="ko-KR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)</a:t>
            </a:r>
            <a:endParaRPr lang="ko-KR" altLang="en-US" sz="20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7B1E19-04A5-4ECB-8777-13D0745A6D10}"/>
              </a:ext>
            </a:extLst>
          </p:cNvPr>
          <p:cNvSpPr txBox="1"/>
          <p:nvPr/>
        </p:nvSpPr>
        <p:spPr>
          <a:xfrm>
            <a:off x="8610600" y="4980784"/>
            <a:ext cx="3207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총 비용</a:t>
            </a:r>
            <a:r>
              <a:rPr lang="en-US" altLang="ko-KR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: 88,400</a:t>
            </a:r>
            <a:r>
              <a:rPr lang="ko-KR" altLang="en-US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원</a:t>
            </a:r>
            <a:r>
              <a:rPr lang="en-US" altLang="ko-KR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(</a:t>
            </a:r>
            <a:r>
              <a:rPr lang="ko-KR" altLang="en-US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한달</a:t>
            </a:r>
            <a:r>
              <a:rPr lang="en-US" altLang="ko-KR" sz="20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)</a:t>
            </a:r>
            <a:endParaRPr lang="ko-KR" altLang="en-US" sz="20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28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694</Words>
  <Application>Microsoft Office PowerPoint</Application>
  <PresentationFormat>와이드스크린</PresentationFormat>
  <Paragraphs>86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휴먼둥근헤드라인</vt:lpstr>
      <vt:lpstr>Arial</vt:lpstr>
      <vt:lpstr>Roboto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changsu lee</dc:creator>
  <cp:lastModifiedBy>changsu lee</cp:lastModifiedBy>
  <cp:revision>89</cp:revision>
  <dcterms:created xsi:type="dcterms:W3CDTF">2026-01-21T01:49:08Z</dcterms:created>
  <dcterms:modified xsi:type="dcterms:W3CDTF">2026-01-27T02:38:19Z</dcterms:modified>
</cp:coreProperties>
</file>