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1A2D"/>
    <a:srgbClr val="011327"/>
    <a:srgbClr val="01172A"/>
    <a:srgbClr val="000E1A"/>
    <a:srgbClr val="00101F"/>
    <a:srgbClr val="27291C"/>
    <a:srgbClr val="27291D"/>
    <a:srgbClr val="3B351E"/>
    <a:srgbClr val="282A1F"/>
    <a:srgbClr val="EAC7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26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575392-7974-4AB2-AAE8-7F098220747D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311EDE-9998-4C21-80E2-7298EC202B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9846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11EDE-9998-4C21-80E2-7298EC202B8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7239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ED53FB14-FEAD-4F5F-A75C-3D92BAEB1069}"/>
              </a:ext>
            </a:extLst>
          </p:cNvPr>
          <p:cNvSpPr/>
          <p:nvPr/>
        </p:nvSpPr>
        <p:spPr>
          <a:xfrm>
            <a:off x="14975878" y="8839200"/>
            <a:ext cx="1280122" cy="266700"/>
          </a:xfrm>
          <a:prstGeom prst="rect">
            <a:avLst/>
          </a:prstGeom>
          <a:solidFill>
            <a:srgbClr val="051A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19B665-A58C-B90F-7AD5-A84210A89E20}"/>
              </a:ext>
            </a:extLst>
          </p:cNvPr>
          <p:cNvSpPr txBox="1"/>
          <p:nvPr/>
        </p:nvSpPr>
        <p:spPr>
          <a:xfrm>
            <a:off x="641400" y="3366442"/>
            <a:ext cx="1808480" cy="504000"/>
          </a:xfrm>
          <a:prstGeom prst="rect">
            <a:avLst/>
          </a:prstGeom>
          <a:solidFill>
            <a:srgbClr val="04202E"/>
          </a:solidFill>
        </p:spPr>
        <p:txBody>
          <a:bodyPr wrap="square" lIns="0" tIns="0" rIns="0" bIns="0" rtlCol="0">
            <a:noAutofit/>
          </a:bodyPr>
          <a:lstStyle/>
          <a:p>
            <a:r>
              <a:rPr lang="ko-KR" altLang="en-US" sz="1000" b="1" dirty="0" err="1">
                <a:ln w="3175">
                  <a:solidFill>
                    <a:srgbClr val="355E7F">
                      <a:alpha val="14000"/>
                    </a:srgbClr>
                  </a:solidFill>
                </a:ln>
                <a:solidFill>
                  <a:schemeClr val="bg1"/>
                </a:solidFill>
                <a:latin typeface="+mn-ea"/>
              </a:rPr>
              <a:t>워게임</a:t>
            </a:r>
            <a:r>
              <a:rPr lang="ko-KR" altLang="en-US" sz="1000" b="1" dirty="0">
                <a:ln w="3175">
                  <a:solidFill>
                    <a:srgbClr val="355E7F">
                      <a:alpha val="14000"/>
                    </a:srgbClr>
                  </a:solidFill>
                </a:ln>
                <a:solidFill>
                  <a:schemeClr val="bg1"/>
                </a:solidFill>
                <a:latin typeface="+mn-ea"/>
              </a:rPr>
              <a:t> 훈련모델</a:t>
            </a:r>
            <a:r>
              <a:rPr lang="en-US" altLang="ko-KR" sz="1000" b="1" dirty="0">
                <a:ln w="3175">
                  <a:solidFill>
                    <a:srgbClr val="355E7F">
                      <a:alpha val="14000"/>
                    </a:srgbClr>
                  </a:solidFill>
                </a:ln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000" b="1" dirty="0">
                <a:ln w="3175">
                  <a:solidFill>
                    <a:srgbClr val="355E7F">
                      <a:alpha val="14000"/>
                    </a:srgbClr>
                  </a:solidFill>
                </a:ln>
                <a:solidFill>
                  <a:schemeClr val="bg1"/>
                </a:solidFill>
                <a:latin typeface="+mn-ea"/>
              </a:rPr>
              <a:t>네트워크 엔진 연동</a:t>
            </a:r>
            <a:r>
              <a:rPr lang="en-US" altLang="ko-KR" sz="1000" b="1" dirty="0">
                <a:ln w="3175">
                  <a:solidFill>
                    <a:srgbClr val="355E7F">
                      <a:alpha val="14000"/>
                    </a:srgbClr>
                  </a:solidFill>
                </a:ln>
                <a:solidFill>
                  <a:schemeClr val="bg1"/>
                </a:solidFill>
                <a:latin typeface="+mn-ea"/>
              </a:rPr>
              <a:t>.</a:t>
            </a:r>
            <a:r>
              <a:rPr lang="ko-KR" altLang="en-US" sz="1000" b="1" dirty="0">
                <a:ln w="3175">
                  <a:solidFill>
                    <a:srgbClr val="355E7F">
                      <a:alpha val="14000"/>
                    </a:srgbClr>
                  </a:solidFill>
                </a:ln>
                <a:solidFill>
                  <a:schemeClr val="bg1"/>
                </a:solidFill>
                <a:latin typeface="+mn-ea"/>
              </a:rPr>
              <a:t> 해상 객체이동 실시간 </a:t>
            </a:r>
            <a:r>
              <a:rPr lang="ko-KR" altLang="en-US" sz="1000" b="1" dirty="0" err="1">
                <a:ln w="3175">
                  <a:solidFill>
                    <a:srgbClr val="355E7F">
                      <a:alpha val="14000"/>
                    </a:srgbClr>
                  </a:solidFill>
                </a:ln>
                <a:solidFill>
                  <a:schemeClr val="bg1"/>
                </a:solidFill>
                <a:latin typeface="+mn-ea"/>
              </a:rPr>
              <a:t>빅테이터</a:t>
            </a:r>
            <a:r>
              <a:rPr lang="ko-KR" altLang="en-US" sz="1000" b="1" dirty="0">
                <a:ln w="3175">
                  <a:solidFill>
                    <a:srgbClr val="355E7F">
                      <a:alpha val="14000"/>
                    </a:srgbClr>
                  </a:solidFill>
                </a:ln>
                <a:solidFill>
                  <a:schemeClr val="bg1"/>
                </a:solidFill>
                <a:latin typeface="+mn-ea"/>
              </a:rPr>
              <a:t> 고속처리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8035B2-443C-91CD-17C9-3AAF226AE990}"/>
              </a:ext>
            </a:extLst>
          </p:cNvPr>
          <p:cNvSpPr txBox="1"/>
          <p:nvPr/>
        </p:nvSpPr>
        <p:spPr>
          <a:xfrm>
            <a:off x="8779128" y="388001"/>
            <a:ext cx="5216271" cy="862150"/>
          </a:xfrm>
          <a:prstGeom prst="rect">
            <a:avLst/>
          </a:prstGeom>
          <a:gradFill flip="none" rotWithShape="1">
            <a:gsLst>
              <a:gs pos="100000">
                <a:srgbClr val="011C2D"/>
              </a:gs>
              <a:gs pos="0">
                <a:srgbClr val="02253B"/>
              </a:gs>
            </a:gsLst>
            <a:lin ang="0" scaled="1"/>
            <a:tileRect/>
          </a:gradFill>
        </p:spPr>
        <p:txBody>
          <a:bodyPr wrap="square" rtlCol="0">
            <a:noAutofit/>
          </a:bodyPr>
          <a:lstStyle/>
          <a:p>
            <a:pPr algn="ctr"/>
            <a:r>
              <a:rPr lang="ko-KR" altLang="en-US" sz="2400" b="1" spc="-70" dirty="0" err="1">
                <a:solidFill>
                  <a:schemeClr val="bg1"/>
                </a:solidFill>
                <a:latin typeface="+mj-ea"/>
                <a:ea typeface="+mj-ea"/>
              </a:rPr>
              <a:t>딥리서치</a:t>
            </a:r>
            <a:r>
              <a:rPr lang="ko-KR" altLang="en-US" sz="2400" b="1" spc="-70" dirty="0">
                <a:solidFill>
                  <a:schemeClr val="bg1"/>
                </a:solidFill>
                <a:latin typeface="+mj-ea"/>
                <a:ea typeface="+mj-ea"/>
              </a:rPr>
              <a:t> 기반</a:t>
            </a:r>
            <a:endParaRPr lang="en-US" altLang="ko-KR" sz="2400" b="1" spc="-7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2400" b="1" spc="-70" dirty="0">
                <a:solidFill>
                  <a:schemeClr val="bg1"/>
                </a:solidFill>
                <a:latin typeface="+mj-ea"/>
                <a:ea typeface="+mj-ea"/>
              </a:rPr>
              <a:t>5</a:t>
            </a:r>
            <a:r>
              <a:rPr lang="ko-KR" altLang="en-US" sz="2400" b="1" spc="-70" dirty="0">
                <a:solidFill>
                  <a:schemeClr val="bg1"/>
                </a:solidFill>
                <a:latin typeface="+mj-ea"/>
                <a:ea typeface="+mj-ea"/>
              </a:rPr>
              <a:t>단계 의사결정 지원 프로세스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F5EE9E-33B9-5807-C610-63812D816D1D}"/>
              </a:ext>
            </a:extLst>
          </p:cNvPr>
          <p:cNvSpPr txBox="1"/>
          <p:nvPr/>
        </p:nvSpPr>
        <p:spPr>
          <a:xfrm>
            <a:off x="620763" y="5648617"/>
            <a:ext cx="1808480" cy="504000"/>
          </a:xfrm>
          <a:prstGeom prst="rect">
            <a:avLst/>
          </a:prstGeom>
          <a:solidFill>
            <a:srgbClr val="04202E"/>
          </a:solidFill>
        </p:spPr>
        <p:txBody>
          <a:bodyPr wrap="square" lIns="0" tIns="0" rIns="0" bIns="0" rtlCol="0">
            <a:no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공간 데이터 시각화를 통한 해역별 현황 및 전술적 지형</a:t>
            </a:r>
            <a:endParaRPr lang="en-US" altLang="ko-KR" sz="1000" dirty="0">
              <a:solidFill>
                <a:schemeClr val="bg1"/>
              </a:solidFill>
            </a:endParaRPr>
          </a:p>
          <a:p>
            <a:r>
              <a:rPr lang="ko-KR" altLang="en-US" sz="1000" dirty="0">
                <a:solidFill>
                  <a:schemeClr val="bg1"/>
                </a:solidFill>
              </a:rPr>
              <a:t>특성 분석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785644-1512-803D-65A0-CEC021ECEA45}"/>
              </a:ext>
            </a:extLst>
          </p:cNvPr>
          <p:cNvSpPr txBox="1"/>
          <p:nvPr/>
        </p:nvSpPr>
        <p:spPr>
          <a:xfrm>
            <a:off x="641400" y="7961105"/>
            <a:ext cx="1847800" cy="504000"/>
          </a:xfrm>
          <a:prstGeom prst="rect">
            <a:avLst/>
          </a:prstGeom>
          <a:solidFill>
            <a:srgbClr val="04202E"/>
          </a:solidFill>
        </p:spPr>
        <p:txBody>
          <a:bodyPr wrap="square" lIns="0" tIns="0" rIns="0" bIns="0" rtlCol="0">
            <a:no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기상조건</a:t>
            </a:r>
            <a:r>
              <a:rPr lang="en-US" altLang="ko-KR" sz="1000" dirty="0">
                <a:solidFill>
                  <a:schemeClr val="bg1"/>
                </a:solidFill>
              </a:rPr>
              <a:t>, </a:t>
            </a:r>
            <a:r>
              <a:rPr lang="ko-KR" altLang="en-US" sz="1000" dirty="0">
                <a:solidFill>
                  <a:schemeClr val="bg1"/>
                </a:solidFill>
              </a:rPr>
              <a:t>해상 풍향풍속 파고 등 날씨 관련 작전환경 변수 실시간 모니터링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B2ADD9-66B8-3830-2B95-5731C7696053}"/>
              </a:ext>
            </a:extLst>
          </p:cNvPr>
          <p:cNvSpPr txBox="1"/>
          <p:nvPr/>
        </p:nvSpPr>
        <p:spPr>
          <a:xfrm>
            <a:off x="8304542" y="2414449"/>
            <a:ext cx="2252332" cy="862151"/>
          </a:xfrm>
          <a:prstGeom prst="rect">
            <a:avLst/>
          </a:prstGeom>
          <a:solidFill>
            <a:srgbClr val="062C43"/>
          </a:solidFill>
        </p:spPr>
        <p:txBody>
          <a:bodyPr wrap="square" lIns="0" tIns="36000" rIns="0" bIns="0" rtlCol="0">
            <a:noAutofit/>
          </a:bodyPr>
          <a:lstStyle/>
          <a:p>
            <a:r>
              <a:rPr lang="ko-KR" altLang="en-US" sz="1400" b="1" dirty="0" err="1">
                <a:solidFill>
                  <a:schemeClr val="bg1"/>
                </a:solidFill>
              </a:rPr>
              <a:t>워게임</a:t>
            </a:r>
            <a:r>
              <a:rPr lang="ko-KR" altLang="en-US" sz="1400" b="1" dirty="0">
                <a:solidFill>
                  <a:schemeClr val="bg1"/>
                </a:solidFill>
              </a:rPr>
              <a:t> 엔진에서 전송되는 실시간 </a:t>
            </a:r>
            <a:r>
              <a:rPr lang="ko-KR" altLang="en-US" sz="1400" b="1" dirty="0" err="1">
                <a:solidFill>
                  <a:schemeClr val="bg1"/>
                </a:solidFill>
              </a:rPr>
              <a:t>패킷정보</a:t>
            </a:r>
            <a:r>
              <a:rPr lang="ko-KR" altLang="en-US" sz="1400" b="1" dirty="0">
                <a:solidFill>
                  <a:schemeClr val="bg1"/>
                </a:solidFill>
              </a:rPr>
              <a:t> </a:t>
            </a:r>
            <a:r>
              <a:rPr lang="en-US" altLang="ko-KR" sz="1400" b="1" dirty="0">
                <a:solidFill>
                  <a:schemeClr val="bg1"/>
                </a:solidFill>
              </a:rPr>
              <a:t>(</a:t>
            </a:r>
            <a:r>
              <a:rPr lang="ko-KR" altLang="en-US" sz="1400" b="1" dirty="0">
                <a:solidFill>
                  <a:schemeClr val="bg1"/>
                </a:solidFill>
              </a:rPr>
              <a:t>개체 위치</a:t>
            </a:r>
            <a:r>
              <a:rPr lang="en-US" altLang="ko-KR" sz="1400" b="1" dirty="0">
                <a:solidFill>
                  <a:schemeClr val="bg1"/>
                </a:solidFill>
              </a:rPr>
              <a:t>, </a:t>
            </a:r>
            <a:r>
              <a:rPr lang="ko-KR" altLang="en-US" sz="1400" b="1" dirty="0">
                <a:solidFill>
                  <a:schemeClr val="bg1"/>
                </a:solidFill>
              </a:rPr>
              <a:t>전투력</a:t>
            </a:r>
            <a:r>
              <a:rPr lang="en-US" altLang="ko-KR" sz="1400" b="1" dirty="0">
                <a:solidFill>
                  <a:schemeClr val="bg1"/>
                </a:solidFill>
              </a:rPr>
              <a:t>, </a:t>
            </a:r>
            <a:r>
              <a:rPr lang="ko-KR" altLang="en-US" sz="1400" b="1" dirty="0">
                <a:solidFill>
                  <a:schemeClr val="bg1"/>
                </a:solidFill>
              </a:rPr>
              <a:t>피해현황</a:t>
            </a:r>
            <a:r>
              <a:rPr lang="en-US" altLang="ko-KR" sz="1400" b="1" dirty="0">
                <a:solidFill>
                  <a:schemeClr val="bg1"/>
                </a:solidFill>
              </a:rPr>
              <a:t>) </a:t>
            </a:r>
            <a:r>
              <a:rPr lang="ko-KR" altLang="en-US" sz="1400" b="1" dirty="0">
                <a:solidFill>
                  <a:schemeClr val="bg1"/>
                </a:solidFill>
              </a:rPr>
              <a:t>수집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D92442-A07D-DD79-7DD8-794BB2AD96CD}"/>
              </a:ext>
            </a:extLst>
          </p:cNvPr>
          <p:cNvSpPr txBox="1"/>
          <p:nvPr/>
        </p:nvSpPr>
        <p:spPr>
          <a:xfrm>
            <a:off x="12534900" y="2414449"/>
            <a:ext cx="2252332" cy="862151"/>
          </a:xfrm>
          <a:prstGeom prst="rect">
            <a:avLst/>
          </a:prstGeom>
          <a:solidFill>
            <a:srgbClr val="042433"/>
          </a:solidFill>
        </p:spPr>
        <p:txBody>
          <a:bodyPr wrap="square" lIns="0" tIns="36000" rIns="0" bIns="0" rtlCol="0">
            <a:noAutofit/>
          </a:bodyPr>
          <a:lstStyle/>
          <a:p>
            <a:r>
              <a:rPr lang="ko-KR" altLang="en-US" sz="1400" b="1" dirty="0">
                <a:solidFill>
                  <a:schemeClr val="bg1"/>
                </a:solidFill>
              </a:rPr>
              <a:t>데이터를 </a:t>
            </a:r>
            <a:r>
              <a:rPr lang="ko-KR" altLang="en-US" sz="1400" b="1" dirty="0" err="1">
                <a:solidFill>
                  <a:schemeClr val="bg1"/>
                </a:solidFill>
              </a:rPr>
              <a:t>파싱하여</a:t>
            </a:r>
            <a:r>
              <a:rPr lang="ko-KR" altLang="en-US" sz="1400" b="1" dirty="0">
                <a:solidFill>
                  <a:schemeClr val="bg1"/>
                </a:solidFill>
              </a:rPr>
              <a:t> 인공지능 모델이 즉각적으로 분석할 수 있는 다차원 데이터로 변환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2738F17-D9A5-1BF3-0F53-F7B6634B8DD4}"/>
              </a:ext>
            </a:extLst>
          </p:cNvPr>
          <p:cNvSpPr txBox="1"/>
          <p:nvPr/>
        </p:nvSpPr>
        <p:spPr>
          <a:xfrm>
            <a:off x="12226925" y="4743047"/>
            <a:ext cx="2252332" cy="819554"/>
          </a:xfrm>
          <a:prstGeom prst="rect">
            <a:avLst/>
          </a:prstGeom>
          <a:gradFill>
            <a:gsLst>
              <a:gs pos="100000">
                <a:srgbClr val="05212F"/>
              </a:gs>
              <a:gs pos="0">
                <a:srgbClr val="02263B"/>
              </a:gs>
            </a:gsLst>
            <a:lin ang="0" scaled="1"/>
          </a:gradFill>
        </p:spPr>
        <p:txBody>
          <a:bodyPr wrap="square" lIns="0" tIns="18000" rIns="0" bIns="0" rtlCol="0">
            <a:noAutofit/>
          </a:bodyPr>
          <a:lstStyle/>
          <a:p>
            <a:r>
              <a:rPr lang="ko-KR" altLang="en-US" sz="1300" b="1" dirty="0">
                <a:solidFill>
                  <a:schemeClr val="bg1"/>
                </a:solidFill>
              </a:rPr>
              <a:t>현재 전장상황에 부합하는 해군 작전교리</a:t>
            </a:r>
            <a:r>
              <a:rPr lang="en-US" altLang="ko-KR" sz="1300" b="1" dirty="0">
                <a:solidFill>
                  <a:schemeClr val="bg1"/>
                </a:solidFill>
              </a:rPr>
              <a:t>, </a:t>
            </a:r>
            <a:r>
              <a:rPr lang="ko-KR" altLang="en-US" sz="1300" b="1" dirty="0" err="1">
                <a:solidFill>
                  <a:schemeClr val="bg1"/>
                </a:solidFill>
              </a:rPr>
              <a:t>전술교범</a:t>
            </a:r>
            <a:r>
              <a:rPr lang="en-US" altLang="ko-KR" sz="1300" b="1" dirty="0">
                <a:solidFill>
                  <a:schemeClr val="bg1"/>
                </a:solidFill>
              </a:rPr>
              <a:t> </a:t>
            </a:r>
            <a:r>
              <a:rPr lang="ko-KR" altLang="en-US" sz="1300" b="1" dirty="0">
                <a:solidFill>
                  <a:schemeClr val="bg1"/>
                </a:solidFill>
              </a:rPr>
              <a:t>등을 </a:t>
            </a:r>
            <a:r>
              <a:rPr lang="en-US" altLang="ko-KR" sz="1300" b="1" dirty="0" err="1">
                <a:solidFill>
                  <a:schemeClr val="bg1"/>
                </a:solidFill>
              </a:rPr>
              <a:t>VectorDB</a:t>
            </a:r>
            <a:r>
              <a:rPr lang="ko-KR" altLang="en-US" sz="1300" b="1" dirty="0">
                <a:solidFill>
                  <a:schemeClr val="bg1"/>
                </a:solidFill>
              </a:rPr>
              <a:t>에서 검색 및 추출</a:t>
            </a:r>
            <a:r>
              <a:rPr lang="en-US" altLang="ko-KR" sz="1300" b="1" dirty="0">
                <a:solidFill>
                  <a:schemeClr val="bg1"/>
                </a:solidFill>
              </a:rPr>
              <a:t>(RAG</a:t>
            </a:r>
            <a:r>
              <a:rPr lang="ko-KR" altLang="en-US" sz="1300" b="1" dirty="0">
                <a:solidFill>
                  <a:schemeClr val="bg1"/>
                </a:solidFill>
              </a:rPr>
              <a:t>기반</a:t>
            </a:r>
            <a:r>
              <a:rPr lang="en-US" altLang="ko-KR" sz="1300" b="1" dirty="0">
                <a:solidFill>
                  <a:schemeClr val="bg1"/>
                </a:solidFill>
              </a:rPr>
              <a:t>)</a:t>
            </a:r>
            <a:endParaRPr lang="ko-KR" altLang="en-US" sz="1300" b="1" dirty="0">
              <a:solidFill>
                <a:schemeClr val="bg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C8EBC7-E209-2652-6FDC-C0D107368EA6}"/>
              </a:ext>
            </a:extLst>
          </p:cNvPr>
          <p:cNvSpPr txBox="1"/>
          <p:nvPr/>
        </p:nvSpPr>
        <p:spPr>
          <a:xfrm>
            <a:off x="8338673" y="8224838"/>
            <a:ext cx="2329200" cy="152400"/>
          </a:xfrm>
          <a:prstGeom prst="rect">
            <a:avLst/>
          </a:prstGeom>
          <a:solidFill>
            <a:srgbClr val="032135"/>
          </a:solidFill>
        </p:spPr>
        <p:txBody>
          <a:bodyPr wrap="square" lIns="0" tIns="18000" rIns="0" bIns="0" rtlCol="0">
            <a:noAutofit/>
          </a:bodyPr>
          <a:lstStyle/>
          <a:p>
            <a:endParaRPr lang="ko-KR" altLang="en-US" sz="1400" kern="0" spc="-50" dirty="0">
              <a:solidFill>
                <a:srgbClr val="032133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E47CD8-C3C1-113E-01FC-4CD199158F04}"/>
              </a:ext>
            </a:extLst>
          </p:cNvPr>
          <p:cNvSpPr txBox="1"/>
          <p:nvPr/>
        </p:nvSpPr>
        <p:spPr>
          <a:xfrm>
            <a:off x="8341054" y="7778614"/>
            <a:ext cx="2372984" cy="450986"/>
          </a:xfrm>
          <a:prstGeom prst="rect">
            <a:avLst/>
          </a:prstGeom>
          <a:gradFill>
            <a:gsLst>
              <a:gs pos="100000">
                <a:srgbClr val="05212F"/>
              </a:gs>
              <a:gs pos="0">
                <a:srgbClr val="02263B"/>
              </a:gs>
            </a:gsLst>
            <a:lin ang="0" scaled="1"/>
          </a:gradFill>
        </p:spPr>
        <p:txBody>
          <a:bodyPr wrap="square" lIns="0" tIns="18000" rIns="0" bIns="0" rtlCol="0">
            <a:noAutofit/>
          </a:bodyPr>
          <a:lstStyle/>
          <a:p>
            <a:r>
              <a:rPr lang="en-US" altLang="ko-KR" sz="1100" b="1" spc="-10" dirty="0">
                <a:solidFill>
                  <a:schemeClr val="bg1"/>
                </a:solidFill>
              </a:rPr>
              <a:t>Local LLM </a:t>
            </a:r>
            <a:r>
              <a:rPr lang="ko-KR" altLang="en-US" sz="1100" b="1" spc="-10" dirty="0">
                <a:solidFill>
                  <a:schemeClr val="bg1"/>
                </a:solidFill>
              </a:rPr>
              <a:t>이 전장상황을 분석하고 관련 군사 </a:t>
            </a:r>
            <a:r>
              <a:rPr lang="ko-KR" altLang="en-US" sz="1100" b="1" spc="-10" dirty="0" err="1">
                <a:solidFill>
                  <a:schemeClr val="bg1"/>
                </a:solidFill>
              </a:rPr>
              <a:t>교리교범</a:t>
            </a:r>
            <a:r>
              <a:rPr lang="ko-KR" altLang="en-US" sz="1100" b="1" spc="-10" dirty="0">
                <a:solidFill>
                  <a:schemeClr val="bg1"/>
                </a:solidFill>
              </a:rPr>
              <a:t> 자료를 검색하여 지휘관 참모의 의도에 부합하는 방책 생성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EAA6A62-6031-7E1F-DEFE-0F572E4F534A}"/>
              </a:ext>
            </a:extLst>
          </p:cNvPr>
          <p:cNvSpPr txBox="1"/>
          <p:nvPr/>
        </p:nvSpPr>
        <p:spPr>
          <a:xfrm>
            <a:off x="12330706" y="7767845"/>
            <a:ext cx="3096620" cy="630000"/>
          </a:xfrm>
          <a:prstGeom prst="rect">
            <a:avLst/>
          </a:prstGeom>
          <a:gradFill flip="none" rotWithShape="1">
            <a:gsLst>
              <a:gs pos="94000">
                <a:srgbClr val="3B361F"/>
              </a:gs>
              <a:gs pos="66000">
                <a:srgbClr val="26281D"/>
              </a:gs>
            </a:gsLst>
            <a:path path="shape">
              <a:fillToRect l="50000" t="50000" r="50000" b="50000"/>
            </a:path>
            <a:tileRect/>
          </a:gradFill>
        </p:spPr>
        <p:txBody>
          <a:bodyPr wrap="square" lIns="0" tIns="18000" rIns="0" bIns="0" rtlCol="0">
            <a:noAutofit/>
          </a:bodyPr>
          <a:lstStyle/>
          <a:p>
            <a:r>
              <a:rPr lang="ko-KR" altLang="en-US" sz="1200" b="1" spc="-60" dirty="0">
                <a:solidFill>
                  <a:schemeClr val="bg1"/>
                </a:solidFill>
              </a:rPr>
              <a:t>현재 전장상황</a:t>
            </a:r>
            <a:r>
              <a:rPr lang="en-US" altLang="ko-KR" sz="1200" b="1" spc="-60" dirty="0">
                <a:solidFill>
                  <a:schemeClr val="bg1"/>
                </a:solidFill>
              </a:rPr>
              <a:t>, </a:t>
            </a:r>
            <a:r>
              <a:rPr lang="ko-KR" altLang="en-US" sz="1200" b="1" spc="-60" dirty="0" err="1">
                <a:solidFill>
                  <a:schemeClr val="bg1"/>
                </a:solidFill>
              </a:rPr>
              <a:t>교리교범</a:t>
            </a:r>
            <a:r>
              <a:rPr lang="ko-KR" altLang="en-US" sz="1200" b="1" spc="-60" dirty="0">
                <a:solidFill>
                  <a:schemeClr val="bg1"/>
                </a:solidFill>
              </a:rPr>
              <a:t> 부합성을 총체적으로 고려하여 지휘관의 의사결정에 도움을 줄 수 있는 여러 개의 </a:t>
            </a:r>
            <a:r>
              <a:rPr lang="ko-KR" altLang="en-US" sz="1200" b="1" spc="-60" dirty="0" err="1">
                <a:solidFill>
                  <a:schemeClr val="bg1"/>
                </a:solidFill>
              </a:rPr>
              <a:t>대안방책</a:t>
            </a:r>
            <a:r>
              <a:rPr lang="en-US" altLang="ko-KR" sz="1200" b="1" spc="-60" dirty="0">
                <a:solidFill>
                  <a:schemeClr val="bg1"/>
                </a:solidFill>
              </a:rPr>
              <a:t>(Course Of Action) </a:t>
            </a:r>
            <a:r>
              <a:rPr lang="ko-KR" altLang="en-US" sz="1200" b="1" spc="-60" dirty="0">
                <a:solidFill>
                  <a:schemeClr val="bg1"/>
                </a:solidFill>
              </a:rPr>
              <a:t>생성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8D420C4-731D-D513-C25C-4EB0B0B61E7A}"/>
              </a:ext>
            </a:extLst>
          </p:cNvPr>
          <p:cNvSpPr txBox="1"/>
          <p:nvPr/>
        </p:nvSpPr>
        <p:spPr>
          <a:xfrm>
            <a:off x="636637" y="2904479"/>
            <a:ext cx="1728000" cy="457200"/>
          </a:xfrm>
          <a:prstGeom prst="rect">
            <a:avLst/>
          </a:prstGeom>
          <a:solidFill>
            <a:srgbClr val="04202E"/>
          </a:solidFill>
        </p:spPr>
        <p:txBody>
          <a:bodyPr wrap="square" lIns="0" tIns="0" rIns="0" bIns="0" rtlCol="0">
            <a:noAutofit/>
          </a:bodyPr>
          <a:lstStyle/>
          <a:p>
            <a:r>
              <a:rPr lang="en-US" altLang="ko-KR" sz="1400" b="1" spc="-70" dirty="0">
                <a:ln w="3175">
                  <a:solidFill>
                    <a:srgbClr val="355E7F">
                      <a:alpha val="14000"/>
                    </a:srgbClr>
                  </a:solidFill>
                </a:ln>
                <a:solidFill>
                  <a:schemeClr val="bg1"/>
                </a:solidFill>
                <a:latin typeface="+mn-ea"/>
              </a:rPr>
              <a:t>1. </a:t>
            </a:r>
            <a:r>
              <a:rPr lang="ko-KR" altLang="en-US" sz="1400" b="1" spc="-70" dirty="0">
                <a:ln w="3175">
                  <a:solidFill>
                    <a:srgbClr val="355E7F">
                      <a:alpha val="14000"/>
                    </a:srgbClr>
                  </a:solidFill>
                </a:ln>
                <a:solidFill>
                  <a:schemeClr val="bg1"/>
                </a:solidFill>
                <a:latin typeface="+mn-ea"/>
              </a:rPr>
              <a:t>실시간 상황 전시</a:t>
            </a:r>
            <a:endParaRPr lang="en-US" altLang="ko-KR" sz="1400" b="1" spc="-70" dirty="0">
              <a:ln w="3175">
                <a:solidFill>
                  <a:srgbClr val="355E7F">
                    <a:alpha val="14000"/>
                  </a:srgbClr>
                </a:solidFill>
              </a:ln>
              <a:solidFill>
                <a:schemeClr val="bg1"/>
              </a:solidFill>
              <a:latin typeface="+mn-ea"/>
            </a:endParaRPr>
          </a:p>
          <a:p>
            <a:r>
              <a:rPr lang="en-US" altLang="ko-KR" sz="1400" b="1" spc="-70" dirty="0">
                <a:ln w="3175">
                  <a:solidFill>
                    <a:srgbClr val="355E7F">
                      <a:alpha val="14000"/>
                    </a:srgbClr>
                  </a:solidFill>
                </a:ln>
                <a:solidFill>
                  <a:schemeClr val="bg1"/>
                </a:solidFill>
                <a:latin typeface="+mn-ea"/>
              </a:rPr>
              <a:t>(Real-time Operations)</a:t>
            </a:r>
            <a:endParaRPr lang="ko-KR" altLang="en-US" sz="1400" b="1" spc="-70" dirty="0">
              <a:ln w="3175">
                <a:solidFill>
                  <a:srgbClr val="355E7F">
                    <a:alpha val="14000"/>
                  </a:srgb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B5AD2BA-AE77-CB1A-2C63-5FCE8BAFB78B}"/>
              </a:ext>
            </a:extLst>
          </p:cNvPr>
          <p:cNvSpPr txBox="1"/>
          <p:nvPr/>
        </p:nvSpPr>
        <p:spPr>
          <a:xfrm>
            <a:off x="633463" y="5184760"/>
            <a:ext cx="1518508" cy="457200"/>
          </a:xfrm>
          <a:prstGeom prst="rect">
            <a:avLst/>
          </a:prstGeom>
          <a:solidFill>
            <a:srgbClr val="04202E"/>
          </a:solidFill>
        </p:spPr>
        <p:txBody>
          <a:bodyPr wrap="square" lIns="0" tIns="0" rIns="0" bIns="0" rtlCol="0">
            <a:noAutofit/>
          </a:bodyPr>
          <a:lstStyle/>
          <a:p>
            <a:r>
              <a:rPr lang="en-US" altLang="ko-KR" sz="1400" b="1" spc="-70" dirty="0">
                <a:ln w="3175">
                  <a:solidFill>
                    <a:srgbClr val="355E7F">
                      <a:alpha val="14000"/>
                    </a:srgbClr>
                  </a:solidFill>
                </a:ln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1400" b="1" spc="-70" dirty="0">
                <a:ln w="3175">
                  <a:solidFill>
                    <a:srgbClr val="355E7F">
                      <a:alpha val="14000"/>
                    </a:srgbClr>
                  </a:solidFill>
                </a:ln>
                <a:solidFill>
                  <a:schemeClr val="bg1"/>
                </a:solidFill>
                <a:latin typeface="+mn-ea"/>
              </a:rPr>
              <a:t>지형 대시보드</a:t>
            </a:r>
            <a:endParaRPr lang="en-US" altLang="ko-KR" sz="1400" b="1" spc="-70" dirty="0">
              <a:ln w="3175">
                <a:solidFill>
                  <a:srgbClr val="355E7F">
                    <a:alpha val="14000"/>
                  </a:srgbClr>
                </a:solidFill>
              </a:ln>
              <a:solidFill>
                <a:schemeClr val="bg1"/>
              </a:solidFill>
              <a:latin typeface="+mn-ea"/>
            </a:endParaRPr>
          </a:p>
          <a:p>
            <a:r>
              <a:rPr lang="en-US" altLang="ko-KR" sz="1400" b="1" spc="-70" dirty="0">
                <a:ln w="3175">
                  <a:solidFill>
                    <a:srgbClr val="355E7F">
                      <a:alpha val="14000"/>
                    </a:srgbClr>
                  </a:solidFill>
                </a:ln>
                <a:solidFill>
                  <a:schemeClr val="bg1"/>
                </a:solidFill>
                <a:latin typeface="+mn-ea"/>
              </a:rPr>
              <a:t>(Terrain Analysis)</a:t>
            </a:r>
            <a:endParaRPr lang="ko-KR" altLang="en-US" sz="1400" b="1" spc="-70" dirty="0">
              <a:ln w="3175">
                <a:solidFill>
                  <a:srgbClr val="355E7F">
                    <a:alpha val="14000"/>
                  </a:srgb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75E4188-A392-850D-32F8-E31ECBA235BA}"/>
              </a:ext>
            </a:extLst>
          </p:cNvPr>
          <p:cNvSpPr txBox="1"/>
          <p:nvPr/>
        </p:nvSpPr>
        <p:spPr>
          <a:xfrm>
            <a:off x="12330706" y="7272541"/>
            <a:ext cx="1893294" cy="496800"/>
          </a:xfrm>
          <a:prstGeom prst="rect">
            <a:avLst/>
          </a:prstGeom>
          <a:gradFill>
            <a:gsLst>
              <a:gs pos="14000">
                <a:srgbClr val="27291C"/>
              </a:gs>
              <a:gs pos="0">
                <a:srgbClr val="3B351E"/>
              </a:gs>
            </a:gsLst>
            <a:lin ang="0" scaled="1"/>
          </a:gradFill>
        </p:spPr>
        <p:txBody>
          <a:bodyPr wrap="square" lIns="0" tIns="0" rIns="0" bIns="0" rtlCol="0">
            <a:noAutofit/>
          </a:bodyPr>
          <a:lstStyle/>
          <a:p>
            <a:r>
              <a:rPr lang="en-US" altLang="ko-KR" sz="1600" b="1" spc="-70" dirty="0">
                <a:ln w="3175">
                  <a:solidFill>
                    <a:srgbClr val="355E7F">
                      <a:alpha val="14000"/>
                    </a:srgbClr>
                  </a:solidFill>
                </a:ln>
                <a:solidFill>
                  <a:srgbClr val="EAC76F"/>
                </a:solidFill>
                <a:latin typeface="+mn-ea"/>
              </a:rPr>
              <a:t>Step 5 [Multi-COA]:</a:t>
            </a:r>
          </a:p>
          <a:p>
            <a:r>
              <a:rPr lang="ko-KR" altLang="en-US" sz="1600" b="1" spc="-70" dirty="0">
                <a:ln w="3175">
                  <a:solidFill>
                    <a:srgbClr val="355E7F">
                      <a:alpha val="14000"/>
                    </a:srgbClr>
                  </a:solidFill>
                </a:ln>
                <a:solidFill>
                  <a:srgbClr val="EAC76F"/>
                </a:solidFill>
                <a:latin typeface="+mn-ea"/>
              </a:rPr>
              <a:t>다중 대응방안 도출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CE1EAD9-0240-1581-D59E-8DB89E2A9754}"/>
              </a:ext>
            </a:extLst>
          </p:cNvPr>
          <p:cNvSpPr/>
          <p:nvPr/>
        </p:nvSpPr>
        <p:spPr>
          <a:xfrm>
            <a:off x="14975878" y="8861742"/>
            <a:ext cx="1216622" cy="206349"/>
          </a:xfrm>
          <a:prstGeom prst="rect">
            <a:avLst/>
          </a:prstGeom>
          <a:solidFill>
            <a:srgbClr val="000E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BB791F-49F6-4BF7-75F6-C79125495B1D}"/>
              </a:ext>
            </a:extLst>
          </p:cNvPr>
          <p:cNvSpPr txBox="1"/>
          <p:nvPr/>
        </p:nvSpPr>
        <p:spPr>
          <a:xfrm>
            <a:off x="11252200" y="7010400"/>
            <a:ext cx="3657600" cy="381000"/>
          </a:xfrm>
          <a:prstGeom prst="rect">
            <a:avLst/>
          </a:prstGeom>
          <a:gradFill flip="none" rotWithShape="1">
            <a:gsLst>
              <a:gs pos="83000">
                <a:srgbClr val="1F2F2F"/>
              </a:gs>
              <a:gs pos="54000">
                <a:srgbClr val="18211E"/>
              </a:gs>
            </a:gsLst>
            <a:lin ang="0" scaled="1"/>
            <a:tileRect/>
          </a:gradFill>
        </p:spPr>
        <p:txBody>
          <a:bodyPr wrap="square" lIns="0" tIns="18000" rIns="0" bIns="0" rtlCol="0">
            <a:noAutofit/>
          </a:bodyPr>
          <a:lstStyle/>
          <a:p>
            <a:r>
              <a:rPr lang="en-US" altLang="ko-KR" sz="2400" spc="-60" dirty="0">
                <a:solidFill>
                  <a:srgbClr val="E6B966"/>
                </a:solidFill>
                <a:latin typeface="+mj-ea"/>
                <a:ea typeface="+mj-ea"/>
              </a:rPr>
              <a:t>(Hallucination-minimization)</a:t>
            </a:r>
            <a:endParaRPr lang="ko-KR" altLang="en-US" sz="2400" spc="-60" dirty="0">
              <a:solidFill>
                <a:srgbClr val="E6B966"/>
              </a:solidFill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93C1D9B-F265-E79F-E40C-D5CF4D20B565}"/>
              </a:ext>
            </a:extLst>
          </p:cNvPr>
          <p:cNvSpPr/>
          <p:nvPr/>
        </p:nvSpPr>
        <p:spPr>
          <a:xfrm>
            <a:off x="14975878" y="8763000"/>
            <a:ext cx="1216622" cy="305091"/>
          </a:xfrm>
          <a:prstGeom prst="rect">
            <a:avLst/>
          </a:prstGeom>
          <a:solidFill>
            <a:srgbClr val="0113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150</Words>
  <Application>Microsoft Office PowerPoint</Application>
  <PresentationFormat>사용자 지정</PresentationFormat>
  <Paragraphs>19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changsu lee</cp:lastModifiedBy>
  <cp:revision>7</cp:revision>
  <dcterms:created xsi:type="dcterms:W3CDTF">2006-08-16T00:00:00Z</dcterms:created>
  <dcterms:modified xsi:type="dcterms:W3CDTF">2026-07-27T08:28:54Z</dcterms:modified>
</cp:coreProperties>
</file>