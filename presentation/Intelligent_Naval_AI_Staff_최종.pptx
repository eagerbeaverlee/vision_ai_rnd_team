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754"/>
    <a:srgbClr val="53D9E5"/>
    <a:srgbClr val="071D32"/>
    <a:srgbClr val="83CCE5"/>
    <a:srgbClr val="022236"/>
    <a:srgbClr val="051C2F"/>
    <a:srgbClr val="01172A"/>
    <a:srgbClr val="0D2839"/>
    <a:srgbClr val="011327"/>
    <a:srgbClr val="051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714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75392-7974-4AB2-AAE8-7F098220747D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11EDE-9998-4C21-80E2-7298EC202B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84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11EDE-9998-4C21-80E2-7298EC202B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23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D53FB14-FEAD-4F5F-A75C-3D92BAEB1069}"/>
              </a:ext>
            </a:extLst>
          </p:cNvPr>
          <p:cNvSpPr/>
          <p:nvPr/>
        </p:nvSpPr>
        <p:spPr>
          <a:xfrm>
            <a:off x="14975878" y="8839200"/>
            <a:ext cx="1280122" cy="266700"/>
          </a:xfrm>
          <a:prstGeom prst="rect">
            <a:avLst/>
          </a:prstGeom>
          <a:solidFill>
            <a:srgbClr val="051A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9837F-43DF-8312-8B4A-B39AFE72FC97}"/>
              </a:ext>
            </a:extLst>
          </p:cNvPr>
          <p:cNvSpPr txBox="1"/>
          <p:nvPr/>
        </p:nvSpPr>
        <p:spPr>
          <a:xfrm>
            <a:off x="3175000" y="3822191"/>
            <a:ext cx="9982200" cy="1143001"/>
          </a:xfrm>
          <a:prstGeom prst="rect">
            <a:avLst/>
          </a:prstGeom>
          <a:solidFill>
            <a:srgbClr val="051C2F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ko-KR" sz="7200" b="1" spc="-70" dirty="0">
                <a:solidFill>
                  <a:schemeClr val="bg1"/>
                </a:solidFill>
                <a:latin typeface="+mj-ea"/>
                <a:ea typeface="+mj-ea"/>
              </a:rPr>
              <a:t>NAVY AI </a:t>
            </a:r>
            <a:r>
              <a:rPr lang="ko-KR" altLang="en-US" sz="7200" b="1" spc="-70" dirty="0" err="1">
                <a:solidFill>
                  <a:schemeClr val="bg1"/>
                </a:solidFill>
                <a:latin typeface="+mj-ea"/>
                <a:ea typeface="+mj-ea"/>
              </a:rPr>
              <a:t>워게임</a:t>
            </a:r>
            <a:r>
              <a:rPr lang="ko-KR" altLang="en-US" sz="7200" b="1" spc="-70" dirty="0">
                <a:solidFill>
                  <a:schemeClr val="bg1"/>
                </a:solidFill>
                <a:latin typeface="+mj-ea"/>
                <a:ea typeface="+mj-ea"/>
              </a:rPr>
              <a:t>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98196-E4CD-CACA-B046-560A86EE86D2}"/>
              </a:ext>
            </a:extLst>
          </p:cNvPr>
          <p:cNvSpPr txBox="1"/>
          <p:nvPr/>
        </p:nvSpPr>
        <p:spPr>
          <a:xfrm>
            <a:off x="3251200" y="5181600"/>
            <a:ext cx="9829800" cy="533400"/>
          </a:xfrm>
          <a:prstGeom prst="rect">
            <a:avLst/>
          </a:prstGeom>
          <a:solidFill>
            <a:srgbClr val="071D32"/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 sz="2800" b="1" spc="-70" dirty="0">
                <a:solidFill>
                  <a:srgbClr val="83CCE5"/>
                </a:solidFill>
                <a:latin typeface="+mj-ea"/>
                <a:ea typeface="+mj-ea"/>
              </a:rPr>
              <a:t>훈련용 </a:t>
            </a:r>
            <a:r>
              <a:rPr lang="en-US" altLang="ko-KR" sz="2800" b="1" spc="-70" dirty="0">
                <a:solidFill>
                  <a:srgbClr val="83CCE5"/>
                </a:solidFill>
                <a:latin typeface="+mj-ea"/>
                <a:ea typeface="+mj-ea"/>
              </a:rPr>
              <a:t>LLM </a:t>
            </a:r>
            <a:r>
              <a:rPr lang="ko-KR" altLang="en-US" sz="2800" b="1" spc="-70" dirty="0">
                <a:solidFill>
                  <a:srgbClr val="83CCE5"/>
                </a:solidFill>
                <a:latin typeface="+mj-ea"/>
                <a:ea typeface="+mj-ea"/>
              </a:rPr>
              <a:t>기반 해상작전 방책생성</a:t>
            </a:r>
            <a:r>
              <a:rPr lang="en-US" altLang="ko-KR" sz="2800" b="1" spc="-70" dirty="0">
                <a:solidFill>
                  <a:srgbClr val="83CCE5"/>
                </a:solidFill>
                <a:latin typeface="+mj-ea"/>
                <a:ea typeface="+mj-ea"/>
              </a:rPr>
              <a:t>(COA)</a:t>
            </a:r>
            <a:r>
              <a:rPr lang="ko-KR" altLang="en-US" sz="2800" b="1" spc="-70" dirty="0">
                <a:solidFill>
                  <a:srgbClr val="83CCE5"/>
                </a:solidFill>
                <a:latin typeface="+mj-ea"/>
                <a:ea typeface="+mj-ea"/>
              </a:rPr>
              <a:t> 에이전트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19B665-A58C-B90F-7AD5-A84210A89E20}"/>
              </a:ext>
            </a:extLst>
          </p:cNvPr>
          <p:cNvSpPr txBox="1"/>
          <p:nvPr/>
        </p:nvSpPr>
        <p:spPr>
          <a:xfrm>
            <a:off x="641400" y="3366442"/>
            <a:ext cx="1808480" cy="5040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1000" b="1" dirty="0" err="1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워게임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훈련모델</a:t>
            </a:r>
            <a:r>
              <a:rPr lang="en-US" altLang="ko-KR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네트워크 엔진 연동</a:t>
            </a:r>
            <a:r>
              <a:rPr lang="en-US" altLang="ko-KR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.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해상 객체이동 실시간 </a:t>
            </a:r>
            <a:r>
              <a:rPr lang="ko-KR" altLang="en-US" sz="1000" b="1" dirty="0" err="1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빅테이터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고속처리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035B2-443C-91CD-17C9-3AAF226AE990}"/>
              </a:ext>
            </a:extLst>
          </p:cNvPr>
          <p:cNvSpPr txBox="1"/>
          <p:nvPr/>
        </p:nvSpPr>
        <p:spPr>
          <a:xfrm>
            <a:off x="8779128" y="388001"/>
            <a:ext cx="5216271" cy="862150"/>
          </a:xfrm>
          <a:prstGeom prst="rect">
            <a:avLst/>
          </a:prstGeom>
          <a:gradFill flip="none" rotWithShape="1">
            <a:gsLst>
              <a:gs pos="100000">
                <a:srgbClr val="011C2D"/>
              </a:gs>
              <a:gs pos="0">
                <a:srgbClr val="02253B"/>
              </a:gs>
            </a:gsLst>
            <a:lin ang="0" scaled="1"/>
            <a:tileRect/>
          </a:gradFill>
        </p:spPr>
        <p:txBody>
          <a:bodyPr wrap="square" rtlCol="0">
            <a:noAutofit/>
          </a:bodyPr>
          <a:lstStyle/>
          <a:p>
            <a:pPr algn="ctr"/>
            <a:r>
              <a:rPr lang="ko-KR" altLang="en-US" sz="2400" b="1" spc="-70" dirty="0" err="1">
                <a:solidFill>
                  <a:schemeClr val="bg1"/>
                </a:solidFill>
                <a:latin typeface="+mj-ea"/>
                <a:ea typeface="+mj-ea"/>
              </a:rPr>
              <a:t>딥리서치</a:t>
            </a:r>
            <a:r>
              <a:rPr lang="ko-KR" altLang="en-US" sz="2400" b="1" spc="-70" dirty="0">
                <a:solidFill>
                  <a:schemeClr val="bg1"/>
                </a:solidFill>
                <a:latin typeface="+mj-ea"/>
                <a:ea typeface="+mj-ea"/>
              </a:rPr>
              <a:t> 기반</a:t>
            </a:r>
            <a:endParaRPr lang="en-US" altLang="ko-KR" sz="2400" b="1" spc="-7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400" b="1" spc="-70" dirty="0">
                <a:solidFill>
                  <a:schemeClr val="bg1"/>
                </a:solidFill>
                <a:latin typeface="+mj-ea"/>
                <a:ea typeface="+mj-ea"/>
              </a:rPr>
              <a:t>5</a:t>
            </a:r>
            <a:r>
              <a:rPr lang="ko-KR" altLang="en-US" sz="2400" b="1" spc="-70" dirty="0">
                <a:solidFill>
                  <a:schemeClr val="bg1"/>
                </a:solidFill>
                <a:latin typeface="+mj-ea"/>
                <a:ea typeface="+mj-ea"/>
              </a:rPr>
              <a:t>단계 의사결정 지원 프로세스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F5EE9E-33B9-5807-C610-63812D816D1D}"/>
              </a:ext>
            </a:extLst>
          </p:cNvPr>
          <p:cNvSpPr txBox="1"/>
          <p:nvPr/>
        </p:nvSpPr>
        <p:spPr>
          <a:xfrm>
            <a:off x="620763" y="5648617"/>
            <a:ext cx="1808480" cy="5040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공간 데이터 시각화를 통한 해역별 현황 및 전술적 지형</a:t>
            </a:r>
            <a:endParaRPr lang="en-US" altLang="ko-KR" sz="1000" dirty="0">
              <a:solidFill>
                <a:schemeClr val="bg1"/>
              </a:solidFill>
            </a:endParaRPr>
          </a:p>
          <a:p>
            <a:r>
              <a:rPr lang="ko-KR" altLang="en-US" sz="1000" dirty="0">
                <a:solidFill>
                  <a:schemeClr val="bg1"/>
                </a:solidFill>
              </a:rPr>
              <a:t>특성 분석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785644-1512-803D-65A0-CEC021ECEA45}"/>
              </a:ext>
            </a:extLst>
          </p:cNvPr>
          <p:cNvSpPr txBox="1"/>
          <p:nvPr/>
        </p:nvSpPr>
        <p:spPr>
          <a:xfrm>
            <a:off x="641400" y="7961105"/>
            <a:ext cx="1847800" cy="5040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기상조건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해상 풍향풍속 파고 등 날씨 관련 작전환경 변수 실시간 모니터링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B2ADD9-66B8-3830-2B95-5731C7696053}"/>
              </a:ext>
            </a:extLst>
          </p:cNvPr>
          <p:cNvSpPr txBox="1"/>
          <p:nvPr/>
        </p:nvSpPr>
        <p:spPr>
          <a:xfrm>
            <a:off x="8304542" y="2414449"/>
            <a:ext cx="2252332" cy="862151"/>
          </a:xfrm>
          <a:prstGeom prst="rect">
            <a:avLst/>
          </a:prstGeom>
          <a:solidFill>
            <a:srgbClr val="062C43"/>
          </a:solidFill>
        </p:spPr>
        <p:txBody>
          <a:bodyPr wrap="square" lIns="0" tIns="36000" rIns="0" bIns="0" rtlCol="0">
            <a:noAutofit/>
          </a:bodyPr>
          <a:lstStyle/>
          <a:p>
            <a:r>
              <a:rPr lang="ko-KR" altLang="en-US" sz="1400" b="1" dirty="0" err="1">
                <a:solidFill>
                  <a:schemeClr val="bg1"/>
                </a:solidFill>
              </a:rPr>
              <a:t>워게임</a:t>
            </a:r>
            <a:r>
              <a:rPr lang="ko-KR" altLang="en-US" sz="1400" b="1" dirty="0">
                <a:solidFill>
                  <a:schemeClr val="bg1"/>
                </a:solidFill>
              </a:rPr>
              <a:t> 엔진에서 전송되는 실시간 </a:t>
            </a:r>
            <a:r>
              <a:rPr lang="ko-KR" altLang="en-US" sz="1400" b="1" dirty="0" err="1">
                <a:solidFill>
                  <a:schemeClr val="bg1"/>
                </a:solidFill>
              </a:rPr>
              <a:t>패킷정보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</a:rPr>
              <a:t>개체 위치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전투력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피해현황</a:t>
            </a:r>
            <a:r>
              <a:rPr lang="en-US" altLang="ko-KR" sz="1400" b="1" dirty="0">
                <a:solidFill>
                  <a:schemeClr val="bg1"/>
                </a:solidFill>
              </a:rPr>
              <a:t>) </a:t>
            </a:r>
            <a:r>
              <a:rPr lang="ko-KR" altLang="en-US" sz="1400" b="1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D92442-A07D-DD79-7DD8-794BB2AD96CD}"/>
              </a:ext>
            </a:extLst>
          </p:cNvPr>
          <p:cNvSpPr txBox="1"/>
          <p:nvPr/>
        </p:nvSpPr>
        <p:spPr>
          <a:xfrm>
            <a:off x="12534900" y="2414449"/>
            <a:ext cx="2252332" cy="862151"/>
          </a:xfrm>
          <a:prstGeom prst="rect">
            <a:avLst/>
          </a:prstGeom>
          <a:solidFill>
            <a:srgbClr val="042433"/>
          </a:solidFill>
        </p:spPr>
        <p:txBody>
          <a:bodyPr wrap="square" lIns="0" tIns="36000" rIns="0" bIns="0" rtlCol="0">
            <a:no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데이터를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파싱하여</a:t>
            </a:r>
            <a:r>
              <a:rPr lang="ko-KR" altLang="en-US" sz="1400" b="1" dirty="0">
                <a:solidFill>
                  <a:schemeClr val="bg1"/>
                </a:solidFill>
              </a:rPr>
              <a:t> 인공지능 모델이 즉각적으로 분석할 수 있는 다차원 데이터로 변환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738F17-D9A5-1BF3-0F53-F7B6634B8DD4}"/>
              </a:ext>
            </a:extLst>
          </p:cNvPr>
          <p:cNvSpPr txBox="1"/>
          <p:nvPr/>
        </p:nvSpPr>
        <p:spPr>
          <a:xfrm>
            <a:off x="12226925" y="4743047"/>
            <a:ext cx="2252332" cy="819554"/>
          </a:xfrm>
          <a:prstGeom prst="rect">
            <a:avLst/>
          </a:prstGeom>
          <a:gradFill>
            <a:gsLst>
              <a:gs pos="100000">
                <a:srgbClr val="05212F"/>
              </a:gs>
              <a:gs pos="0">
                <a:srgbClr val="02263B"/>
              </a:gs>
            </a:gsLst>
            <a:lin ang="0" scaled="1"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ko-KR" altLang="en-US" sz="1300" b="1" dirty="0">
                <a:solidFill>
                  <a:schemeClr val="bg1"/>
                </a:solidFill>
              </a:rPr>
              <a:t>현재 전장상황에 부합하는 해군 작전교리</a:t>
            </a:r>
            <a:r>
              <a:rPr lang="en-US" altLang="ko-KR" sz="1300" b="1" dirty="0">
                <a:solidFill>
                  <a:schemeClr val="bg1"/>
                </a:solidFill>
              </a:rPr>
              <a:t>, </a:t>
            </a:r>
            <a:r>
              <a:rPr lang="ko-KR" altLang="en-US" sz="1300" b="1" dirty="0" err="1">
                <a:solidFill>
                  <a:schemeClr val="bg1"/>
                </a:solidFill>
              </a:rPr>
              <a:t>전술교범</a:t>
            </a:r>
            <a:r>
              <a:rPr lang="en-US" altLang="ko-KR" sz="1300" b="1" dirty="0">
                <a:solidFill>
                  <a:schemeClr val="bg1"/>
                </a:solidFill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</a:rPr>
              <a:t>등을 </a:t>
            </a:r>
            <a:r>
              <a:rPr lang="en-US" altLang="ko-KR" sz="1300" b="1" dirty="0" err="1">
                <a:solidFill>
                  <a:schemeClr val="bg1"/>
                </a:solidFill>
              </a:rPr>
              <a:t>VectorDB</a:t>
            </a:r>
            <a:r>
              <a:rPr lang="ko-KR" altLang="en-US" sz="1300" b="1" dirty="0">
                <a:solidFill>
                  <a:schemeClr val="bg1"/>
                </a:solidFill>
              </a:rPr>
              <a:t>에서 검색 및 추출</a:t>
            </a:r>
            <a:r>
              <a:rPr lang="en-US" altLang="ko-KR" sz="1300" b="1" dirty="0">
                <a:solidFill>
                  <a:schemeClr val="bg1"/>
                </a:solidFill>
              </a:rPr>
              <a:t>(RAG</a:t>
            </a:r>
            <a:r>
              <a:rPr lang="ko-KR" altLang="en-US" sz="1300" b="1" dirty="0">
                <a:solidFill>
                  <a:schemeClr val="bg1"/>
                </a:solidFill>
              </a:rPr>
              <a:t>기반</a:t>
            </a:r>
            <a:r>
              <a:rPr lang="en-US" altLang="ko-KR" sz="1300" b="1" dirty="0">
                <a:solidFill>
                  <a:schemeClr val="bg1"/>
                </a:solidFill>
              </a:rPr>
              <a:t>)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8EBC7-E209-2652-6FDC-C0D107368EA6}"/>
              </a:ext>
            </a:extLst>
          </p:cNvPr>
          <p:cNvSpPr txBox="1"/>
          <p:nvPr/>
        </p:nvSpPr>
        <p:spPr>
          <a:xfrm>
            <a:off x="8338673" y="8224838"/>
            <a:ext cx="2329200" cy="152400"/>
          </a:xfrm>
          <a:prstGeom prst="rect">
            <a:avLst/>
          </a:prstGeom>
          <a:solidFill>
            <a:srgbClr val="032135"/>
          </a:solidFill>
        </p:spPr>
        <p:txBody>
          <a:bodyPr wrap="square" lIns="0" tIns="18000" rIns="0" bIns="0" rtlCol="0">
            <a:noAutofit/>
          </a:bodyPr>
          <a:lstStyle/>
          <a:p>
            <a:endParaRPr lang="ko-KR" altLang="en-US" sz="1400" kern="0" spc="-50" dirty="0">
              <a:solidFill>
                <a:srgbClr val="032133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E47CD8-C3C1-113E-01FC-4CD199158F04}"/>
              </a:ext>
            </a:extLst>
          </p:cNvPr>
          <p:cNvSpPr txBox="1"/>
          <p:nvPr/>
        </p:nvSpPr>
        <p:spPr>
          <a:xfrm>
            <a:off x="8341054" y="7778614"/>
            <a:ext cx="2372984" cy="450986"/>
          </a:xfrm>
          <a:prstGeom prst="rect">
            <a:avLst/>
          </a:prstGeom>
          <a:gradFill>
            <a:gsLst>
              <a:gs pos="100000">
                <a:srgbClr val="05212F"/>
              </a:gs>
              <a:gs pos="0">
                <a:srgbClr val="02263B"/>
              </a:gs>
            </a:gsLst>
            <a:lin ang="0" scaled="1"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en-US" altLang="ko-KR" sz="1100" b="1" spc="-10" dirty="0">
                <a:solidFill>
                  <a:schemeClr val="bg1"/>
                </a:solidFill>
              </a:rPr>
              <a:t>Local LLM </a:t>
            </a:r>
            <a:r>
              <a:rPr lang="ko-KR" altLang="en-US" sz="1100" b="1" spc="-10" dirty="0">
                <a:solidFill>
                  <a:schemeClr val="bg1"/>
                </a:solidFill>
              </a:rPr>
              <a:t>이 전장상황을 분석하고 관련 군사 </a:t>
            </a:r>
            <a:r>
              <a:rPr lang="ko-KR" altLang="en-US" sz="1100" b="1" spc="-10" dirty="0" err="1">
                <a:solidFill>
                  <a:schemeClr val="bg1"/>
                </a:solidFill>
              </a:rPr>
              <a:t>교리교범</a:t>
            </a:r>
            <a:r>
              <a:rPr lang="ko-KR" altLang="en-US" sz="1100" b="1" spc="-10" dirty="0">
                <a:solidFill>
                  <a:schemeClr val="bg1"/>
                </a:solidFill>
              </a:rPr>
              <a:t> 자료를 검색하여 지휘관 참모의 의도에 부합하는 방책 생성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AA6A62-6031-7E1F-DEFE-0F572E4F534A}"/>
              </a:ext>
            </a:extLst>
          </p:cNvPr>
          <p:cNvSpPr txBox="1"/>
          <p:nvPr/>
        </p:nvSpPr>
        <p:spPr>
          <a:xfrm>
            <a:off x="12330706" y="7767845"/>
            <a:ext cx="3096620" cy="630000"/>
          </a:xfrm>
          <a:prstGeom prst="rect">
            <a:avLst/>
          </a:prstGeom>
          <a:gradFill flip="none" rotWithShape="1">
            <a:gsLst>
              <a:gs pos="94000">
                <a:srgbClr val="3B361F"/>
              </a:gs>
              <a:gs pos="66000">
                <a:srgbClr val="26281D"/>
              </a:gs>
            </a:gsLst>
            <a:path path="shape">
              <a:fillToRect l="50000" t="50000" r="50000" b="50000"/>
            </a:path>
            <a:tileRect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ko-KR" altLang="en-US" sz="1200" b="1" spc="-60" dirty="0">
                <a:solidFill>
                  <a:schemeClr val="bg1"/>
                </a:solidFill>
              </a:rPr>
              <a:t>현재 전장상황</a:t>
            </a:r>
            <a:r>
              <a:rPr lang="en-US" altLang="ko-KR" sz="1200" b="1" spc="-60" dirty="0">
                <a:solidFill>
                  <a:schemeClr val="bg1"/>
                </a:solidFill>
              </a:rPr>
              <a:t>, </a:t>
            </a:r>
            <a:r>
              <a:rPr lang="ko-KR" altLang="en-US" sz="1200" b="1" spc="-60" dirty="0" err="1">
                <a:solidFill>
                  <a:schemeClr val="bg1"/>
                </a:solidFill>
              </a:rPr>
              <a:t>교리교범</a:t>
            </a:r>
            <a:r>
              <a:rPr lang="ko-KR" altLang="en-US" sz="1200" b="1" spc="-60" dirty="0">
                <a:solidFill>
                  <a:schemeClr val="bg1"/>
                </a:solidFill>
              </a:rPr>
              <a:t> 부합성을 총체적으로 고려하여 지휘관의 의사결정에 도움을 줄 수 있는 여러 개의 </a:t>
            </a:r>
            <a:r>
              <a:rPr lang="ko-KR" altLang="en-US" sz="1200" b="1" spc="-60" dirty="0" err="1">
                <a:solidFill>
                  <a:schemeClr val="bg1"/>
                </a:solidFill>
              </a:rPr>
              <a:t>대안방책</a:t>
            </a:r>
            <a:r>
              <a:rPr lang="en-US" altLang="ko-KR" sz="1200" b="1" spc="-60" dirty="0">
                <a:solidFill>
                  <a:schemeClr val="bg1"/>
                </a:solidFill>
              </a:rPr>
              <a:t>(Course Of Action) </a:t>
            </a:r>
            <a:r>
              <a:rPr lang="ko-KR" altLang="en-US" sz="1200" b="1" spc="-60" dirty="0">
                <a:solidFill>
                  <a:schemeClr val="bg1"/>
                </a:solidFill>
              </a:rPr>
              <a:t>생성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D420C4-731D-D513-C25C-4EB0B0B61E7A}"/>
              </a:ext>
            </a:extLst>
          </p:cNvPr>
          <p:cNvSpPr txBox="1"/>
          <p:nvPr/>
        </p:nvSpPr>
        <p:spPr>
          <a:xfrm>
            <a:off x="636637" y="2904479"/>
            <a:ext cx="1728000" cy="4572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실시간 상황 전시</a:t>
            </a:r>
            <a:endParaRPr lang="en-US" altLang="ko-KR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(Real-time Operations)</a:t>
            </a:r>
            <a:endParaRPr lang="ko-KR" altLang="en-US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5AD2BA-AE77-CB1A-2C63-5FCE8BAFB78B}"/>
              </a:ext>
            </a:extLst>
          </p:cNvPr>
          <p:cNvSpPr txBox="1"/>
          <p:nvPr/>
        </p:nvSpPr>
        <p:spPr>
          <a:xfrm>
            <a:off x="633463" y="5184760"/>
            <a:ext cx="1518508" cy="4572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지형 대시보드</a:t>
            </a:r>
            <a:endParaRPr lang="en-US" altLang="ko-KR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(Terrain Analysis)</a:t>
            </a:r>
            <a:endParaRPr lang="ko-KR" altLang="en-US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5E4188-A392-850D-32F8-E31ECBA235BA}"/>
              </a:ext>
            </a:extLst>
          </p:cNvPr>
          <p:cNvSpPr txBox="1"/>
          <p:nvPr/>
        </p:nvSpPr>
        <p:spPr>
          <a:xfrm>
            <a:off x="12330706" y="7272541"/>
            <a:ext cx="1893294" cy="496800"/>
          </a:xfrm>
          <a:prstGeom prst="rect">
            <a:avLst/>
          </a:prstGeom>
          <a:gradFill>
            <a:gsLst>
              <a:gs pos="14000">
                <a:srgbClr val="27291C"/>
              </a:gs>
              <a:gs pos="0">
                <a:srgbClr val="3B351E"/>
              </a:gs>
            </a:gsLst>
            <a:lin ang="0" scaled="1"/>
          </a:gradFill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6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rgbClr val="EAC76F"/>
                </a:solidFill>
                <a:latin typeface="+mn-ea"/>
              </a:rPr>
              <a:t>Step 5 [Multi-COA]:</a:t>
            </a:r>
          </a:p>
          <a:p>
            <a:r>
              <a:rPr lang="ko-KR" altLang="en-US" sz="16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rgbClr val="EAC76F"/>
                </a:solidFill>
                <a:latin typeface="+mn-ea"/>
              </a:rPr>
              <a:t>다중 대응방안 도출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CE1EAD9-0240-1581-D59E-8DB89E2A9754}"/>
              </a:ext>
            </a:extLst>
          </p:cNvPr>
          <p:cNvSpPr/>
          <p:nvPr/>
        </p:nvSpPr>
        <p:spPr>
          <a:xfrm>
            <a:off x="14975878" y="8861742"/>
            <a:ext cx="1216622" cy="206349"/>
          </a:xfrm>
          <a:prstGeom prst="rect">
            <a:avLst/>
          </a:prstGeom>
          <a:solidFill>
            <a:srgbClr val="000E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BB791F-49F6-4BF7-75F6-C79125495B1D}"/>
              </a:ext>
            </a:extLst>
          </p:cNvPr>
          <p:cNvSpPr txBox="1"/>
          <p:nvPr/>
        </p:nvSpPr>
        <p:spPr>
          <a:xfrm>
            <a:off x="11252200" y="7010400"/>
            <a:ext cx="3657600" cy="381000"/>
          </a:xfrm>
          <a:prstGeom prst="rect">
            <a:avLst/>
          </a:prstGeom>
          <a:gradFill flip="none" rotWithShape="1">
            <a:gsLst>
              <a:gs pos="83000">
                <a:srgbClr val="1F2F2F"/>
              </a:gs>
              <a:gs pos="54000">
                <a:srgbClr val="18211E"/>
              </a:gs>
            </a:gsLst>
            <a:lin ang="0" scaled="1"/>
            <a:tileRect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en-US" altLang="ko-KR" sz="2400" spc="-60" dirty="0">
                <a:solidFill>
                  <a:srgbClr val="E6B966"/>
                </a:solidFill>
                <a:latin typeface="+mj-ea"/>
                <a:ea typeface="+mj-ea"/>
              </a:rPr>
              <a:t>(Hallucination-minimization)</a:t>
            </a:r>
            <a:endParaRPr lang="ko-KR" altLang="en-US" sz="2400" spc="-60" dirty="0">
              <a:solidFill>
                <a:srgbClr val="E6B966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3C1D9B-F265-E79F-E40C-D5CF4D20B565}"/>
              </a:ext>
            </a:extLst>
          </p:cNvPr>
          <p:cNvSpPr/>
          <p:nvPr/>
        </p:nvSpPr>
        <p:spPr>
          <a:xfrm>
            <a:off x="14975878" y="8763000"/>
            <a:ext cx="1216622" cy="305091"/>
          </a:xfrm>
          <a:prstGeom prst="rect">
            <a:avLst/>
          </a:prstGeom>
          <a:solidFill>
            <a:srgbClr val="011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0FC6F-37BA-6BBB-69FC-45CA1B38E65B}"/>
              </a:ext>
            </a:extLst>
          </p:cNvPr>
          <p:cNvSpPr txBox="1"/>
          <p:nvPr/>
        </p:nvSpPr>
        <p:spPr>
          <a:xfrm>
            <a:off x="5967628" y="7891850"/>
            <a:ext cx="4330800" cy="947351"/>
          </a:xfrm>
          <a:prstGeom prst="rect">
            <a:avLst/>
          </a:prstGeom>
          <a:gradFill flip="none" rotWithShape="1">
            <a:gsLst>
              <a:gs pos="83000">
                <a:srgbClr val="1F2F2F"/>
              </a:gs>
              <a:gs pos="54000">
                <a:srgbClr val="18211E"/>
              </a:gs>
            </a:gsLst>
            <a:lin ang="0" scaled="1"/>
            <a:tileRect/>
          </a:gradFill>
          <a:ln w="63500" cmpd="dbl">
            <a:solidFill>
              <a:srgbClr val="F88754"/>
            </a:solidFill>
          </a:ln>
        </p:spPr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ko-KR" altLang="en-US" sz="2800" b="1" spc="-60" dirty="0">
                <a:solidFill>
                  <a:srgbClr val="F88754"/>
                </a:solidFill>
                <a:latin typeface="+mj-ea"/>
                <a:ea typeface="+mj-ea"/>
              </a:rPr>
              <a:t>해군 지휘관 및 참모의</a:t>
            </a:r>
            <a:endParaRPr lang="en-US" altLang="ko-KR" sz="2800" b="1" spc="-60" dirty="0">
              <a:solidFill>
                <a:srgbClr val="F88754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800" b="1" spc="-60" dirty="0">
                <a:solidFill>
                  <a:srgbClr val="F88754"/>
                </a:solidFill>
                <a:latin typeface="+mj-ea"/>
                <a:ea typeface="+mj-ea"/>
              </a:rPr>
              <a:t>독립적인 </a:t>
            </a:r>
            <a:r>
              <a:rPr lang="ko-KR" altLang="en-US" sz="2800" b="1" spc="-60" dirty="0" err="1">
                <a:solidFill>
                  <a:srgbClr val="F88754"/>
                </a:solidFill>
                <a:latin typeface="+mj-ea"/>
                <a:ea typeface="+mj-ea"/>
              </a:rPr>
              <a:t>워게임</a:t>
            </a:r>
            <a:r>
              <a:rPr lang="ko-KR" altLang="en-US" sz="2800" b="1" spc="-60" dirty="0">
                <a:solidFill>
                  <a:srgbClr val="F88754"/>
                </a:solidFill>
                <a:latin typeface="+mj-ea"/>
                <a:ea typeface="+mj-ea"/>
              </a:rPr>
              <a:t> 수행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F73178-92CF-1A6F-F079-B424FEDF28D6}"/>
              </a:ext>
            </a:extLst>
          </p:cNvPr>
          <p:cNvSpPr/>
          <p:nvPr/>
        </p:nvSpPr>
        <p:spPr>
          <a:xfrm>
            <a:off x="7556500" y="7244151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E92BF6-2183-83CB-F4E8-3313A79E3C43}"/>
              </a:ext>
            </a:extLst>
          </p:cNvPr>
          <p:cNvSpPr/>
          <p:nvPr/>
        </p:nvSpPr>
        <p:spPr>
          <a:xfrm>
            <a:off x="12509500" y="7244151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9269643C-4F5A-7472-1C76-45C25F4B9AE0}"/>
              </a:ext>
            </a:extLst>
          </p:cNvPr>
          <p:cNvCxnSpPr>
            <a:endCxn id="5" idx="3"/>
          </p:cNvCxnSpPr>
          <p:nvPr/>
        </p:nvCxnSpPr>
        <p:spPr>
          <a:xfrm rot="10800000" flipV="1">
            <a:off x="10298428" y="7625150"/>
            <a:ext cx="2782572" cy="740375"/>
          </a:xfrm>
          <a:prstGeom prst="bentConnector3">
            <a:avLst>
              <a:gd name="adj1" fmla="val 263"/>
            </a:avLst>
          </a:prstGeom>
          <a:ln w="25400">
            <a:solidFill>
              <a:srgbClr val="F88754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AA550F1A-43CA-605B-7DBD-9C8D388069E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286003" y="7625151"/>
            <a:ext cx="2681625" cy="740375"/>
          </a:xfrm>
          <a:prstGeom prst="bentConnector3">
            <a:avLst>
              <a:gd name="adj1" fmla="val 234"/>
            </a:avLst>
          </a:prstGeom>
          <a:ln w="25400">
            <a:solidFill>
              <a:srgbClr val="F88754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40C6EC-7F43-9411-A5DF-62C4523BFB98}"/>
              </a:ext>
            </a:extLst>
          </p:cNvPr>
          <p:cNvSpPr/>
          <p:nvPr/>
        </p:nvSpPr>
        <p:spPr>
          <a:xfrm>
            <a:off x="2717800" y="7244151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1BA29B0-96B1-C687-7F0E-F886D7CC31CE}"/>
              </a:ext>
            </a:extLst>
          </p:cNvPr>
          <p:cNvCxnSpPr>
            <a:endCxn id="5" idx="0"/>
          </p:cNvCxnSpPr>
          <p:nvPr/>
        </p:nvCxnSpPr>
        <p:spPr>
          <a:xfrm>
            <a:off x="8128000" y="7625151"/>
            <a:ext cx="5028" cy="266699"/>
          </a:xfrm>
          <a:prstGeom prst="straightConnector1">
            <a:avLst/>
          </a:prstGeom>
          <a:ln w="25400">
            <a:solidFill>
              <a:srgbClr val="F88754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170</Words>
  <Application>Microsoft Office PowerPoint</Application>
  <PresentationFormat>사용자 지정</PresentationFormat>
  <Paragraphs>23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changsu lee</cp:lastModifiedBy>
  <cp:revision>11</cp:revision>
  <dcterms:created xsi:type="dcterms:W3CDTF">2006-08-16T00:00:00Z</dcterms:created>
  <dcterms:modified xsi:type="dcterms:W3CDTF">2026-07-27T08:55:16Z</dcterms:modified>
</cp:coreProperties>
</file>