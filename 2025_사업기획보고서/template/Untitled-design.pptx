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Poppins SemiBold"/>
      <p:bold r:id="rId15"/>
    </p:embeddedFont>
    <p:embeddedFont>
      <p:font typeface="Poppins Black"/>
      <p:bold r:id="rId16"/>
    </p:embeddedFont>
    <p:embeddedFont>
      <p:font typeface="Poppins Regular"/>
      <p:regular r:id="rId17"/>
    </p:embeddedFont>
    <p:embeddedFont>
      <p:font typeface="Poppins Light"/>
      <p:regular r:id="rId18"/>
    </p:embeddedFont>
    <p:embeddedFont>
      <p:font typeface="Poppins Bold"/>
      <p:bold r:id="rId19"/>
    </p:embeddedFont>
    <p:embeddedFont>
      <p:font typeface="Pretendard Bold"/>
      <p:bold r:id="rId20"/>
    </p:embeddedFont>
    <p:embeddedFont>
      <p:font typeface="Poppins Medium"/>
      <p:bold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.fntdata" Type="http://schemas.openxmlformats.org/officeDocument/2006/relationships/font"/><Relationship Id="rId16" Target="fonts/font2.fntdata" Type="http://schemas.openxmlformats.org/officeDocument/2006/relationships/font"/><Relationship Id="rId17" Target="fonts/font3.fntdata" Type="http://schemas.openxmlformats.org/officeDocument/2006/relationships/font"/><Relationship Id="rId18" Target="fonts/font4.fntdata" Type="http://schemas.openxmlformats.org/officeDocument/2006/relationships/font"/><Relationship Id="rId19" Target="fonts/font5.fntdata" Type="http://schemas.openxmlformats.org/officeDocument/2006/relationships/font"/><Relationship Id="rId2" Target="presProps.xml" Type="http://schemas.openxmlformats.org/officeDocument/2006/relationships/presProps"/><Relationship Id="rId20" Target="fonts/font6.fntdata" Type="http://schemas.openxmlformats.org/officeDocument/2006/relationships/font"/><Relationship Id="rId21" Target="fonts/font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25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533400"/>
            <a:ext cx="635000" cy="635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947400" y="-190500"/>
            <a:ext cx="5194300" cy="5194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947400" y="5067300"/>
            <a:ext cx="5194300" cy="5194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6154400" y="-190500"/>
            <a:ext cx="5194300" cy="5194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6154400" y="5067300"/>
            <a:ext cx="5194300" cy="51943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117600" y="2273300"/>
            <a:ext cx="7327900" cy="427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81339"/>
              </a:lnSpc>
            </a:pPr>
            <a:r>
              <a:rPr lang="en-US" sz="11400" b="false" i="false" u="none" strike="noStrike">
                <a:solidFill>
                  <a:srgbClr val="FFFFFF"/>
                </a:solidFill>
                <a:latin typeface="Poppins SemiBold"/>
              </a:rPr>
              <a:t>Monthly</a:t>
            </a:r>
          </a:p>
          <a:p>
            <a:pPr algn="l" lvl="0">
              <a:lnSpc>
                <a:spcPct val="81339"/>
              </a:lnSpc>
            </a:pPr>
            <a:r>
              <a:rPr lang="en-US" sz="11400" b="false" i="false" u="none" strike="noStrike">
                <a:solidFill>
                  <a:srgbClr val="FFFFFF"/>
                </a:solidFill>
                <a:latin typeface="Poppins SemiBold"/>
              </a:rPr>
              <a:t>Review</a:t>
            </a:r>
            <a:r>
              <a:rPr lang="en-US" sz="11400" b="false" i="false" u="none" strike="noStrike">
                <a:solidFill>
                  <a:srgbClr val="FFFFFF"/>
                </a:solidFill>
                <a:latin typeface="Poppins SemiBold"/>
              </a:rPr>
              <a:t> </a:t>
            </a:r>
          </a:p>
          <a:p>
            <a:pPr algn="l" lvl="0">
              <a:lnSpc>
                <a:spcPct val="81339"/>
              </a:lnSpc>
            </a:pPr>
            <a:r>
              <a:rPr lang="en-US" sz="11400" b="false" i="false" u="none" strike="noStrike">
                <a:solidFill>
                  <a:srgbClr val="FFFFFF"/>
                </a:solidFill>
                <a:latin typeface="Poppins SemiBold"/>
              </a:rPr>
              <a:t>Report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79500" y="6921500"/>
            <a:ext cx="54991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just" lvl="0">
              <a:lnSpc>
                <a:spcPct val="116199"/>
              </a:lnSpc>
            </a:pPr>
            <a:r>
              <a:rPr lang="en-US" sz="2500" b="false" i="false" u="none" strike="noStrike" spc="400">
                <a:solidFill>
                  <a:srgbClr val="3AA5AB"/>
                </a:solidFill>
                <a:latin typeface="Poppins Black"/>
              </a:rPr>
              <a:t>PROJECT STATUS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60500" y="749300"/>
            <a:ext cx="1828800" cy="33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800" b="false" i="false" u="none" strike="noStrike">
                <a:solidFill>
                  <a:srgbClr val="FFFFFF"/>
                </a:solidFill>
                <a:latin typeface="Poppins Regular"/>
              </a:rPr>
              <a:t>MIRI COMPANY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17600" y="7874000"/>
            <a:ext cx="2286000" cy="1054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3710"/>
              </a:lnSpc>
            </a:pPr>
            <a:r>
              <a:rPr lang="en-US" sz="2000" b="false" i="false" u="none" strike="noStrike">
                <a:solidFill>
                  <a:srgbClr val="FFF6EE"/>
                </a:solidFill>
                <a:latin typeface="Poppins Regular"/>
              </a:rPr>
              <a:t>December 2030</a:t>
            </a:r>
          </a:p>
          <a:p>
            <a:pPr algn="l" lvl="0">
              <a:lnSpc>
                <a:spcPct val="113710"/>
              </a:lnSpc>
            </a:pPr>
            <a:r>
              <a:rPr lang="en-US" sz="2000" b="false" i="false" u="none" strike="noStrike">
                <a:solidFill>
                  <a:srgbClr val="FFF6EE"/>
                </a:solidFill>
                <a:latin typeface="Poppins Regular"/>
              </a:rPr>
              <a:t>MIRI Company</a:t>
            </a:r>
          </a:p>
          <a:p>
            <a:pPr algn="l" lvl="0">
              <a:lnSpc>
                <a:spcPct val="113710"/>
              </a:lnSpc>
            </a:pPr>
            <a:r>
              <a:rPr lang="en-US" sz="2000" b="false" i="false" u="none" strike="noStrike">
                <a:solidFill>
                  <a:srgbClr val="FFF6EE"/>
                </a:solidFill>
                <a:latin typeface="Poppins Regular"/>
              </a:rPr>
              <a:t>TF Team 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328900" y="584200"/>
            <a:ext cx="2336800" cy="241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98770"/>
              </a:lnSpc>
            </a:pPr>
            <a:r>
              <a:rPr lang="en-US" sz="1400" b="false" i="false" u="none" strike="noStrike" spc="400">
                <a:solidFill>
                  <a:srgbClr val="9E9E9E">
                    <a:alpha val="90196"/>
                  </a:srgbClr>
                </a:solidFill>
                <a:latin typeface="Poppins Light"/>
              </a:rPr>
              <a:t>PROJECT STATUS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30300" y="1193800"/>
            <a:ext cx="7899400" cy="1244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1300"/>
              </a:lnSpc>
            </a:pPr>
            <a:r>
              <a:rPr lang="en-US" sz="7000" b="false" i="false" u="none" strike="noStrike" spc="-100">
                <a:solidFill>
                  <a:srgbClr val="323337"/>
                </a:solidFill>
                <a:latin typeface="Poppins SemiBold"/>
              </a:rPr>
              <a:t>Content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543300" y="3467100"/>
            <a:ext cx="4724400" cy="838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83000"/>
              </a:lnSpc>
            </a:pPr>
            <a:r>
              <a:rPr lang="en-US" sz="4800" b="false" i="false" u="none" strike="noStrike">
                <a:solidFill>
                  <a:srgbClr val="2E313A"/>
                </a:solidFill>
                <a:latin typeface="Poppins Bold"/>
              </a:rPr>
              <a:t>Chapter 01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543300" y="4495800"/>
            <a:ext cx="4660900" cy="685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en-US" sz="2000" b="false" i="false" u="none" strike="noStrike">
                <a:solidFill>
                  <a:srgbClr val="2E313A"/>
                </a:solidFill>
                <a:latin typeface="Poppins Light"/>
              </a:rPr>
              <a:t>Lorem ipsum odor amet, consectetuer adipiscing elit.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209800" y="4076700"/>
            <a:ext cx="749300" cy="7493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2374900" y="4279900"/>
            <a:ext cx="444500" cy="38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74700"/>
              </a:lnSpc>
            </a:pPr>
            <a:r>
              <a:rPr lang="en-US" sz="3300" b="false" i="false" u="none" strike="noStrike">
                <a:solidFill>
                  <a:srgbClr val="FFFFFF"/>
                </a:solidFill>
                <a:latin typeface="Pretendard Bold"/>
              </a:rPr>
              <a:t>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543300" y="6477000"/>
            <a:ext cx="4419600" cy="838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83000"/>
              </a:lnSpc>
            </a:pPr>
            <a:r>
              <a:rPr lang="en-US" sz="4800" b="false" i="false" u="none" strike="noStrike">
                <a:solidFill>
                  <a:srgbClr val="2E313A"/>
                </a:solidFill>
                <a:latin typeface="Poppins Bold"/>
              </a:rPr>
              <a:t>Chapter 03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543300" y="7505700"/>
            <a:ext cx="4660900" cy="685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en-US" sz="2000" b="false" i="false" u="none" strike="noStrike">
                <a:solidFill>
                  <a:srgbClr val="2E313A"/>
                </a:solidFill>
                <a:latin typeface="Poppins Light"/>
              </a:rPr>
              <a:t>Lorem ipsum odor amet, consectetuer adipiscing elit.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209800" y="7137400"/>
            <a:ext cx="749300" cy="7493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2374900" y="7340600"/>
            <a:ext cx="444500" cy="38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74700"/>
              </a:lnSpc>
            </a:pPr>
            <a:r>
              <a:rPr lang="en-US" sz="3300" b="false" i="false" u="none" strike="noStrike">
                <a:solidFill>
                  <a:srgbClr val="FFFFFF"/>
                </a:solidFill>
                <a:latin typeface="Pretendard Bold"/>
              </a:rPr>
              <a:t>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303000" y="3467100"/>
            <a:ext cx="4203700" cy="838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83000"/>
              </a:lnSpc>
            </a:pPr>
            <a:r>
              <a:rPr lang="en-US" sz="4800" b="false" i="false" u="none" strike="noStrike">
                <a:solidFill>
                  <a:srgbClr val="2E313A"/>
                </a:solidFill>
                <a:latin typeface="Poppins Bold"/>
              </a:rPr>
              <a:t>Chapter 02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303000" y="4495800"/>
            <a:ext cx="4660900" cy="685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en-US" sz="2000" b="false" i="false" u="none" strike="noStrike">
                <a:solidFill>
                  <a:srgbClr val="2E313A"/>
                </a:solidFill>
                <a:latin typeface="Poppins Light"/>
              </a:rPr>
              <a:t>Lorem ipsum odor amet, consectetuer adipiscing elit.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982200" y="4127500"/>
            <a:ext cx="749300" cy="7493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10134600" y="4330700"/>
            <a:ext cx="444500" cy="38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74700"/>
              </a:lnSpc>
            </a:pPr>
            <a:r>
              <a:rPr lang="en-US" sz="3300" b="false" i="false" u="none" strike="noStrike">
                <a:solidFill>
                  <a:srgbClr val="FFFFFF"/>
                </a:solidFill>
                <a:latin typeface="Pretendard Bold"/>
              </a:rPr>
              <a:t>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303000" y="6477000"/>
            <a:ext cx="4178300" cy="838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83000"/>
              </a:lnSpc>
            </a:pPr>
            <a:r>
              <a:rPr lang="en-US" sz="4800" b="false" i="false" u="none" strike="noStrike">
                <a:solidFill>
                  <a:srgbClr val="2E313A"/>
                </a:solidFill>
                <a:latin typeface="Poppins Bold"/>
              </a:rPr>
              <a:t>Chapter 04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303000" y="7505700"/>
            <a:ext cx="4660900" cy="685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en-US" sz="2000" b="false" i="false" u="none" strike="noStrike">
                <a:solidFill>
                  <a:srgbClr val="2E313A"/>
                </a:solidFill>
                <a:latin typeface="Poppins Light"/>
              </a:rPr>
              <a:t>Lorem ipsum odor amet, consectetuer adipiscing elit.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982200" y="7137400"/>
            <a:ext cx="749300" cy="7493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10134600" y="7340600"/>
            <a:ext cx="444500" cy="38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74700"/>
              </a:lnSpc>
            </a:pPr>
            <a:r>
              <a:rPr lang="en-US" sz="3300" b="false" i="false" u="none" strike="noStrike">
                <a:solidFill>
                  <a:srgbClr val="FFFFFF"/>
                </a:solidFill>
                <a:latin typeface="Pretendard Bold"/>
              </a:rPr>
              <a:t>4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840200" y="9537700"/>
            <a:ext cx="812800" cy="266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99600"/>
              </a:lnSpc>
            </a:pPr>
            <a:r>
              <a:rPr lang="en-US" sz="1500" b="true" i="false" u="none" strike="noStrike">
                <a:solidFill>
                  <a:srgbClr val="2E313A"/>
                </a:solidFill>
                <a:latin typeface="Poppins Light"/>
              </a:rPr>
              <a:t>Page 02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393700"/>
            <a:ext cx="558800" cy="5588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1244600" y="584200"/>
            <a:ext cx="1625600" cy="29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600" b="false" i="false" u="none" strike="noStrike">
                <a:solidFill>
                  <a:srgbClr val="2E313A"/>
                </a:solidFill>
                <a:latin typeface="Poppins Regular"/>
              </a:rPr>
              <a:t>MIRI COMPANY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25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01700" y="3289300"/>
            <a:ext cx="4902200" cy="4902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84300" y="3759200"/>
            <a:ext cx="1054100" cy="6223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6751300" y="9537700"/>
            <a:ext cx="812800" cy="266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99600"/>
              </a:lnSpc>
            </a:pPr>
            <a:r>
              <a:rPr lang="en-US" sz="1500" b="true" i="false" u="none" strike="noStrike">
                <a:solidFill>
                  <a:srgbClr val="FFFFFF"/>
                </a:solidFill>
                <a:latin typeface="Poppins Light"/>
              </a:rPr>
              <a:t>Page 03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30300" y="1193800"/>
            <a:ext cx="8191500" cy="1244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1300"/>
              </a:lnSpc>
            </a:pPr>
            <a:r>
              <a:rPr lang="en-US" sz="7000" b="false" i="false" u="none" strike="noStrike" spc="-100">
                <a:solidFill>
                  <a:srgbClr val="FFFFFF"/>
                </a:solidFill>
                <a:latin typeface="Poppins SemiBold"/>
              </a:rPr>
              <a:t>About Our Project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84300" y="4660900"/>
            <a:ext cx="4076700" cy="2133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en-US" sz="2100" b="false" i="false" u="none" strike="noStrike">
                <a:solidFill>
                  <a:srgbClr val="FFFFFF"/>
                </a:solidFill>
                <a:latin typeface="Poppins Light"/>
              </a:rPr>
              <a:t>Lorem ipsum odor amet, consectetuer adipiscing elit. Aliquam mi montes enim justo dui risus. Ex at sagittis eleifend libero mus ridiculus mus.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46300" y="7378700"/>
            <a:ext cx="2400300" cy="368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899"/>
              </a:lnSpc>
            </a:pPr>
            <a:r>
              <a:rPr lang="en-US" sz="2100" b="false" i="false" u="none" strike="noStrike">
                <a:solidFill>
                  <a:srgbClr val="FFFFFF"/>
                </a:solidFill>
                <a:latin typeface="Poppins Medium"/>
              </a:rPr>
              <a:t>Your Name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692900" y="3289300"/>
            <a:ext cx="4902200" cy="4902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175500" y="3759200"/>
            <a:ext cx="1054100" cy="6223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7175500" y="4660900"/>
            <a:ext cx="4076700" cy="2133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en-US" sz="2100" b="false" i="false" u="none" strike="noStrike">
                <a:solidFill>
                  <a:srgbClr val="FFFFFF"/>
                </a:solidFill>
                <a:latin typeface="Poppins Light"/>
              </a:rPr>
              <a:t>Lorem ipsum odor amet, consectetuer adipiscing elit. Aliquam mi montes enim justo dui risus. Ex at sagittis eleifend libero mus ridiculus mus.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937500" y="7378700"/>
            <a:ext cx="2400300" cy="368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899"/>
              </a:lnSpc>
            </a:pPr>
            <a:r>
              <a:rPr lang="en-US" sz="2100" b="false" i="false" u="none" strike="noStrike">
                <a:solidFill>
                  <a:srgbClr val="FFFFFF"/>
                </a:solidFill>
                <a:latin typeface="Poppins Medium"/>
              </a:rPr>
              <a:t>Your Name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484100" y="3289300"/>
            <a:ext cx="4902200" cy="49022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979400" y="3759200"/>
            <a:ext cx="1054100" cy="6223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12979400" y="4660900"/>
            <a:ext cx="4076700" cy="2133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en-US" sz="2100" b="false" i="false" u="none" strike="noStrike">
                <a:solidFill>
                  <a:srgbClr val="FFFFFF"/>
                </a:solidFill>
                <a:latin typeface="Poppins Light"/>
              </a:rPr>
              <a:t>Lorem ipsum odor amet, consectetuer adipiscing elit. Aliquam mi montes enim justo dui risus. Ex at sagittis eleifend libero mus ridiculus mus.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741400" y="7378700"/>
            <a:ext cx="2400300" cy="368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899"/>
              </a:lnSpc>
            </a:pPr>
            <a:r>
              <a:rPr lang="en-US" sz="2100" b="false" i="false" u="none" strike="noStrike">
                <a:solidFill>
                  <a:srgbClr val="FFFFFF"/>
                </a:solidFill>
                <a:latin typeface="Poppins Medium"/>
              </a:rPr>
              <a:t>Your Name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328900" y="584200"/>
            <a:ext cx="2336800" cy="241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98770"/>
              </a:lnSpc>
            </a:pPr>
            <a:r>
              <a:rPr lang="en-US" sz="1400" b="false" i="false" u="none" strike="noStrike" spc="400">
                <a:solidFill>
                  <a:srgbClr val="9E9E9E">
                    <a:alpha val="90196"/>
                  </a:srgbClr>
                </a:solidFill>
                <a:latin typeface="Poppins Light"/>
              </a:rPr>
              <a:t>PROJECT STATUS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84200" y="393700"/>
            <a:ext cx="558800" cy="5588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1244600" y="584200"/>
            <a:ext cx="1625600" cy="29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600" b="false" i="false" u="none" strike="noStrike">
                <a:solidFill>
                  <a:srgbClr val="EAEAEC"/>
                </a:solidFill>
                <a:latin typeface="Poppins Regular"/>
              </a:rPr>
              <a:t>MIRI COMPANY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25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68400" y="3289300"/>
            <a:ext cx="10490200" cy="54356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6751300" y="9537700"/>
            <a:ext cx="812800" cy="266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99600"/>
              </a:lnSpc>
            </a:pPr>
            <a:r>
              <a:rPr lang="en-US" sz="1500" b="true" i="false" u="none" strike="noStrike">
                <a:solidFill>
                  <a:srgbClr val="FFFFFF"/>
                </a:solidFill>
                <a:latin typeface="Poppins Light"/>
              </a:rPr>
              <a:t>Page 04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30300" y="1308100"/>
            <a:ext cx="10833100" cy="1244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1300"/>
              </a:lnSpc>
            </a:pPr>
            <a:r>
              <a:rPr lang="en-US" sz="7000" b="false" i="false" u="none" strike="noStrike" spc="-100">
                <a:solidFill>
                  <a:srgbClr val="FFFFFF"/>
                </a:solidFill>
                <a:latin typeface="Poppins SemiBold"/>
              </a:rPr>
              <a:t>Project Goals Overview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331700" y="3276600"/>
            <a:ext cx="4902200" cy="5435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865100" y="3886200"/>
            <a:ext cx="1054100" cy="6223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2763500" y="5130800"/>
            <a:ext cx="4076700" cy="2133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en-US" sz="2100" b="false" i="false" u="none" strike="noStrike">
                <a:solidFill>
                  <a:srgbClr val="FFFFFF"/>
                </a:solidFill>
                <a:latin typeface="Poppins Light"/>
              </a:rPr>
              <a:t>Lorem ipsum odor amet, consectetuer adipiscing elit. Aliquam mi montes enim justo dui risus. Ex at sagittis eleifend libero mus ridiculus mus.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576300" y="7797800"/>
            <a:ext cx="2400300" cy="368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899"/>
              </a:lnSpc>
            </a:pPr>
            <a:r>
              <a:rPr lang="en-US" sz="2100" b="false" i="false" u="none" strike="noStrike">
                <a:solidFill>
                  <a:srgbClr val="FFFFFF"/>
                </a:solidFill>
                <a:latin typeface="Poppins Medium"/>
              </a:rPr>
              <a:t>Your Name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17700" y="3886200"/>
            <a:ext cx="7112000" cy="520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en-US" sz="3000" b="false" i="false" u="none" strike="noStrike">
                <a:solidFill>
                  <a:srgbClr val="FFFFFF"/>
                </a:solidFill>
                <a:latin typeface="Poppins Medium"/>
              </a:rPr>
              <a:t>Key project goals include: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71700" y="4838700"/>
            <a:ext cx="9042400" cy="3340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 indent="-342900" marL="342900">
              <a:lnSpc>
                <a:spcPct val="107899"/>
              </a:lnSpc>
              <a:buClr>
                <a:srgbClr val="FFFFFF"/>
              </a:buClr>
              <a:buFont typeface="Arial"/>
              <a:buChar char="●"/>
            </a:pPr>
            <a:r>
              <a:rPr lang="en-US" sz="2500" b="false" i="false" u="none" strike="noStrike">
                <a:solidFill>
                  <a:srgbClr val="FFFFFF"/>
                </a:solidFill>
                <a:latin typeface="Poppins Light"/>
              </a:rPr>
              <a:t>Enhancing efficiency to improve operational workflows.</a:t>
            </a:r>
          </a:p>
          <a:p>
            <a:pPr algn="l" lvl="0">
              <a:lnSpc>
                <a:spcPct val="107899"/>
              </a:lnSpc>
            </a:pPr>
            <a:r>
              <a:rPr lang="en-US" sz="2500" b="false" i="false" u="none" strike="noStrike">
                <a:solidFill>
                  <a:srgbClr val="FFFFFF"/>
                </a:solidFill>
                <a:latin typeface="Poppins Light"/>
              </a:rPr>
              <a:t/>
            </a:r>
          </a:p>
          <a:p>
            <a:pPr algn="l" lvl="0" indent="-342900" marL="342900">
              <a:lnSpc>
                <a:spcPct val="107899"/>
              </a:lnSpc>
              <a:buClr>
                <a:srgbClr val="FFFFFF"/>
              </a:buClr>
              <a:buFont typeface="Arial"/>
              <a:buChar char="●"/>
            </a:pPr>
            <a:r>
              <a:rPr lang="en-US" sz="2500" b="false" i="false" u="none" strike="noStrike">
                <a:solidFill>
                  <a:srgbClr val="FFFFFF"/>
                </a:solidFill>
                <a:latin typeface="Poppins Light"/>
              </a:rPr>
              <a:t>Achieving milestones to ensure timely delivery and meet strategic objectives.</a:t>
            </a:r>
          </a:p>
          <a:p>
            <a:pPr algn="l" lvl="0">
              <a:lnSpc>
                <a:spcPct val="107899"/>
              </a:lnSpc>
            </a:pPr>
            <a:r>
              <a:rPr lang="en-US" sz="2500" b="false" i="false" u="none" strike="noStrike">
                <a:solidFill>
                  <a:srgbClr val="FFFFFF"/>
                </a:solidFill>
                <a:latin typeface="Poppins Light"/>
              </a:rPr>
              <a:t/>
            </a:r>
          </a:p>
          <a:p>
            <a:pPr algn="l" lvl="0" indent="-342900" marL="342900">
              <a:lnSpc>
                <a:spcPct val="107899"/>
              </a:lnSpc>
              <a:buClr>
                <a:srgbClr val="FFFFFF"/>
              </a:buClr>
              <a:buFont typeface="Arial"/>
              <a:buChar char="●"/>
            </a:pPr>
            <a:r>
              <a:rPr lang="en-US" sz="2500" b="false" i="false" u="none" strike="noStrike">
                <a:solidFill>
                  <a:srgbClr val="FFFFFF"/>
                </a:solidFill>
                <a:latin typeface="Poppins Light"/>
              </a:rPr>
              <a:t>Driving innovation by fostering a culture of creativity and data-driven decision-making.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328900" y="584200"/>
            <a:ext cx="2336800" cy="241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98770"/>
              </a:lnSpc>
            </a:pPr>
            <a:r>
              <a:rPr lang="en-US" sz="1400" b="false" i="false" u="none" strike="noStrike" spc="400">
                <a:solidFill>
                  <a:srgbClr val="9E9E9E">
                    <a:alpha val="90196"/>
                  </a:srgbClr>
                </a:solidFill>
                <a:latin typeface="Poppins Light"/>
              </a:rPr>
              <a:t>PROJECT STATUS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84200" y="393700"/>
            <a:ext cx="558800" cy="5588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1244600" y="584200"/>
            <a:ext cx="1625600" cy="29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600" b="false" i="false" u="none" strike="noStrike">
                <a:solidFill>
                  <a:srgbClr val="EAEAEC"/>
                </a:solidFill>
                <a:latin typeface="Poppins Regular"/>
              </a:rPr>
              <a:t>MIRI COMPANY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30300" y="1193800"/>
            <a:ext cx="10160000" cy="1244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1300"/>
              </a:lnSpc>
            </a:pPr>
            <a:r>
              <a:rPr lang="en-US" sz="7000" b="false" i="false" u="none" strike="noStrike" spc="-100">
                <a:solidFill>
                  <a:srgbClr val="323337"/>
                </a:solidFill>
                <a:latin typeface="Poppins SemiBold"/>
              </a:rPr>
              <a:t>Key Project Updates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751300" y="9537700"/>
            <a:ext cx="812800" cy="266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99600"/>
              </a:lnSpc>
            </a:pPr>
            <a:r>
              <a:rPr lang="en-US" sz="1500" b="true" i="false" u="none" strike="noStrike">
                <a:solidFill>
                  <a:srgbClr val="2E313A"/>
                </a:solidFill>
                <a:latin typeface="Poppins Light"/>
              </a:rPr>
              <a:t>Page 05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993900" y="3175000"/>
            <a:ext cx="4191000" cy="58293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2603500" y="5041900"/>
            <a:ext cx="2959100" cy="1066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2E313A"/>
                </a:solidFill>
                <a:latin typeface="Poppins SemiBold"/>
              </a:rPr>
              <a:t>Status: On Track</a:t>
            </a:r>
          </a:p>
          <a:p>
            <a:pPr algn="ctr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2E313A"/>
                </a:solidFill>
                <a:latin typeface="Poppins SemiBold"/>
              </a:rPr>
              <a:t>Completed: Phase 1</a:t>
            </a:r>
          </a:p>
          <a:p>
            <a:pPr algn="ctr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2E313A"/>
                </a:solidFill>
                <a:latin typeface="Poppins SemiBold"/>
              </a:rPr>
              <a:t>Next Steps: Phase 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05100" y="3644900"/>
            <a:ext cx="2705100" cy="800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83000"/>
              </a:lnSpc>
            </a:pPr>
            <a:r>
              <a:rPr lang="en-US" sz="4500" b="false" i="false" u="none" strike="noStrike">
                <a:solidFill>
                  <a:srgbClr val="2E313A"/>
                </a:solidFill>
                <a:latin typeface="Pretendard Bold"/>
              </a:rPr>
              <a:t>Project 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03500" y="6896100"/>
            <a:ext cx="2946400" cy="1219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899"/>
              </a:lnSpc>
            </a:pPr>
            <a:r>
              <a:rPr lang="en-US" sz="1800" b="false" i="false" u="none" strike="noStrike">
                <a:solidFill>
                  <a:srgbClr val="2E313A"/>
                </a:solidFill>
                <a:latin typeface="Poppins Light"/>
              </a:rPr>
              <a:t>Lorem ipsum odor amet, consectetuer adipiscing elit. Aliquam mi montes enim justo dui risus.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048500" y="3175000"/>
            <a:ext cx="4191000" cy="58293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7670800" y="5041900"/>
            <a:ext cx="2959100" cy="1066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oppins SemiBold"/>
              </a:rPr>
              <a:t>Status: On Track</a:t>
            </a:r>
          </a:p>
          <a:p>
            <a:pPr algn="ctr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oppins SemiBold"/>
              </a:rPr>
              <a:t>Completed: Phase 1</a:t>
            </a:r>
          </a:p>
          <a:p>
            <a:pPr algn="ctr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oppins SemiBold"/>
              </a:rPr>
              <a:t>Next Steps: Phase 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759700" y="3644900"/>
            <a:ext cx="2705100" cy="800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83000"/>
              </a:lnSpc>
            </a:pPr>
            <a:r>
              <a:rPr lang="en-US" sz="4500" b="false" i="false" u="none" strike="noStrike">
                <a:solidFill>
                  <a:srgbClr val="FFFFFF"/>
                </a:solidFill>
                <a:latin typeface="Pretendard Bold"/>
              </a:rPr>
              <a:t>Project 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670800" y="6896100"/>
            <a:ext cx="2946400" cy="1219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899"/>
              </a:lnSpc>
            </a:pPr>
            <a:r>
              <a:rPr lang="en-US" sz="1800" b="false" i="false" u="none" strike="noStrike">
                <a:solidFill>
                  <a:srgbClr val="FFFFFF"/>
                </a:solidFill>
                <a:latin typeface="Poppins Light"/>
              </a:rPr>
              <a:t>Lorem ipsum odor amet, consectetuer adipiscing elit. Aliquam mi montes enim justo dui risus.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179300" y="3175000"/>
            <a:ext cx="4191000" cy="58293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12801600" y="5041900"/>
            <a:ext cx="2959100" cy="1066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2E313A"/>
                </a:solidFill>
                <a:latin typeface="Poppins SemiBold"/>
              </a:rPr>
              <a:t>Status: On Track</a:t>
            </a:r>
          </a:p>
          <a:p>
            <a:pPr algn="ctr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2E313A"/>
                </a:solidFill>
                <a:latin typeface="Poppins SemiBold"/>
              </a:rPr>
              <a:t>Completed: Phase 1</a:t>
            </a:r>
          </a:p>
          <a:p>
            <a:pPr algn="ctr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2E313A"/>
                </a:solidFill>
                <a:latin typeface="Poppins SemiBold"/>
              </a:rPr>
              <a:t>Next Steps: Phase 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890500" y="3644900"/>
            <a:ext cx="2705100" cy="800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83000"/>
              </a:lnSpc>
            </a:pPr>
            <a:r>
              <a:rPr lang="en-US" sz="4500" b="false" i="false" u="none" strike="noStrike">
                <a:solidFill>
                  <a:srgbClr val="2E313A"/>
                </a:solidFill>
                <a:latin typeface="Pretendard Bold"/>
              </a:rPr>
              <a:t>Project 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801600" y="6896100"/>
            <a:ext cx="2946400" cy="1219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899"/>
              </a:lnSpc>
            </a:pPr>
            <a:r>
              <a:rPr lang="en-US" sz="1800" b="false" i="false" u="none" strike="noStrike">
                <a:solidFill>
                  <a:srgbClr val="2E313A"/>
                </a:solidFill>
                <a:latin typeface="Poppins Light"/>
              </a:rPr>
              <a:t>Lorem ipsum odor amet, consectetuer adipiscing elit. Aliquam mi montes enim justo dui risus.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328900" y="584200"/>
            <a:ext cx="2336800" cy="241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98770"/>
              </a:lnSpc>
            </a:pPr>
            <a:r>
              <a:rPr lang="en-US" sz="1400" b="false" i="false" u="none" strike="noStrike" spc="400">
                <a:solidFill>
                  <a:srgbClr val="9E9E9E">
                    <a:alpha val="90196"/>
                  </a:srgbClr>
                </a:solidFill>
                <a:latin typeface="Poppins Light"/>
              </a:rPr>
              <a:t>PROJECT STATUS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84200" y="393700"/>
            <a:ext cx="558800" cy="5588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1244600" y="584200"/>
            <a:ext cx="1625600" cy="29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600" b="false" i="false" u="none" strike="noStrike">
                <a:solidFill>
                  <a:srgbClr val="C2C2C2"/>
                </a:solidFill>
                <a:latin typeface="Poppins Regular"/>
              </a:rPr>
              <a:t>MIRI COMPANY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EA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30300" y="1193800"/>
            <a:ext cx="10160000" cy="1244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1300"/>
              </a:lnSpc>
            </a:pPr>
            <a:r>
              <a:rPr lang="en-US" sz="7000" b="false" i="false" u="none" strike="noStrike" spc="-100">
                <a:solidFill>
                  <a:srgbClr val="323337"/>
                </a:solidFill>
                <a:latin typeface="Poppins SemiBold"/>
              </a:rPr>
              <a:t>Project Timeline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751300" y="9537700"/>
            <a:ext cx="812800" cy="266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99600"/>
              </a:lnSpc>
            </a:pPr>
            <a:r>
              <a:rPr lang="en-US" sz="1500" b="true" i="false" u="none" strike="noStrike">
                <a:solidFill>
                  <a:srgbClr val="2E313A"/>
                </a:solidFill>
                <a:latin typeface="Poppins Light"/>
              </a:rPr>
              <a:t>Page 06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171700" y="3327400"/>
            <a:ext cx="13944600" cy="3962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5328900" y="584200"/>
            <a:ext cx="2336800" cy="241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98770"/>
              </a:lnSpc>
            </a:pPr>
            <a:r>
              <a:rPr lang="en-US" sz="1400" b="false" i="false" u="none" strike="noStrike" spc="400">
                <a:solidFill>
                  <a:srgbClr val="9E9E9E">
                    <a:alpha val="90196"/>
                  </a:srgbClr>
                </a:solidFill>
                <a:latin typeface="Poppins Light"/>
              </a:rPr>
              <a:t>PROJECT STATUS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393700"/>
            <a:ext cx="558800" cy="5588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244600" y="584200"/>
            <a:ext cx="1625600" cy="29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600" b="false" i="false" u="none" strike="noStrike">
                <a:solidFill>
                  <a:srgbClr val="C2C2C2"/>
                </a:solidFill>
                <a:latin typeface="Poppins Regular"/>
              </a:rPr>
              <a:t>MIRI COMPANY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102100" y="8267700"/>
            <a:ext cx="10071100" cy="33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900" b="false" i="false" u="none" strike="noStrike">
                <a:solidFill>
                  <a:srgbClr val="323337"/>
                </a:solidFill>
                <a:latin typeface="Poppins Light"/>
              </a:rPr>
              <a:t>Organize Project 1 on resources and schedules to meet deadlines effectively.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273800" y="7747000"/>
            <a:ext cx="5676900" cy="45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2600" b="true" i="false" u="none" strike="noStrike">
                <a:solidFill>
                  <a:srgbClr val="3AA5AB"/>
                </a:solidFill>
                <a:latin typeface="Poppins Medium"/>
              </a:rPr>
              <a:t>Prepare for Upcoming Milestones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30300" y="1193800"/>
            <a:ext cx="10160000" cy="1244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1300"/>
              </a:lnSpc>
            </a:pPr>
            <a:r>
              <a:rPr lang="en-US" sz="7000" b="false" i="false" u="none" strike="noStrike" spc="-100">
                <a:solidFill>
                  <a:srgbClr val="323337"/>
                </a:solidFill>
                <a:latin typeface="Poppins SemiBold"/>
              </a:rPr>
              <a:t>Upcoming Task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751300" y="9537700"/>
            <a:ext cx="812800" cy="266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99600"/>
              </a:lnSpc>
            </a:pPr>
            <a:r>
              <a:rPr lang="en-US" sz="1500" b="true" i="false" u="none" strike="noStrike">
                <a:solidFill>
                  <a:srgbClr val="2E313A"/>
                </a:solidFill>
                <a:latin typeface="Poppins Light"/>
              </a:rPr>
              <a:t>Page 07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934700" y="3429000"/>
            <a:ext cx="6337300" cy="4483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200900" y="3721100"/>
            <a:ext cx="5486400" cy="698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200900" y="5524500"/>
            <a:ext cx="8724900" cy="698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200900" y="6731000"/>
            <a:ext cx="5486400" cy="6985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422400" y="7708900"/>
            <a:ext cx="5448300" cy="673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1900" b="false" i="false" u="none" strike="noStrike">
                <a:solidFill>
                  <a:srgbClr val="323337"/>
                </a:solidFill>
                <a:latin typeface="Poppins Light"/>
              </a:rPr>
              <a:t>Organize Project 1 on resources and schedules to meet deadlines effectively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22400" y="5854700"/>
            <a:ext cx="5448300" cy="673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1900" b="false" i="false" u="none" strike="noStrike">
                <a:solidFill>
                  <a:srgbClr val="323337"/>
                </a:solidFill>
                <a:latin typeface="Poppins Light"/>
              </a:rPr>
              <a:t>Project 2 on alignment across departments for efficient workflow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43100" y="4038600"/>
            <a:ext cx="4927600" cy="673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1900" b="false" i="false" u="none" strike="noStrike">
                <a:solidFill>
                  <a:srgbClr val="323337"/>
                </a:solidFill>
                <a:latin typeface="Poppins Light"/>
              </a:rPr>
              <a:t>Finalize Project 2 on current deliverables to stay on track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6500" y="7188200"/>
            <a:ext cx="5676900" cy="45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2600" b="true" i="false" u="none" strike="noStrike">
                <a:solidFill>
                  <a:srgbClr val="3AA5AB"/>
                </a:solidFill>
                <a:latin typeface="Poppins Medium"/>
              </a:rPr>
              <a:t>Prepare for Upcoming Milestones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09700" y="5321300"/>
            <a:ext cx="5473700" cy="45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2600" b="true" i="false" u="none" strike="noStrike">
                <a:solidFill>
                  <a:srgbClr val="3AA5AB"/>
                </a:solidFill>
                <a:latin typeface="Poppins Medium"/>
              </a:rPr>
              <a:t>Streamline Team Coordination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85900" y="3517900"/>
            <a:ext cx="5384800" cy="45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2600" b="true" i="false" u="none" strike="noStrike">
                <a:solidFill>
                  <a:srgbClr val="3AA5AB"/>
                </a:solidFill>
                <a:latin typeface="Poppins Medium"/>
              </a:rPr>
              <a:t>Complete Ongoing Projects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328900" y="584200"/>
            <a:ext cx="2336800" cy="241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98770"/>
              </a:lnSpc>
            </a:pPr>
            <a:r>
              <a:rPr lang="en-US" sz="1400" b="false" i="false" u="none" strike="noStrike" spc="400">
                <a:solidFill>
                  <a:srgbClr val="9E9E9E">
                    <a:alpha val="90196"/>
                  </a:srgbClr>
                </a:solidFill>
                <a:latin typeface="Poppins Light"/>
              </a:rPr>
              <a:t>PROJECT STATUS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84200" y="393700"/>
            <a:ext cx="558800" cy="5588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244600" y="584200"/>
            <a:ext cx="1625600" cy="29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600" b="false" i="false" u="none" strike="noStrike">
                <a:solidFill>
                  <a:srgbClr val="C2C2C2"/>
                </a:solidFill>
                <a:latin typeface="Poppins Regular"/>
              </a:rPr>
              <a:t>MIRI COMPANY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25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77900" y="2971800"/>
            <a:ext cx="10490200" cy="62865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6751300" y="9537700"/>
            <a:ext cx="812800" cy="266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99600"/>
              </a:lnSpc>
            </a:pPr>
            <a:r>
              <a:rPr lang="en-US" sz="1500" b="true" i="false" u="none" strike="noStrike">
                <a:solidFill>
                  <a:srgbClr val="FFFFFF"/>
                </a:solidFill>
                <a:latin typeface="Poppins Light"/>
              </a:rPr>
              <a:t>Page 08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30300" y="1193800"/>
            <a:ext cx="10833100" cy="1244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1300"/>
              </a:lnSpc>
            </a:pPr>
            <a:r>
              <a:rPr lang="en-US" sz="7000" b="false" i="false" u="none" strike="noStrike" spc="-100">
                <a:solidFill>
                  <a:srgbClr val="FFFFFF"/>
                </a:solidFill>
                <a:latin typeface="Poppins SemiBold"/>
              </a:rPr>
              <a:t>Next Week Goals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484100" y="2971800"/>
            <a:ext cx="4902200" cy="6286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776200" y="4330700"/>
            <a:ext cx="4381500" cy="39624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2273300" y="3911600"/>
            <a:ext cx="7797800" cy="43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8770"/>
              </a:lnSpc>
            </a:pPr>
            <a:r>
              <a:rPr lang="en-US" sz="2400" b="false" i="false" u="none" strike="noStrike">
                <a:solidFill>
                  <a:srgbClr val="3AA5AB">
                    <a:alpha val="90196"/>
                  </a:srgbClr>
                </a:solidFill>
                <a:latin typeface="Poppins Bold"/>
              </a:rPr>
              <a:t>FINALIZE P2, HIGH-PRIORITY DELIVERABLES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73300" y="4432300"/>
            <a:ext cx="7962900" cy="635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800" b="false" i="false" u="none" strike="noStrike">
                <a:solidFill>
                  <a:srgbClr val="FFFFFF"/>
                </a:solidFill>
                <a:latin typeface="Poppins Light"/>
              </a:rPr>
              <a:t>Complete key tasks that directly impact project milestones, ensuring they are delivered with precision and quality.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73300" y="5562600"/>
            <a:ext cx="7797800" cy="43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8770"/>
              </a:lnSpc>
            </a:pPr>
            <a:r>
              <a:rPr lang="en-US" sz="2400" b="false" i="false" u="none" strike="noStrike">
                <a:solidFill>
                  <a:srgbClr val="3AA5AB">
                    <a:alpha val="90196"/>
                  </a:srgbClr>
                </a:solidFill>
                <a:latin typeface="Poppins Bold"/>
              </a:rPr>
              <a:t>ENGAGE STAKEHOLDERS FOR P1 ALIGNMENT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73300" y="6083300"/>
            <a:ext cx="8102600" cy="635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800" b="false" i="false" u="none" strike="noStrike">
                <a:solidFill>
                  <a:srgbClr val="FFFFFF"/>
                </a:solidFill>
                <a:latin typeface="Poppins Light"/>
              </a:rPr>
              <a:t>Conduct reviews and feedback sessions to ensure all teams and stakeholders are aligned on expectations and deliverables.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273300" y="7226300"/>
            <a:ext cx="5994400" cy="43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8770"/>
              </a:lnSpc>
            </a:pPr>
            <a:r>
              <a:rPr lang="en-US" sz="2400" b="false" i="false" u="none" strike="noStrike">
                <a:solidFill>
                  <a:srgbClr val="3AA5AB">
                    <a:alpha val="90196"/>
                  </a:srgbClr>
                </a:solidFill>
                <a:latin typeface="Poppins Bold"/>
              </a:rPr>
              <a:t>PLAN FOR FUTURE PHASES FOR P1 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273300" y="7734300"/>
            <a:ext cx="7962900" cy="635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800" b="false" i="false" u="none" strike="noStrike">
                <a:solidFill>
                  <a:srgbClr val="FFFFFF"/>
                </a:solidFill>
                <a:latin typeface="Poppins Light"/>
              </a:rPr>
              <a:t>Begin resource allocation and detailed scheduling for the next phase of the project, addressing potential challenges early.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328900" y="584200"/>
            <a:ext cx="2336800" cy="241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98770"/>
              </a:lnSpc>
            </a:pPr>
            <a:r>
              <a:rPr lang="en-US" sz="1400" b="false" i="false" u="none" strike="noStrike" spc="400">
                <a:solidFill>
                  <a:srgbClr val="9E9E9E">
                    <a:alpha val="90196"/>
                  </a:srgbClr>
                </a:solidFill>
                <a:latin typeface="Poppins Light"/>
              </a:rPr>
              <a:t>PROJECT STATUS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84200" y="393700"/>
            <a:ext cx="558800" cy="5588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1244600" y="584200"/>
            <a:ext cx="1625600" cy="29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600" b="false" i="false" u="none" strike="noStrike">
                <a:solidFill>
                  <a:srgbClr val="C2C2C2"/>
                </a:solidFill>
                <a:latin typeface="Poppins Regular"/>
              </a:rPr>
              <a:t>MIRI COMPANY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25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147300" y="5575300"/>
            <a:ext cx="11938000" cy="10287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054100" y="1625600"/>
            <a:ext cx="7696200" cy="3644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73870"/>
              </a:lnSpc>
            </a:pPr>
            <a:r>
              <a:rPr lang="en-US" sz="16100" b="false" i="false" u="none" strike="noStrike" spc="-200">
                <a:solidFill>
                  <a:srgbClr val="FFFFFF"/>
                </a:solidFill>
                <a:latin typeface="Poppins SemiBold"/>
              </a:rPr>
              <a:t>Thank You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54100" y="7442200"/>
            <a:ext cx="4851400" cy="1574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7029"/>
              </a:lnSpc>
            </a:pPr>
            <a:r>
              <a:rPr lang="en-US" sz="2200" b="false" i="false" u="none" strike="noStrike">
                <a:solidFill>
                  <a:srgbClr val="FFFFFF"/>
                </a:solidFill>
                <a:latin typeface="Poppins Light"/>
              </a:rPr>
              <a:t>Point of Contact</a:t>
            </a:r>
          </a:p>
          <a:p>
            <a:pPr algn="l" lvl="0">
              <a:lnSpc>
                <a:spcPct val="117029"/>
              </a:lnSpc>
            </a:pPr>
            <a:r>
              <a:rPr lang="en-US" sz="2200" b="false" i="false" u="none" strike="noStrike">
                <a:solidFill>
                  <a:srgbClr val="FFFFFF"/>
                </a:solidFill>
                <a:latin typeface="Poppins Light"/>
              </a:rPr>
              <a:t>TF Team, Department</a:t>
            </a:r>
          </a:p>
          <a:p>
            <a:pPr algn="l" lvl="0">
              <a:lnSpc>
                <a:spcPct val="117029"/>
              </a:lnSpc>
            </a:pPr>
            <a:r>
              <a:rPr lang="en-US" sz="2200" b="false" i="false" u="none" strike="noStrike">
                <a:solidFill>
                  <a:srgbClr val="FFFFFF"/>
                </a:solidFill>
                <a:latin typeface="Poppins Light"/>
              </a:rPr>
              <a:t>Email: visit@here.com</a:t>
            </a:r>
          </a:p>
          <a:p>
            <a:pPr algn="l" lvl="0">
              <a:lnSpc>
                <a:spcPct val="117029"/>
              </a:lnSpc>
            </a:pPr>
            <a:r>
              <a:rPr lang="en-US" sz="2200" b="false" i="false" u="none" strike="noStrike">
                <a:solidFill>
                  <a:srgbClr val="FFFFFF"/>
                </a:solidFill>
                <a:latin typeface="Poppins Light"/>
              </a:rPr>
              <a:t>Phone: +123-456-7890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4100" y="5537200"/>
            <a:ext cx="54864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00" b="false" i="false" u="none" strike="noStrike">
                <a:solidFill>
                  <a:srgbClr val="FFFFFF"/>
                </a:solidFill>
                <a:latin typeface="Poppins Medium"/>
              </a:rPr>
              <a:t>Together</a:t>
            </a:r>
            <a:r>
              <a:rPr lang="en-US" sz="3000" b="false" i="false" u="none" strike="noStrike">
                <a:solidFill>
                  <a:srgbClr val="FFFFFF"/>
                </a:solidFill>
                <a:latin typeface="Poppins Medium"/>
              </a:rPr>
              <a:t>, we achieve more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328900" y="584200"/>
            <a:ext cx="2336800" cy="241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98770"/>
              </a:lnSpc>
            </a:pPr>
            <a:r>
              <a:rPr lang="en-US" sz="1400" b="false" i="false" u="none" strike="noStrike" spc="400">
                <a:solidFill>
                  <a:srgbClr val="9E9E9E">
                    <a:alpha val="90196"/>
                  </a:srgbClr>
                </a:solidFill>
                <a:latin typeface="Poppins Light"/>
              </a:rPr>
              <a:t>PROJECT STATUS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393700"/>
            <a:ext cx="558800" cy="5588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244600" y="584200"/>
            <a:ext cx="1625600" cy="29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600" b="false" i="false" u="none" strike="noStrike">
                <a:solidFill>
                  <a:srgbClr val="C2C2C2"/>
                </a:solidFill>
                <a:latin typeface="Poppins Regular"/>
              </a:rPr>
              <a:t>MIRI COMPANY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