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C7EE7-45DF-4248-98FE-FF6908BE7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302223A-7311-4A00-B275-C47003D7B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90FBF4-E8A4-4290-91CF-470EFB44E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3154BD-9DF3-4AFE-B182-05B4BFFB5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94B928-6043-4FD0-B5F3-8BDC640A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574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3E5B54-7CC9-4E71-87D5-D48B4FEEB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94E230-0E2E-4C96-9677-8DA561681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3C8FE4-9E28-4F52-AC93-3C89F844D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CC28ED-39EF-40BB-9E56-9EAC4779E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D6004D-F93C-46C5-A335-FB0FD5B0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48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2CAA1-5C66-48F1-B970-F2697AE1B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D98548-D18E-4B18-9E78-F31265199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4169A2-5359-4DBE-8218-B8D1555B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6A9915-F648-4DFD-8C79-66623ACF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257A3E-6D9B-47E6-8517-797836956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459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E6C02D-D8A4-4CCA-B68F-766578F34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4B23DA-8546-4541-AB54-0922571BA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97F916-AC03-4881-8C8B-D7B307541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E1C28F-F19E-4EB0-A700-EB9C4FAEF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241488-4F81-4191-8C3E-1D0A32C3C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C00293-FBA0-4D1F-A916-128C0C04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393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1F6D1C-D6F1-45AC-96B9-C89D40CC0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8B34C3-BEED-45F4-A146-9B8EAE6A5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FA308E-4959-454A-91D9-20CC85312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2A6C45-4221-4A3A-9DA1-430182103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9688E8-57CE-45BB-8C47-C49667E9D8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59ED3AF-E81B-471E-B4C2-6BCA96656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82C7A3-8A55-4715-973C-3BA15BF7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405D94-6905-4169-B79D-C28A0D3F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61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A81DDE-A389-4BE0-851B-6776549B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380CD3-8DFE-46C6-ABD2-31AD37A9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C83A32-01F9-4051-9156-FD616D69B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8C1E9B-8B6F-4364-9FBE-2742A3A3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1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36229C1-3DE9-4E46-8DC8-212C513BA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40DB056-1503-4F96-B998-1FD378640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33A1C0-032E-4A06-A3D9-8F05D3815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39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D9A99-5C6D-467A-80A2-D386D914E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1AAF64-DF60-43F7-9BD8-736397C41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FC8C88-F81E-46A3-869F-6B20FB1C6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4B2660-3B6F-4E84-9871-DCFAEF53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547CDA-7EA9-41BE-90C8-E4DF8DF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7B7BD4-E9C0-4A13-926A-0B36F421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507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3CD4B-ED0E-470A-A50F-0F0C03F71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068F4C8-2BC3-4E6F-8C22-EE5AB5D99A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93AAF6-4443-4472-9646-B6EE94C01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6BD3EB-6AED-4B53-93CE-2E9E19256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468D5-DD0B-4AC6-B0B1-3614E349B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F1C05D-5A19-4A2E-8FFF-CD555A83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030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561421-B393-4CFC-B04C-0BD2F229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EA4670-1019-4B23-9FB0-690B96C49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F855C4-CA6F-4DD0-A66A-3A248C241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775F69-4253-4337-B6FB-E959CC2C1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8DA396-C483-4010-8713-EF187DA92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96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C84212-F9A7-4231-B1A0-1D901F40FF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194E04-BDC4-4517-B4C6-75A282CD4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85AC7-C7E2-489B-9264-160AA04C6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CC6FA6-5B7C-4D97-BF19-55BD12F8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CE72C7-437A-4047-8AB1-462ADC76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370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55A7F5C-F3BA-4D48-B18C-05B0DE38A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80852D-8525-413D-AF58-597B7263F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C754FA-3B40-470A-B64A-6A49FF4A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C6AEC-205D-4F23-81D1-86D8332DE998}" type="datetimeFigureOut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24BF74-FDAE-472C-8D98-A36B976C0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411E8-FB36-4812-9706-EFB66E55C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68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E61918AD-F389-44E1-AB93-D751C8630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023190"/>
              </p:ext>
            </p:extLst>
          </p:nvPr>
        </p:nvGraphicFramePr>
        <p:xfrm>
          <a:off x="518701" y="101116"/>
          <a:ext cx="11154597" cy="66557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3381">
                  <a:extLst>
                    <a:ext uri="{9D8B030D-6E8A-4147-A177-3AD203B41FA5}">
                      <a16:colId xmlns:a16="http://schemas.microsoft.com/office/drawing/2014/main" val="2339351881"/>
                    </a:ext>
                  </a:extLst>
                </a:gridCol>
                <a:gridCol w="2387804">
                  <a:extLst>
                    <a:ext uri="{9D8B030D-6E8A-4147-A177-3AD203B41FA5}">
                      <a16:colId xmlns:a16="http://schemas.microsoft.com/office/drawing/2014/main" val="3500318882"/>
                    </a:ext>
                  </a:extLst>
                </a:gridCol>
                <a:gridCol w="2387804">
                  <a:extLst>
                    <a:ext uri="{9D8B030D-6E8A-4147-A177-3AD203B41FA5}">
                      <a16:colId xmlns:a16="http://schemas.microsoft.com/office/drawing/2014/main" val="1804261193"/>
                    </a:ext>
                  </a:extLst>
                </a:gridCol>
                <a:gridCol w="2387804">
                  <a:extLst>
                    <a:ext uri="{9D8B030D-6E8A-4147-A177-3AD203B41FA5}">
                      <a16:colId xmlns:a16="http://schemas.microsoft.com/office/drawing/2014/main" val="59516878"/>
                    </a:ext>
                  </a:extLst>
                </a:gridCol>
                <a:gridCol w="2387804">
                  <a:extLst>
                    <a:ext uri="{9D8B030D-6E8A-4147-A177-3AD203B41FA5}">
                      <a16:colId xmlns:a16="http://schemas.microsoft.com/office/drawing/2014/main" val="3466276258"/>
                    </a:ext>
                  </a:extLst>
                </a:gridCol>
              </a:tblGrid>
              <a:tr h="633629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램 </a:t>
                      </a:r>
                      <a:r>
                        <a:rPr lang="en-US" altLang="ko-KR"/>
                        <a:t>128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램 </a:t>
                      </a:r>
                      <a:r>
                        <a:rPr lang="en-US" altLang="ko-KR"/>
                        <a:t>256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램 </a:t>
                      </a:r>
                      <a:r>
                        <a:rPr lang="en-US" altLang="ko-KR"/>
                        <a:t>128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램 </a:t>
                      </a:r>
                      <a:r>
                        <a:rPr lang="en-US" altLang="ko-KR"/>
                        <a:t>256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380780"/>
                  </a:ext>
                </a:extLst>
              </a:tr>
              <a:tr h="63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CPU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effectLst/>
                        </a:rPr>
                        <a:t>AMD Ryzen 9 9950x3d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AMD Ryzen 9 9950x3d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1,050,000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1,050,000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751572"/>
                  </a:ext>
                </a:extLst>
              </a:tr>
              <a:tr h="63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GPU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RTX A6000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(48G)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RTX A6000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(48G)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8,500,000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8,500,000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197504"/>
                  </a:ext>
                </a:extLst>
              </a:tr>
              <a:tr h="6336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메인보드</a:t>
                      </a:r>
                      <a:endParaRPr lang="en-US" alt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effectLst/>
                        </a:rPr>
                        <a:t>GIGABYTE X870E AORUS MASTER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GIGABYTE X870E AORUS MASTER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700,000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700,000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519729"/>
                  </a:ext>
                </a:extLst>
              </a:tr>
              <a:tr h="63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RAM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altLang="ko-KR">
                          <a:effectLst/>
                        </a:rPr>
                        <a:t>128GB DDR5-5600 ECC (32GB x 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altLang="ko-KR" dirty="0">
                          <a:effectLst/>
                        </a:rPr>
                        <a:t>256GB DDR5-5600 ECC (64GB x 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altLang="ko-KR">
                          <a:effectLst/>
                        </a:rPr>
                        <a:t>652,000(32*4)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altLang="ko-KR">
                          <a:effectLst/>
                        </a:rPr>
                        <a:t>1,760,000(64*4)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076234"/>
                  </a:ext>
                </a:extLst>
              </a:tr>
              <a:tr h="6336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스토리지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>
                          <a:effectLst/>
                        </a:rPr>
                        <a:t>Samsung 990 Pro 4TB NVMe SSD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dirty="0">
                          <a:effectLst/>
                        </a:rPr>
                        <a:t>Samsung 990 Pro 4TB NVMe SSD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>
                          <a:effectLst/>
                        </a:rPr>
                        <a:t>500,000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>
                          <a:effectLst/>
                        </a:rPr>
                        <a:t>500,000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5993425"/>
                  </a:ext>
                </a:extLst>
              </a:tr>
              <a:tr h="63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Psu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Corsair HX1500i 1500W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Corsair HX1500i 1500W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effectLst/>
                        </a:rPr>
                        <a:t>700,000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700,000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710128"/>
                  </a:ext>
                </a:extLst>
              </a:tr>
              <a:tr h="8611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쿨링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Noctua NH-U14S TR5-SP6 (</a:t>
                      </a:r>
                      <a:r>
                        <a:rPr lang="ko-KR" altLang="en-US">
                          <a:effectLst/>
                        </a:rPr>
                        <a:t>공랭</a:t>
                      </a:r>
                      <a:r>
                        <a:rPr lang="en-US" altLang="ko-KR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Thermaltake TOUGHLIQUID 360 ARGB TRX40(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수랭</a:t>
                      </a: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pt-BR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effectLst/>
                        </a:rPr>
                        <a:t>220,000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effectLst/>
                        </a:rPr>
                        <a:t>230,000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354160"/>
                  </a:ext>
                </a:extLst>
              </a:tr>
              <a:tr h="6336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케이스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Fractal Design Define 7 XL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Corsair 7000D Airflow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320,000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effectLst/>
                        </a:rPr>
                        <a:t>340,000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5593"/>
                  </a:ext>
                </a:extLst>
              </a:tr>
              <a:tr h="6336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합계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12,642,000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effectLst/>
                        </a:rPr>
                        <a:t>13,780,000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669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028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FF942FC-9E03-4F20-B235-463DC02A5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048457"/>
              </p:ext>
            </p:extLst>
          </p:nvPr>
        </p:nvGraphicFramePr>
        <p:xfrm>
          <a:off x="645253" y="276837"/>
          <a:ext cx="5529043" cy="3460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755">
                  <a:extLst>
                    <a:ext uri="{9D8B030D-6E8A-4147-A177-3AD203B41FA5}">
                      <a16:colId xmlns:a16="http://schemas.microsoft.com/office/drawing/2014/main" val="4119573305"/>
                    </a:ext>
                  </a:extLst>
                </a:gridCol>
                <a:gridCol w="1183572">
                  <a:extLst>
                    <a:ext uri="{9D8B030D-6E8A-4147-A177-3AD203B41FA5}">
                      <a16:colId xmlns:a16="http://schemas.microsoft.com/office/drawing/2014/main" val="2056819308"/>
                    </a:ext>
                  </a:extLst>
                </a:gridCol>
                <a:gridCol w="1183572">
                  <a:extLst>
                    <a:ext uri="{9D8B030D-6E8A-4147-A177-3AD203B41FA5}">
                      <a16:colId xmlns:a16="http://schemas.microsoft.com/office/drawing/2014/main" val="1951463657"/>
                    </a:ext>
                  </a:extLst>
                </a:gridCol>
                <a:gridCol w="1183572">
                  <a:extLst>
                    <a:ext uri="{9D8B030D-6E8A-4147-A177-3AD203B41FA5}">
                      <a16:colId xmlns:a16="http://schemas.microsoft.com/office/drawing/2014/main" val="1259626245"/>
                    </a:ext>
                  </a:extLst>
                </a:gridCol>
                <a:gridCol w="1183572">
                  <a:extLst>
                    <a:ext uri="{9D8B030D-6E8A-4147-A177-3AD203B41FA5}">
                      <a16:colId xmlns:a16="http://schemas.microsoft.com/office/drawing/2014/main" val="4276061383"/>
                    </a:ext>
                  </a:extLst>
                </a:gridCol>
              </a:tblGrid>
              <a:tr h="22241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램 </a:t>
                      </a:r>
                      <a:r>
                        <a:rPr lang="en-US" altLang="ko-KR" sz="900" dirty="0"/>
                        <a:t>128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램 </a:t>
                      </a:r>
                      <a:r>
                        <a:rPr lang="en-US" altLang="ko-KR" sz="900"/>
                        <a:t>256</a:t>
                      </a: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램 </a:t>
                      </a:r>
                      <a:r>
                        <a:rPr lang="en-US" altLang="ko-KR" sz="900"/>
                        <a:t>128</a:t>
                      </a: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램 </a:t>
                      </a:r>
                      <a:r>
                        <a:rPr lang="en-US" altLang="ko-KR" sz="900"/>
                        <a:t>256</a:t>
                      </a:r>
                      <a:endParaRPr lang="ko-KR" altLang="en-US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272959"/>
                  </a:ext>
                </a:extLst>
              </a:tr>
              <a:tr h="355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CPU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AMD Ryzen 9 9950x3d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AMD Ryzen 9 9950x3d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1,050,000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1,050,000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767261"/>
                  </a:ext>
                </a:extLst>
              </a:tr>
              <a:tr h="222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GPU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RTX A6000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(48G)</a:t>
                      </a:r>
                      <a:endParaRPr lang="ko-KR" altLang="en-US" sz="9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RTX A6000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(48G)</a:t>
                      </a:r>
                      <a:endParaRPr lang="ko-KR" altLang="en-US" sz="9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8,500,000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8,500,000</a:t>
                      </a:r>
                      <a:endParaRPr lang="ko-KR" altLang="en-US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631472"/>
                  </a:ext>
                </a:extLst>
              </a:tr>
              <a:tr h="4045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메인보드</a:t>
                      </a:r>
                      <a:endParaRPr lang="en-US" altLang="ko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GIGABYTE X870E AORUS MASTER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GIGABYTE X870E AORUS MASTER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700,000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700,000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712449"/>
                  </a:ext>
                </a:extLst>
              </a:tr>
              <a:tr h="4045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RAM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altLang="ko-KR" sz="900" dirty="0">
                          <a:effectLst/>
                        </a:rPr>
                        <a:t>128GB DDR5-5600 ECC (32GB x 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altLang="ko-KR" sz="900" dirty="0">
                          <a:effectLst/>
                        </a:rPr>
                        <a:t>256GB DDR5-5600 ECC (64GB x 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altLang="ko-KR" sz="900" dirty="0">
                          <a:effectLst/>
                        </a:rPr>
                        <a:t>652,000(32*4)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altLang="ko-KR" sz="900" dirty="0">
                          <a:effectLst/>
                        </a:rPr>
                        <a:t>1,760,000(64*4)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6993490"/>
                  </a:ext>
                </a:extLst>
              </a:tr>
              <a:tr h="3558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스토리지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900" dirty="0">
                          <a:effectLst/>
                        </a:rPr>
                        <a:t>Samsung 990 Pro 4TB NVMe SSD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900" dirty="0">
                          <a:effectLst/>
                        </a:rPr>
                        <a:t>Samsung 990 Pro 4TB NVMe SSD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900" dirty="0">
                          <a:effectLst/>
                        </a:rPr>
                        <a:t>500,000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900" dirty="0">
                          <a:effectLst/>
                        </a:rPr>
                        <a:t>500,000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817116"/>
                  </a:ext>
                </a:extLst>
              </a:tr>
              <a:tr h="355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/>
                        <a:t>Psu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Corsair HX1500i 1500W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Corsair HX1500i 1500W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700,000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700,000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5835082"/>
                  </a:ext>
                </a:extLst>
              </a:tr>
              <a:tr h="4978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쿨링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Noctua NH-U14S TR5-SP6 (</a:t>
                      </a:r>
                      <a:r>
                        <a:rPr lang="ko-KR" altLang="en-US" sz="900" dirty="0" err="1">
                          <a:effectLst/>
                        </a:rPr>
                        <a:t>공랭</a:t>
                      </a:r>
                      <a:r>
                        <a:rPr lang="en-US" altLang="ko-KR" sz="900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Thermaltake TOUGHLIQUID 360 ARGB TRX40(</a:t>
                      </a:r>
                      <a:r>
                        <a:rPr lang="ko-KR" altLang="en-US" sz="9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수랭</a:t>
                      </a:r>
                      <a:r>
                        <a:rPr lang="en-US" altLang="ko-K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pt-BR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220,000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230,000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793886"/>
                  </a:ext>
                </a:extLst>
              </a:tr>
              <a:tr h="3558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케이스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Fractal Design Define 7 XL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Corsair 7000D Airflow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320,000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340,000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735881"/>
                  </a:ext>
                </a:extLst>
              </a:tr>
              <a:tr h="2224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합계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12,642,000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13,780,000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927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370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1547</TotalTime>
  <Words>234</Words>
  <Application>Microsoft Office PowerPoint</Application>
  <PresentationFormat>와이드스크린</PresentationFormat>
  <Paragraphs>98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Dongheekoh</dc:creator>
  <cp:lastModifiedBy>NET02</cp:lastModifiedBy>
  <cp:revision>6</cp:revision>
  <dcterms:created xsi:type="dcterms:W3CDTF">2025-09-02T03:01:42Z</dcterms:created>
  <dcterms:modified xsi:type="dcterms:W3CDTF">2025-09-03T05:10:57Z</dcterms:modified>
</cp:coreProperties>
</file>